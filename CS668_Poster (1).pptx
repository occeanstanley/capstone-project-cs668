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11309350" cx="20104100"/>
  <p:notesSz cx="20104100" cy="113093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hFjy6yWgtnYftcRi55CDoo95pD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 txBox="1"/>
          <p:nvPr>
            <p:ph idx="12" type="sldNum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080892" y="69321"/>
            <a:ext cx="11942444" cy="51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080892" y="69321"/>
            <a:ext cx="11942444" cy="51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080892" y="69321"/>
            <a:ext cx="11942444" cy="51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20104099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0" y="0"/>
            <a:ext cx="20104100" cy="1649730"/>
          </a:xfrm>
          <a:custGeom>
            <a:rect b="b" l="l" r="r" t="t"/>
            <a:pathLst>
              <a:path extrusionOk="0" h="1649730" w="20104100">
                <a:moveTo>
                  <a:pt x="20104099" y="0"/>
                </a:moveTo>
                <a:lnTo>
                  <a:pt x="0" y="0"/>
                </a:lnTo>
                <a:lnTo>
                  <a:pt x="0" y="1649164"/>
                </a:lnTo>
                <a:lnTo>
                  <a:pt x="20104099" y="1649164"/>
                </a:lnTo>
                <a:lnTo>
                  <a:pt x="20104099" y="0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080892" y="69321"/>
            <a:ext cx="11942444" cy="51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3" Type="http://schemas.openxmlformats.org/officeDocument/2006/relationships/image" Target="../media/image10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7.jp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"/>
          <p:cNvGrpSpPr/>
          <p:nvPr/>
        </p:nvGrpSpPr>
        <p:grpSpPr>
          <a:xfrm>
            <a:off x="0" y="1640787"/>
            <a:ext cx="20104100" cy="9387252"/>
            <a:chOff x="0" y="1640787"/>
            <a:chExt cx="20104100" cy="9387252"/>
          </a:xfrm>
        </p:grpSpPr>
        <p:pic>
          <p:nvPicPr>
            <p:cNvPr id="51" name="Google Shape;51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9575" y="1843399"/>
              <a:ext cx="4803518" cy="9184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Google Shape;52;p1"/>
            <p:cNvSpPr/>
            <p:nvPr/>
          </p:nvSpPr>
          <p:spPr>
            <a:xfrm>
              <a:off x="179575" y="1843399"/>
              <a:ext cx="4803775" cy="9184640"/>
            </a:xfrm>
            <a:custGeom>
              <a:rect b="b" l="l" r="r" t="t"/>
              <a:pathLst>
                <a:path extrusionOk="0" h="9184640" w="4803775">
                  <a:moveTo>
                    <a:pt x="0" y="95895"/>
                  </a:moveTo>
                  <a:lnTo>
                    <a:pt x="7533" y="58567"/>
                  </a:lnTo>
                  <a:lnTo>
                    <a:pt x="28079" y="28085"/>
                  </a:lnTo>
                  <a:lnTo>
                    <a:pt x="58552" y="7535"/>
                  </a:lnTo>
                  <a:lnTo>
                    <a:pt x="95869" y="0"/>
                  </a:lnTo>
                  <a:lnTo>
                    <a:pt x="4707622" y="0"/>
                  </a:lnTo>
                  <a:lnTo>
                    <a:pt x="4744951" y="7535"/>
                  </a:lnTo>
                  <a:lnTo>
                    <a:pt x="4775432" y="28085"/>
                  </a:lnTo>
                  <a:lnTo>
                    <a:pt x="4795983" y="58567"/>
                  </a:lnTo>
                  <a:lnTo>
                    <a:pt x="4803518" y="95895"/>
                  </a:lnTo>
                  <a:lnTo>
                    <a:pt x="4803518" y="9088667"/>
                  </a:lnTo>
                  <a:lnTo>
                    <a:pt x="4795983" y="9125984"/>
                  </a:lnTo>
                  <a:lnTo>
                    <a:pt x="4775432" y="9156457"/>
                  </a:lnTo>
                  <a:lnTo>
                    <a:pt x="4744951" y="9177003"/>
                  </a:lnTo>
                  <a:lnTo>
                    <a:pt x="4707622" y="9184536"/>
                  </a:lnTo>
                  <a:lnTo>
                    <a:pt x="95869" y="9184536"/>
                  </a:lnTo>
                  <a:lnTo>
                    <a:pt x="58552" y="9177003"/>
                  </a:lnTo>
                  <a:lnTo>
                    <a:pt x="28079" y="9156457"/>
                  </a:lnTo>
                  <a:lnTo>
                    <a:pt x="7533" y="9125984"/>
                  </a:lnTo>
                  <a:lnTo>
                    <a:pt x="0" y="9088667"/>
                  </a:lnTo>
                  <a:lnTo>
                    <a:pt x="0" y="95895"/>
                  </a:lnTo>
                  <a:close/>
                </a:path>
              </a:pathLst>
            </a:custGeom>
            <a:noFill/>
            <a:ln cap="flat" cmpd="sng" w="9525">
              <a:solidFill>
                <a:srgbClr val="4471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0" y="1640787"/>
              <a:ext cx="20104100" cy="26670"/>
            </a:xfrm>
            <a:custGeom>
              <a:rect b="b" l="l" r="r" t="t"/>
              <a:pathLst>
                <a:path extrusionOk="0" h="26669" w="20104100">
                  <a:moveTo>
                    <a:pt x="0" y="26177"/>
                  </a:moveTo>
                  <a:lnTo>
                    <a:pt x="20104099" y="26177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6177"/>
                  </a:lnTo>
                  <a:close/>
                </a:path>
              </a:pathLst>
            </a:custGeom>
            <a:solidFill>
              <a:srgbClr val="2E549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4" name="Google Shape;54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60052" y="1846540"/>
              <a:ext cx="4803344" cy="91813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" name="Google Shape;55;p1"/>
            <p:cNvSpPr/>
            <p:nvPr/>
          </p:nvSpPr>
          <p:spPr>
            <a:xfrm>
              <a:off x="5160052" y="1846540"/>
              <a:ext cx="4803775" cy="9181465"/>
            </a:xfrm>
            <a:custGeom>
              <a:rect b="b" l="l" r="r" t="t"/>
              <a:pathLst>
                <a:path extrusionOk="0" h="9181465" w="4803775">
                  <a:moveTo>
                    <a:pt x="0" y="95895"/>
                  </a:moveTo>
                  <a:lnTo>
                    <a:pt x="7535" y="58567"/>
                  </a:lnTo>
                  <a:lnTo>
                    <a:pt x="28085" y="28085"/>
                  </a:lnTo>
                  <a:lnTo>
                    <a:pt x="58567" y="7535"/>
                  </a:lnTo>
                  <a:lnTo>
                    <a:pt x="95895" y="0"/>
                  </a:lnTo>
                  <a:lnTo>
                    <a:pt x="4707535" y="0"/>
                  </a:lnTo>
                  <a:lnTo>
                    <a:pt x="4744813" y="7535"/>
                  </a:lnTo>
                  <a:lnTo>
                    <a:pt x="4775269" y="28085"/>
                  </a:lnTo>
                  <a:lnTo>
                    <a:pt x="4795809" y="58567"/>
                  </a:lnTo>
                  <a:lnTo>
                    <a:pt x="4803344" y="95895"/>
                  </a:lnTo>
                  <a:lnTo>
                    <a:pt x="4803344" y="9085526"/>
                  </a:lnTo>
                  <a:lnTo>
                    <a:pt x="4795809" y="9122843"/>
                  </a:lnTo>
                  <a:lnTo>
                    <a:pt x="4775269" y="9153316"/>
                  </a:lnTo>
                  <a:lnTo>
                    <a:pt x="4744813" y="9173861"/>
                  </a:lnTo>
                  <a:lnTo>
                    <a:pt x="4707535" y="9181395"/>
                  </a:lnTo>
                  <a:lnTo>
                    <a:pt x="95895" y="9181395"/>
                  </a:lnTo>
                  <a:lnTo>
                    <a:pt x="58567" y="9173861"/>
                  </a:lnTo>
                  <a:lnTo>
                    <a:pt x="28085" y="9153316"/>
                  </a:lnTo>
                  <a:lnTo>
                    <a:pt x="7535" y="9122843"/>
                  </a:lnTo>
                  <a:lnTo>
                    <a:pt x="0" y="9085526"/>
                  </a:lnTo>
                  <a:lnTo>
                    <a:pt x="0" y="95895"/>
                  </a:lnTo>
                  <a:close/>
                </a:path>
              </a:pathLst>
            </a:custGeom>
            <a:noFill/>
            <a:ln cap="flat" cmpd="sng" w="9525">
              <a:solidFill>
                <a:srgbClr val="4471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6" name="Google Shape;56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0529" y="1846540"/>
              <a:ext cx="4803344" cy="91813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1"/>
            <p:cNvSpPr/>
            <p:nvPr/>
          </p:nvSpPr>
          <p:spPr>
            <a:xfrm>
              <a:off x="10140529" y="1846540"/>
              <a:ext cx="4803775" cy="9181465"/>
            </a:xfrm>
            <a:custGeom>
              <a:rect b="b" l="l" r="r" t="t"/>
              <a:pathLst>
                <a:path extrusionOk="0" h="9181465" w="4803775">
                  <a:moveTo>
                    <a:pt x="0" y="95895"/>
                  </a:moveTo>
                  <a:lnTo>
                    <a:pt x="7535" y="58567"/>
                  </a:lnTo>
                  <a:lnTo>
                    <a:pt x="28085" y="28085"/>
                  </a:lnTo>
                  <a:lnTo>
                    <a:pt x="58567" y="7535"/>
                  </a:lnTo>
                  <a:lnTo>
                    <a:pt x="95895" y="0"/>
                  </a:lnTo>
                  <a:lnTo>
                    <a:pt x="4707535" y="0"/>
                  </a:lnTo>
                  <a:lnTo>
                    <a:pt x="4744813" y="7535"/>
                  </a:lnTo>
                  <a:lnTo>
                    <a:pt x="4775269" y="28085"/>
                  </a:lnTo>
                  <a:lnTo>
                    <a:pt x="4795809" y="58567"/>
                  </a:lnTo>
                  <a:lnTo>
                    <a:pt x="4803344" y="95895"/>
                  </a:lnTo>
                  <a:lnTo>
                    <a:pt x="4803344" y="9085526"/>
                  </a:lnTo>
                  <a:lnTo>
                    <a:pt x="4795809" y="9122843"/>
                  </a:lnTo>
                  <a:lnTo>
                    <a:pt x="4775269" y="9153316"/>
                  </a:lnTo>
                  <a:lnTo>
                    <a:pt x="4744813" y="9173861"/>
                  </a:lnTo>
                  <a:lnTo>
                    <a:pt x="4707535" y="9181395"/>
                  </a:lnTo>
                  <a:lnTo>
                    <a:pt x="95895" y="9181395"/>
                  </a:lnTo>
                  <a:lnTo>
                    <a:pt x="58567" y="9173861"/>
                  </a:lnTo>
                  <a:lnTo>
                    <a:pt x="28085" y="9153316"/>
                  </a:lnTo>
                  <a:lnTo>
                    <a:pt x="7535" y="9122843"/>
                  </a:lnTo>
                  <a:lnTo>
                    <a:pt x="0" y="9085526"/>
                  </a:lnTo>
                  <a:lnTo>
                    <a:pt x="0" y="95895"/>
                  </a:lnTo>
                  <a:close/>
                </a:path>
              </a:pathLst>
            </a:custGeom>
            <a:noFill/>
            <a:ln cap="flat" cmpd="sng" w="9525">
              <a:solidFill>
                <a:srgbClr val="4471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8" name="Google Shape;58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121005" y="1846540"/>
              <a:ext cx="4803344" cy="91813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1"/>
            <p:cNvSpPr/>
            <p:nvPr/>
          </p:nvSpPr>
          <p:spPr>
            <a:xfrm>
              <a:off x="15121005" y="1846540"/>
              <a:ext cx="4803775" cy="9181465"/>
            </a:xfrm>
            <a:custGeom>
              <a:rect b="b" l="l" r="r" t="t"/>
              <a:pathLst>
                <a:path extrusionOk="0" h="9181465" w="4803775">
                  <a:moveTo>
                    <a:pt x="0" y="95895"/>
                  </a:moveTo>
                  <a:lnTo>
                    <a:pt x="7535" y="58567"/>
                  </a:lnTo>
                  <a:lnTo>
                    <a:pt x="28085" y="28085"/>
                  </a:lnTo>
                  <a:lnTo>
                    <a:pt x="58567" y="7535"/>
                  </a:lnTo>
                  <a:lnTo>
                    <a:pt x="95895" y="0"/>
                  </a:lnTo>
                  <a:lnTo>
                    <a:pt x="4707535" y="0"/>
                  </a:lnTo>
                  <a:lnTo>
                    <a:pt x="4744813" y="7535"/>
                  </a:lnTo>
                  <a:lnTo>
                    <a:pt x="4775269" y="28085"/>
                  </a:lnTo>
                  <a:lnTo>
                    <a:pt x="4795809" y="58567"/>
                  </a:lnTo>
                  <a:lnTo>
                    <a:pt x="4803344" y="95895"/>
                  </a:lnTo>
                  <a:lnTo>
                    <a:pt x="4803344" y="9085526"/>
                  </a:lnTo>
                  <a:lnTo>
                    <a:pt x="4795809" y="9122843"/>
                  </a:lnTo>
                  <a:lnTo>
                    <a:pt x="4775269" y="9153316"/>
                  </a:lnTo>
                  <a:lnTo>
                    <a:pt x="4744813" y="9173861"/>
                  </a:lnTo>
                  <a:lnTo>
                    <a:pt x="4707535" y="9181395"/>
                  </a:lnTo>
                  <a:lnTo>
                    <a:pt x="95895" y="9181395"/>
                  </a:lnTo>
                  <a:lnTo>
                    <a:pt x="58567" y="9173861"/>
                  </a:lnTo>
                  <a:lnTo>
                    <a:pt x="28085" y="9153316"/>
                  </a:lnTo>
                  <a:lnTo>
                    <a:pt x="7535" y="9122843"/>
                  </a:lnTo>
                  <a:lnTo>
                    <a:pt x="0" y="9085526"/>
                  </a:lnTo>
                  <a:lnTo>
                    <a:pt x="0" y="95895"/>
                  </a:lnTo>
                  <a:close/>
                </a:path>
              </a:pathLst>
            </a:custGeom>
            <a:noFill/>
            <a:ln cap="flat" cmpd="sng" w="9525">
              <a:solidFill>
                <a:srgbClr val="4471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0" name="Google Shape;60;p1"/>
          <p:cNvSpPr txBox="1"/>
          <p:nvPr>
            <p:ph type="title"/>
          </p:nvPr>
        </p:nvSpPr>
        <p:spPr>
          <a:xfrm>
            <a:off x="4091507" y="-7189"/>
            <a:ext cx="11942444" cy="51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Economic Drivers of U.S. Housing Prices</a:t>
            </a:r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7331642" y="345514"/>
            <a:ext cx="5410333" cy="909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39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Stanley Occean &amp; Jonah Liautaud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 668 – Analytics Capstone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170937" y="1992871"/>
            <a:ext cx="4780915" cy="266065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3863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567913" y="2508096"/>
            <a:ext cx="4092575" cy="1094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Housing prices vary significantly across U.S. states due to differences in economic conditions. Understanding these drivers is important for explaining affordability and regional disparities in the housing market.</a:t>
            </a:r>
            <a:endParaRPr/>
          </a:p>
          <a:p>
            <a:pPr indent="-153670" lvl="0" marL="248285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SzPts val="1300"/>
              <a:buFont typeface="Arial"/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210726" y="3851785"/>
            <a:ext cx="4781700" cy="266700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4483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3863"/>
                </a:solidFill>
                <a:latin typeface="Arial"/>
                <a:ea typeface="Arial"/>
                <a:cs typeface="Arial"/>
                <a:sym typeface="Arial"/>
              </a:rPr>
              <a:t>Literature review - mobile phone price prediction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201706" y="5868958"/>
            <a:ext cx="4806950" cy="266700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3863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407914" y="6392842"/>
            <a:ext cx="3999229" cy="631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36220" lvl="0" marL="248285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Sources: FHFA, BEA, BLS, Census, IRS</a:t>
            </a:r>
            <a:endParaRPr/>
          </a:p>
          <a:p>
            <a:pPr indent="-236220" lvl="0" marL="248285" marR="5080" rtl="0" algn="l">
              <a:lnSpc>
                <a:spcPct val="101499"/>
              </a:lnSpc>
              <a:spcBef>
                <a:spcPts val="95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Time Period: 2020–2024</a:t>
            </a:r>
            <a:endParaRPr/>
          </a:p>
          <a:p>
            <a:pPr indent="-236220" lvl="0" marL="248285" marR="5080" rtl="0" algn="l">
              <a:lnSpc>
                <a:spcPct val="101499"/>
              </a:lnSpc>
              <a:spcBef>
                <a:spcPts val="95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Variables:</a:t>
            </a:r>
            <a:endParaRPr/>
          </a:p>
        </p:txBody>
      </p:sp>
      <p:sp>
        <p:nvSpPr>
          <p:cNvPr id="67" name="Google Shape;67;p1"/>
          <p:cNvSpPr txBox="1"/>
          <p:nvPr/>
        </p:nvSpPr>
        <p:spPr>
          <a:xfrm>
            <a:off x="5170980" y="2006838"/>
            <a:ext cx="4781550" cy="228909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3863"/>
                </a:solidFill>
                <a:latin typeface="Arial"/>
                <a:ea typeface="Arial"/>
                <a:cs typeface="Arial"/>
                <a:sym typeface="Arial"/>
              </a:rPr>
              <a:t>Correlation Heatmap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15121288" y="1960453"/>
            <a:ext cx="4781700" cy="228900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3863"/>
                </a:solidFill>
              </a:rPr>
              <a:t>Results (Main Findings)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15139806" y="8400057"/>
            <a:ext cx="4763770" cy="266700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3863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15357075" y="8784683"/>
            <a:ext cx="4208780" cy="212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36220" lvl="0" marL="248285" marR="54737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[1] U.S. Census Bureau, “State Population Totals and Components of Change: 2020–2025,” 2026.</a:t>
            </a:r>
            <a:endParaRPr/>
          </a:p>
          <a:p>
            <a:pPr indent="-236220" lvl="0" marL="248285" marR="547370" rtl="0" algn="l">
              <a:lnSpc>
                <a:spcPct val="102299"/>
              </a:lnSpc>
              <a:spcBef>
                <a:spcPts val="1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[2] U.S. Bureau of Labor Statistics, “Local Area Unemployment Statistics (LAUS),” 2025.</a:t>
            </a:r>
            <a:endParaRPr/>
          </a:p>
          <a:p>
            <a:pPr indent="-236220" lvl="0" marL="248285" marR="547370" rtl="0" algn="l">
              <a:lnSpc>
                <a:spcPct val="102299"/>
              </a:lnSpc>
              <a:spcBef>
                <a:spcPts val="1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[3] Federal Housing Finance Agency, “FHFA House Price Index Datasets,” 2025.</a:t>
            </a:r>
            <a:endParaRPr/>
          </a:p>
          <a:p>
            <a:pPr indent="-236220" lvl="0" marL="248285" marR="547370" rtl="0" algn="l">
              <a:lnSpc>
                <a:spcPct val="102299"/>
              </a:lnSpc>
              <a:spcBef>
                <a:spcPts val="1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[4] U.S. Bureau of Economic Analysis, “Regional Price Parities by State and Metro Area,” 2024.</a:t>
            </a:r>
            <a:endParaRPr/>
          </a:p>
          <a:p>
            <a:pPr indent="-236220" lvl="0" marL="248285" marR="547370" rtl="0" algn="l">
              <a:lnSpc>
                <a:spcPct val="102299"/>
              </a:lnSpc>
              <a:spcBef>
                <a:spcPts val="10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[5] E. L. Glaeser, J. Gyourko, and R. E. Saks, “Why Have Housing Prices Gone Up?” American Economic Review, vol. 95, no. 2, pp. 329–333, May 2005..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202341" y="8666757"/>
            <a:ext cx="4806300" cy="228900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F3863"/>
                </a:solidFill>
              </a:rPr>
              <a:t>Data &amp; Method</a:t>
            </a:r>
            <a:endParaRPr sz="1300">
              <a:solidFill>
                <a:srgbClr val="1F38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343123" y="9207520"/>
            <a:ext cx="4317365" cy="107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2020-2024 state-year panel covering all 50 states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Sources: FHFA, BEA, BLS, Census, IRS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Methods: </a:t>
            </a:r>
            <a:r>
              <a:rPr lang="en-US" sz="1400">
                <a:solidFill>
                  <a:srgbClr val="2B2431"/>
                </a:solidFill>
              </a:rPr>
              <a:t>EDA, correlations, multiple linear regression, and Random Forest comparison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065" marR="5080" rtl="0" algn="l">
              <a:lnSpc>
                <a:spcPct val="101499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417316" y="4397094"/>
            <a:ext cx="4288155" cy="1304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/>
              <a:t>Housing prices are influenced by supply, demand, and macroeconomic conditions 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/>
              <a:t>Cost of living and income are major drivers of housing demand 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/>
              <a:t>Labor market conditions and migration patterns affect regional housing prices </a:t>
            </a:r>
            <a:endParaRPr/>
          </a:p>
        </p:txBody>
      </p:sp>
      <p:sp>
        <p:nvSpPr>
          <p:cNvPr id="74" name="Google Shape;74;p1"/>
          <p:cNvSpPr txBox="1"/>
          <p:nvPr/>
        </p:nvSpPr>
        <p:spPr>
          <a:xfrm>
            <a:off x="5182000" y="4660475"/>
            <a:ext cx="4781550" cy="244938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3A8A"/>
              </a:buClr>
              <a:buSzPts val="1800"/>
              <a:buFont typeface="Arial"/>
              <a:buNone/>
            </a:pPr>
            <a:r>
              <a:rPr b="1" lang="en-US" sz="1400">
                <a:solidFill>
                  <a:srgbClr val="6E3A8A"/>
                </a:solidFill>
                <a:latin typeface="Arial"/>
                <a:ea typeface="Arial"/>
                <a:cs typeface="Arial"/>
                <a:sym typeface="Arial"/>
              </a:rPr>
              <a:t>Cost of Living vs Housing Prices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5422936" y="7472269"/>
            <a:ext cx="4108450" cy="443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10"/>
              <a:buFont typeface="Arial"/>
              <a:buNone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Higher-RPP states tend to have higher housing prices.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10378968" y="2277747"/>
            <a:ext cx="4185920" cy="21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None/>
            </a:pPr>
            <a:r>
              <a:rPr lang="en-US" sz="13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Higher unemployment aligns with lower HPI.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10330398" y="4143562"/>
            <a:ext cx="4206875" cy="21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None/>
            </a:pPr>
            <a:r>
              <a:rPr lang="en-US" sz="13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Income is positive, but weaker than RPP.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10184015" y="5879839"/>
            <a:ext cx="4781550" cy="244938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3A8A"/>
              </a:buClr>
              <a:buSzPts val="1800"/>
              <a:buFont typeface="Arial"/>
              <a:buNone/>
            </a:pPr>
            <a:r>
              <a:rPr b="1" lang="en-US" sz="1400">
                <a:solidFill>
                  <a:srgbClr val="6E3A8A"/>
                </a:solidFill>
                <a:latin typeface="Arial"/>
                <a:ea typeface="Arial"/>
                <a:cs typeface="Arial"/>
                <a:sym typeface="Arial"/>
              </a:rPr>
              <a:t>Top 10 States by Average RPP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15143537" y="6888331"/>
            <a:ext cx="4781550" cy="266700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3863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15289613" y="7212759"/>
            <a:ext cx="4296410" cy="108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Housing prices reflect multiple economic factors rather than one single variable.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Strongest signal: cost of living (RPP).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Next steps: add housing supply, interest rates, and fuller migration coverage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8999" y="132894"/>
            <a:ext cx="2218530" cy="1345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705819" y="172840"/>
            <a:ext cx="2218530" cy="134593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"/>
          <p:cNvSpPr txBox="1"/>
          <p:nvPr/>
        </p:nvSpPr>
        <p:spPr>
          <a:xfrm>
            <a:off x="2486760" y="1144689"/>
            <a:ext cx="15307538" cy="421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39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project examines how unemployment, income growth, cost of living, population, and migration relate to housing prices across the 50 U.S. states.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908050" y="7080781"/>
            <a:ext cx="2187815" cy="1452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-236220" lvl="0" marL="248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Housing Price Index (HPI)</a:t>
            </a:r>
            <a:endParaRPr/>
          </a:p>
          <a:p>
            <a:pPr indent="-236220" lvl="0" marL="248285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Regional Price Parity (RPP)</a:t>
            </a:r>
            <a:endParaRPr/>
          </a:p>
          <a:p>
            <a:pPr indent="-236220" lvl="0" marL="248285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Income Change</a:t>
            </a:r>
            <a:endParaRPr/>
          </a:p>
          <a:p>
            <a:pPr indent="-236220" lvl="0" marL="248285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Unemployment Rate</a:t>
            </a:r>
            <a:endParaRPr/>
          </a:p>
          <a:p>
            <a:pPr indent="-236220" lvl="0" marL="248285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Net Migration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06647" y="10239298"/>
            <a:ext cx="43173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065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Model Concept:</a:t>
            </a:r>
            <a:endParaRPr/>
          </a:p>
          <a:p>
            <a:pPr indent="0" lvl="0" marL="12065" marR="5080" rtl="0" algn="l">
              <a:lnSpc>
                <a:spcPct val="101499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HPI = f(RPP, Income, Unemployment, </a:t>
            </a:r>
            <a:r>
              <a:rPr lang="en-US" sz="1300"/>
              <a:t>P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opulation,</a:t>
            </a:r>
            <a:r>
              <a:rPr lang="en-US" sz="1300"/>
              <a:t> 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Migration)</a:t>
            </a:r>
            <a:endParaRPr/>
          </a:p>
        </p:txBody>
      </p:sp>
      <p:pic>
        <p:nvPicPr>
          <p:cNvPr descr="/mnt/data/poster_redesign/heatmap.png" id="86" name="Google Shape;86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43324" y="2336861"/>
            <a:ext cx="3267675" cy="189479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5348740" y="4316005"/>
            <a:ext cx="4520925" cy="414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None/>
            </a:pPr>
            <a:r>
              <a:rPr lang="en-US" sz="13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RPP shows the strongest relationship; migration is weakest.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65" marR="5080" rtl="0" algn="l">
              <a:lnSpc>
                <a:spcPct val="101499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oster_redesign/rpp_scatter.png" id="88" name="Google Shape;8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0970" y="5148176"/>
            <a:ext cx="3210029" cy="2252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oster_redesign/unemp_scatter.png" id="89" name="Google Shape;89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977820" y="2546664"/>
            <a:ext cx="3156155" cy="1509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oster_redesign/income_scatter.png" id="90" name="Google Shape;90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971070" y="4389951"/>
            <a:ext cx="3142262" cy="1399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oster_redesign/top10_rpp.png" id="91" name="Google Shape;91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991713" y="6200021"/>
            <a:ext cx="3142262" cy="182475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5357075" y="2287216"/>
            <a:ext cx="4296410" cy="238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Housing prices rose steadily from 2020 to 2024.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RPP has the strongest link with HPI (about 0.56-0.60).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Income shows a positive but weaker relationship.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Unemployment is negatively associated with HPI.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Population is weak on its own.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Migration is the weakest factor and is limited to 2021-2023.</a:t>
            </a:r>
            <a:endParaRPr/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</a:rPr>
              <a:t>Random Forest outperformed linear regression in the full dataset, while linear regression performed better in the migration subset.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5121288" y="4758785"/>
            <a:ext cx="4781550" cy="244298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3A8A"/>
              </a:buClr>
              <a:buSzPts val="1800"/>
              <a:buFont typeface="Arial"/>
              <a:buNone/>
            </a:pPr>
            <a:r>
              <a:rPr b="1" lang="en-US" sz="1400">
                <a:solidFill>
                  <a:srgbClr val="6E3A8A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5313260" y="5261989"/>
            <a:ext cx="4296410" cy="1520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Housing prices are best explained by multiple economic factors working together. Cost of living is the strongest driver, while income and labor conditions provide additional explanatory power.</a:t>
            </a:r>
            <a:endParaRPr sz="1400"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i="1"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Results are based on correlation and regression analysis using the 50-state panel dataset.</a:t>
            </a:r>
            <a:endParaRPr sz="1400">
              <a:solidFill>
                <a:srgbClr val="2B24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Char char="•"/>
            </a:pPr>
            <a:r>
              <a:rPr i="1"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Migration is limited to the 2021-2023 IRS flow years.</a:t>
            </a:r>
            <a:endParaRPr sz="1400">
              <a:solidFill>
                <a:srgbClr val="2B24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5192579" y="7986734"/>
            <a:ext cx="4781550" cy="244938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3A8A"/>
              </a:buClr>
              <a:buSzPts val="1800"/>
              <a:buFont typeface="Arial"/>
              <a:buNone/>
            </a:pPr>
            <a:r>
              <a:rPr b="1" lang="en-US" sz="1400">
                <a:solidFill>
                  <a:srgbClr val="6E3A8A"/>
                </a:solidFill>
                <a:latin typeface="Arial"/>
                <a:ea typeface="Arial"/>
                <a:cs typeface="Arial"/>
                <a:sym typeface="Arial"/>
              </a:rPr>
              <a:t>Housing Price Trend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oster_redesign/hpi_trend.png" id="96" name="Google Shape;96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00970" y="8410754"/>
            <a:ext cx="3210029" cy="182854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5344162" y="10440592"/>
            <a:ext cx="4514264" cy="227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31"/>
              </a:buClr>
              <a:buSzPts val="1150"/>
              <a:buFont typeface="Arial"/>
              <a:buNone/>
            </a:pPr>
            <a:r>
              <a:rPr lang="en-US" sz="14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The average HPI rose from 372 in 2020 to 544 in 2024.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151426" y="1992160"/>
            <a:ext cx="4781550" cy="228909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3863"/>
                </a:solidFill>
                <a:latin typeface="Arial"/>
                <a:ea typeface="Arial"/>
                <a:cs typeface="Arial"/>
                <a:sym typeface="Arial"/>
              </a:rPr>
              <a:t>Unemployment/Income Growth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151426" y="8134554"/>
            <a:ext cx="4781550" cy="244938"/>
          </a:xfrm>
          <a:prstGeom prst="rect">
            <a:avLst/>
          </a:prstGeom>
          <a:solidFill>
            <a:srgbClr val="FFFFFF"/>
          </a:solidFill>
          <a:ln cap="flat" cmpd="sng" w="17450">
            <a:solidFill>
              <a:srgbClr val="5B9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3A8A"/>
              </a:buClr>
              <a:buSzPts val="1800"/>
              <a:buFont typeface="Arial"/>
              <a:buNone/>
            </a:pPr>
            <a:r>
              <a:rPr b="1" lang="en-US" sz="1400">
                <a:solidFill>
                  <a:srgbClr val="6E3A8A"/>
                </a:solidFill>
                <a:latin typeface="Arial"/>
                <a:ea typeface="Arial"/>
                <a:cs typeface="Arial"/>
                <a:sym typeface="Arial"/>
              </a:rPr>
              <a:t>Spatial Analysis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015606" y="8441072"/>
            <a:ext cx="3118369" cy="20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10269460" y="10519317"/>
            <a:ext cx="4733510" cy="473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B2431"/>
                </a:solidFill>
                <a:latin typeface="Arial"/>
                <a:ea typeface="Arial"/>
                <a:cs typeface="Arial"/>
                <a:sym typeface="Arial"/>
              </a:rPr>
              <a:t>Choropleth map of housing price index across U.S. states. Darker shades indicate higher housing price levels, highlighting regional disparities with higher concentrations in coastal and economically strong states.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2022-05-09T15:51:28Z</dcterms:created>
  <dc:creator>Station 5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2022-05-09T00:00:00Z</vt:filetime>
  </property>
</Properties>
</file>