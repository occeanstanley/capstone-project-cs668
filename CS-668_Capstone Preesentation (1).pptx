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57" r:id="rId5"/>
    <p:sldId id="258" r:id="rId6"/>
    <p:sldId id="259" r:id="rId7"/>
    <p:sldId id="260" r:id="rId8"/>
    <p:sldId id="267" r:id="rId9"/>
    <p:sldId id="261" r:id="rId10"/>
    <p:sldId id="264" r:id="rId11"/>
    <p:sldId id="266"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3840" userDrawn="1">
          <p15:clr>
            <a:srgbClr val="A4A3A4"/>
          </p15:clr>
        </p15:guide>
        <p15:guide id="3" pos="456" userDrawn="1">
          <p15:clr>
            <a:srgbClr val="A4A3A4"/>
          </p15:clr>
        </p15:guide>
        <p15:guide id="4" pos="72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3ADA"/>
    <a:srgbClr val="7BEBD8"/>
    <a:srgbClr val="8335E5"/>
    <a:srgbClr val="6B8DE1"/>
    <a:srgbClr val="6C92E1"/>
    <a:srgbClr val="6313DC"/>
    <a:srgbClr val="030553"/>
    <a:srgbClr val="7D4BC9"/>
    <a:srgbClr val="16286E"/>
    <a:srgbClr val="652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52" autoAdjust="0"/>
  </p:normalViewPr>
  <p:slideViewPr>
    <p:cSldViewPr snapToGrid="0" showGuides="1">
      <p:cViewPr>
        <p:scale>
          <a:sx n="100" d="100"/>
          <a:sy n="100" d="100"/>
        </p:scale>
        <p:origin x="-331" y="-533"/>
      </p:cViewPr>
      <p:guideLst>
        <p:guide orient="horz" pos="2064"/>
        <p:guide pos="3840"/>
        <p:guide pos="456"/>
        <p:guide pos="720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F506F9-91AB-457B-A321-BA32DFC45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E71BC67-B9B6-41AE-BB4E-51234F2098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9C063D-436A-410C-A490-190D73BB5D3E}" type="datetimeFigureOut">
              <a:rPr lang="en-US" smtClean="0"/>
              <a:t>5/12/26</a:t>
            </a:fld>
            <a:endParaRPr lang="en-US" dirty="0"/>
          </a:p>
        </p:txBody>
      </p:sp>
      <p:sp>
        <p:nvSpPr>
          <p:cNvPr id="4" name="Footer Placeholder 3">
            <a:extLst>
              <a:ext uri="{FF2B5EF4-FFF2-40B4-BE49-F238E27FC236}">
                <a16:creationId xmlns:a16="http://schemas.microsoft.com/office/drawing/2014/main" id="{A0E2BB79-F5ED-4C7F-A869-D9A323F2CA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40207CB-184F-4400-BBE4-E0B71DE062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28996C-DF1E-45F4-80FD-86472FDB10B8}" type="slidenum">
              <a:rPr lang="en-US" smtClean="0"/>
              <a:t>‹#›</a:t>
            </a:fld>
            <a:endParaRPr lang="en-US" dirty="0"/>
          </a:p>
        </p:txBody>
      </p:sp>
    </p:spTree>
    <p:extLst>
      <p:ext uri="{BB962C8B-B14F-4D97-AF65-F5344CB8AC3E}">
        <p14:creationId xmlns:p14="http://schemas.microsoft.com/office/powerpoint/2010/main" val="1401684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8BDD7-4F37-46AB-9A13-BF4D77EDD71D}" type="datetimeFigureOut">
              <a:rPr lang="en-US" smtClean="0"/>
              <a:t>5/12/26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8F48A-6110-47DA-8521-A1D1FFD22FEF}" type="slidenum">
              <a:rPr lang="en-US" smtClean="0"/>
              <a:t>‹#›</a:t>
            </a:fld>
            <a:endParaRPr lang="en-US" dirty="0"/>
          </a:p>
        </p:txBody>
      </p:sp>
    </p:spTree>
    <p:extLst>
      <p:ext uri="{BB962C8B-B14F-4D97-AF65-F5344CB8AC3E}">
        <p14:creationId xmlns:p14="http://schemas.microsoft.com/office/powerpoint/2010/main" val="345149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1</a:t>
            </a:fld>
            <a:endParaRPr lang="en-US" dirty="0"/>
          </a:p>
        </p:txBody>
      </p:sp>
    </p:spTree>
    <p:extLst>
      <p:ext uri="{BB962C8B-B14F-4D97-AF65-F5344CB8AC3E}">
        <p14:creationId xmlns:p14="http://schemas.microsoft.com/office/powerpoint/2010/main" val="467909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10"/>
          </p:nvPr>
        </p:nvSpPr>
        <p:spPr/>
        <p:txBody>
          <a:bodyPr/>
          <a:lstStyle/>
          <a:p>
            <a:fld id="{6DF8F48A-6110-47DA-8521-A1D1FFD22FEF}" type="slidenum">
              <a:rPr lang="en-US" smtClean="0"/>
              <a:t>2</a:t>
            </a:fld>
            <a:endParaRPr lang="en-US"/>
          </a:p>
        </p:txBody>
      </p:sp>
    </p:spTree>
    <p:extLst>
      <p:ext uri="{BB962C8B-B14F-4D97-AF65-F5344CB8AC3E}">
        <p14:creationId xmlns:p14="http://schemas.microsoft.com/office/powerpoint/2010/main" val="204202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3</a:t>
            </a:fld>
            <a:endParaRPr lang="en-US" dirty="0"/>
          </a:p>
        </p:txBody>
      </p:sp>
    </p:spTree>
    <p:extLst>
      <p:ext uri="{BB962C8B-B14F-4D97-AF65-F5344CB8AC3E}">
        <p14:creationId xmlns:p14="http://schemas.microsoft.com/office/powerpoint/2010/main" val="671800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4</a:t>
            </a:fld>
            <a:endParaRPr lang="en-US" dirty="0"/>
          </a:p>
        </p:txBody>
      </p:sp>
    </p:spTree>
    <p:extLst>
      <p:ext uri="{BB962C8B-B14F-4D97-AF65-F5344CB8AC3E}">
        <p14:creationId xmlns:p14="http://schemas.microsoft.com/office/powerpoint/2010/main" val="2369867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4772-644B-BE06-02B0-B1F4E66C4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24DAF-2C11-002B-7FDC-4561F9F6B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F0791-6485-CB2D-A32B-D31BE9E093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219A7-291E-D796-6655-5785C06DED8E}"/>
              </a:ext>
            </a:extLst>
          </p:cNvPr>
          <p:cNvSpPr>
            <a:spLocks noGrp="1"/>
          </p:cNvSpPr>
          <p:nvPr>
            <p:ph type="sldNum" sz="quarter" idx="5"/>
          </p:nvPr>
        </p:nvSpPr>
        <p:spPr/>
        <p:txBody>
          <a:bodyPr/>
          <a:lstStyle/>
          <a:p>
            <a:fld id="{6DF8F48A-6110-47DA-8521-A1D1FFD22FEF}" type="slidenum">
              <a:rPr lang="en-US" smtClean="0"/>
              <a:t>5</a:t>
            </a:fld>
            <a:endParaRPr lang="en-US" dirty="0"/>
          </a:p>
        </p:txBody>
      </p:sp>
    </p:spTree>
    <p:extLst>
      <p:ext uri="{BB962C8B-B14F-4D97-AF65-F5344CB8AC3E}">
        <p14:creationId xmlns:p14="http://schemas.microsoft.com/office/powerpoint/2010/main" val="3150825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6</a:t>
            </a:fld>
            <a:endParaRPr lang="en-US" dirty="0"/>
          </a:p>
        </p:txBody>
      </p:sp>
    </p:spTree>
    <p:extLst>
      <p:ext uri="{BB962C8B-B14F-4D97-AF65-F5344CB8AC3E}">
        <p14:creationId xmlns:p14="http://schemas.microsoft.com/office/powerpoint/2010/main" val="3708814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7</a:t>
            </a:fld>
            <a:endParaRPr lang="en-US" dirty="0"/>
          </a:p>
        </p:txBody>
      </p:sp>
    </p:spTree>
    <p:extLst>
      <p:ext uri="{BB962C8B-B14F-4D97-AF65-F5344CB8AC3E}">
        <p14:creationId xmlns:p14="http://schemas.microsoft.com/office/powerpoint/2010/main" val="3026093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8</a:t>
            </a:fld>
            <a:endParaRPr lang="en-US" dirty="0"/>
          </a:p>
        </p:txBody>
      </p:sp>
    </p:spTree>
    <p:extLst>
      <p:ext uri="{BB962C8B-B14F-4D97-AF65-F5344CB8AC3E}">
        <p14:creationId xmlns:p14="http://schemas.microsoft.com/office/powerpoint/2010/main" val="4262007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A888A-CCC8-010D-4DCA-4EECAE981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4F143-EA73-7681-1973-0BA7A5EF05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C908A-BB4C-36F6-0ED1-257CE11C5436}"/>
              </a:ext>
            </a:extLst>
          </p:cNvPr>
          <p:cNvSpPr>
            <a:spLocks noGrp="1"/>
          </p:cNvSpPr>
          <p:nvPr>
            <p:ph type="body" idx="1"/>
          </p:nvPr>
        </p:nvSpPr>
        <p:spPr/>
        <p:txBody>
          <a:bodyPr/>
          <a:lstStyle/>
          <a:p>
            <a:r>
              <a:rPr lang="en-US"/>
              <a:t> </a:t>
            </a:r>
          </a:p>
        </p:txBody>
      </p:sp>
      <p:sp>
        <p:nvSpPr>
          <p:cNvPr id="4" name="Slide Number Placeholder 3">
            <a:extLst>
              <a:ext uri="{FF2B5EF4-FFF2-40B4-BE49-F238E27FC236}">
                <a16:creationId xmlns:a16="http://schemas.microsoft.com/office/drawing/2014/main" id="{A8DD886E-A9C6-E07F-325F-7B6E978D1682}"/>
              </a:ext>
            </a:extLst>
          </p:cNvPr>
          <p:cNvSpPr>
            <a:spLocks noGrp="1"/>
          </p:cNvSpPr>
          <p:nvPr>
            <p:ph type="sldNum" sz="quarter" idx="10"/>
          </p:nvPr>
        </p:nvSpPr>
        <p:spPr/>
        <p:txBody>
          <a:bodyPr/>
          <a:lstStyle/>
          <a:p>
            <a:fld id="{6DF8F48A-6110-47DA-8521-A1D1FFD22FEF}" type="slidenum">
              <a:rPr lang="en-US" smtClean="0"/>
              <a:t>9</a:t>
            </a:fld>
            <a:endParaRPr lang="en-US"/>
          </a:p>
        </p:txBody>
      </p:sp>
    </p:spTree>
    <p:extLst>
      <p:ext uri="{BB962C8B-B14F-4D97-AF65-F5344CB8AC3E}">
        <p14:creationId xmlns:p14="http://schemas.microsoft.com/office/powerpoint/2010/main" val="3877720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BBB5-FEB0-47AD-A01D-A9D3462038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8207C41-C17D-4E84-B9CC-CA142B94C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245F25D-6082-47DE-9B2C-675944DD1812}"/>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5" name="Footer Placeholder 4">
            <a:extLst>
              <a:ext uri="{FF2B5EF4-FFF2-40B4-BE49-F238E27FC236}">
                <a16:creationId xmlns:a16="http://schemas.microsoft.com/office/drawing/2014/main" id="{5E24B0FF-3B25-4E5C-A0A7-4E163636215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77007-1A01-499B-ACAD-C9F9C20B76F8}"/>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169962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ADCE2-978E-4923-B0E9-4C966B6798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EB0BD6-F012-4C6D-BDAD-9E90ED25A3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2F9E5-192C-4E88-9147-D263893B1842}"/>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5" name="Footer Placeholder 4">
            <a:extLst>
              <a:ext uri="{FF2B5EF4-FFF2-40B4-BE49-F238E27FC236}">
                <a16:creationId xmlns:a16="http://schemas.microsoft.com/office/drawing/2014/main" id="{794A7138-3EAF-4C9D-903E-55D9BC0402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8DB0B82-496D-45C3-A682-7AF9AFFB969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51512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3DAD0-5F6F-47DA-A010-1C4A30C88A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8EFA6E-A768-42A8-B2C3-F100D82609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F46640-E89E-47CE-984D-0C0ECF7CF529}"/>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5" name="Footer Placeholder 4">
            <a:extLst>
              <a:ext uri="{FF2B5EF4-FFF2-40B4-BE49-F238E27FC236}">
                <a16:creationId xmlns:a16="http://schemas.microsoft.com/office/drawing/2014/main" id="{F4177A8F-F167-4C43-AEE7-45067080142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1DA754-ED79-4909-833D-55BF9A5D80BB}"/>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60087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A026-BFE6-4D2A-9ABF-C593B56665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4747E8-A36B-4B4A-B2A4-B5283152AB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C6B59D-87BD-4F32-B9BC-31F9B1A5D7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C49B47-0C41-4DCC-9902-126916D9C448}"/>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6" name="Footer Placeholder 5">
            <a:extLst>
              <a:ext uri="{FF2B5EF4-FFF2-40B4-BE49-F238E27FC236}">
                <a16:creationId xmlns:a16="http://schemas.microsoft.com/office/drawing/2014/main" id="{B7CD28B7-2F2D-4E80-A107-C1F266C6306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35D650A-4D0F-46AE-A132-267FCD921E82}"/>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21987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C6F9-F6F6-4EA1-98AA-81B84F7CC0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B8B83E-B37C-46C9-8284-D6EBA0033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A150B8-0288-44AC-9CE7-E7BD9FB32E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F5DCAE-6027-49B9-A818-F45FADE27B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4FAE16-DBCB-4A42-BFFC-053F2D529A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8C038-E6A1-499D-9E24-FA5980421C81}"/>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8" name="Footer Placeholder 7">
            <a:extLst>
              <a:ext uri="{FF2B5EF4-FFF2-40B4-BE49-F238E27FC236}">
                <a16:creationId xmlns:a16="http://schemas.microsoft.com/office/drawing/2014/main" id="{F9F911B6-A759-487E-8CB6-CF9EF737F07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A906EC0-369D-4138-8D70-148CFDEE55E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4554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02F8A-97AC-456C-B9E3-45A7D520C5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40F483-F2B9-47A3-9B5C-8C264B7016BD}"/>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4" name="Footer Placeholder 3">
            <a:extLst>
              <a:ext uri="{FF2B5EF4-FFF2-40B4-BE49-F238E27FC236}">
                <a16:creationId xmlns:a16="http://schemas.microsoft.com/office/drawing/2014/main" id="{25849874-9D9B-4597-B20D-33D6F58BCA3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B35894C-9062-435A-9758-82ED9C6D787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81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A3F6AD-4D61-4238-AB7D-613625BFF81F}"/>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3" name="Footer Placeholder 2">
            <a:extLst>
              <a:ext uri="{FF2B5EF4-FFF2-40B4-BE49-F238E27FC236}">
                <a16:creationId xmlns:a16="http://schemas.microsoft.com/office/drawing/2014/main" id="{D8AACDC9-944D-47C6-B286-82C86AD9431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EAAC43-3846-4080-B764-AB2DB308C58A}"/>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137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F4779-0336-4AFA-B9A7-259EE8BEC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82F449-DDC3-4694-81E5-91A4B8F433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00A2C4-3B2E-46AC-9605-73F5B2CC1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909769-F5A5-4635-BD0C-D6049DEB9632}"/>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6" name="Footer Placeholder 5">
            <a:extLst>
              <a:ext uri="{FF2B5EF4-FFF2-40B4-BE49-F238E27FC236}">
                <a16:creationId xmlns:a16="http://schemas.microsoft.com/office/drawing/2014/main" id="{F9252DC3-D3D7-446F-A866-D7820B7BF8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71CDB00-5218-4567-902B-845073BE875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77612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661E4-9FF7-494B-A1C9-C9A1DD7052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245657-DA21-4769-84F8-88DC64450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A167B310-6692-4981-9CB8-FE79A091F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DA2C9E-A9AD-4BB9-A691-90BB84F58CE9}"/>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6" name="Footer Placeholder 5">
            <a:extLst>
              <a:ext uri="{FF2B5EF4-FFF2-40B4-BE49-F238E27FC236}">
                <a16:creationId xmlns:a16="http://schemas.microsoft.com/office/drawing/2014/main" id="{F4B3D45D-C826-4846-BBFC-A0D98B7E7A2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3516961-40DC-443E-9DB8-3A987DF499A9}"/>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3133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1C24-32F4-4208-B651-CDCBFCD031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B74779-B577-461F-A409-71F6A5A11A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044BD-4FA0-432C-95D7-517D2DE8C4B6}"/>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5" name="Footer Placeholder 4">
            <a:extLst>
              <a:ext uri="{FF2B5EF4-FFF2-40B4-BE49-F238E27FC236}">
                <a16:creationId xmlns:a16="http://schemas.microsoft.com/office/drawing/2014/main" id="{AD17F283-FE61-4C9A-9E39-74D429C582C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9F9B807-6FE9-4E47-846B-BCB39B7AE2D5}"/>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03985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2594DD-FFD4-4AA9-BCDA-0BA87C1463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9C2B6E-24EB-42CE-8B4D-3178D08C7E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92C56-63F3-4246-AAEE-2FBC89E80248}"/>
              </a:ext>
            </a:extLst>
          </p:cNvPr>
          <p:cNvSpPr>
            <a:spLocks noGrp="1"/>
          </p:cNvSpPr>
          <p:nvPr>
            <p:ph type="dt" sz="half" idx="10"/>
          </p:nvPr>
        </p:nvSpPr>
        <p:spPr/>
        <p:txBody>
          <a:bodyPr/>
          <a:lstStyle/>
          <a:p>
            <a:fld id="{9294036C-9E7C-4FFC-99FA-414B61E345DD}" type="datetimeFigureOut">
              <a:rPr lang="en-US" smtClean="0"/>
              <a:t>5/12/26</a:t>
            </a:fld>
            <a:endParaRPr lang="en-US" dirty="0"/>
          </a:p>
        </p:txBody>
      </p:sp>
      <p:sp>
        <p:nvSpPr>
          <p:cNvPr id="5" name="Footer Placeholder 4">
            <a:extLst>
              <a:ext uri="{FF2B5EF4-FFF2-40B4-BE49-F238E27FC236}">
                <a16:creationId xmlns:a16="http://schemas.microsoft.com/office/drawing/2014/main" id="{35C10319-C816-40EC-B1D0-FD9748E41D7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854E9AB-6952-407A-9F06-2EB917172FBD}"/>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6037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41CFC-63B9-4A19-A8AB-62B9E452AE5E}"/>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5A838B-134E-40B6-A7E3-1119BB8BF5BD}"/>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8943BB-9EAD-4CBC-9CA2-75F70C6B58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94036C-9E7C-4FFC-99FA-414B61E345DD}" type="datetimeFigureOut">
              <a:rPr lang="en-US" smtClean="0"/>
              <a:t>5/12/26</a:t>
            </a:fld>
            <a:endParaRPr lang="en-US" dirty="0"/>
          </a:p>
        </p:txBody>
      </p:sp>
      <p:sp>
        <p:nvSpPr>
          <p:cNvPr id="5" name="Footer Placeholder 4">
            <a:extLst>
              <a:ext uri="{FF2B5EF4-FFF2-40B4-BE49-F238E27FC236}">
                <a16:creationId xmlns:a16="http://schemas.microsoft.com/office/drawing/2014/main" id="{F204E537-5CBA-4B86-9D30-577B9F741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6E79E72-0F12-4646-BCDF-4C9EAA89C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6580AB-5C3C-4B4F-8E2A-8B7A0A8CE695}" type="slidenum">
              <a:rPr lang="en-US" smtClean="0"/>
              <a:t>‹#›</a:t>
            </a:fld>
            <a:endParaRPr lang="en-US" dirty="0"/>
          </a:p>
        </p:txBody>
      </p:sp>
    </p:spTree>
    <p:extLst>
      <p:ext uri="{BB962C8B-B14F-4D97-AF65-F5344CB8AC3E}">
        <p14:creationId xmlns:p14="http://schemas.microsoft.com/office/powerpoint/2010/main" val="55437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016C325E-5B69-4D07-BBFB-7DB217A69D48}"/>
              </a:ext>
            </a:extLst>
          </p:cNvPr>
          <p:cNvSpPr>
            <a:spLocks noGrp="1"/>
          </p:cNvSpPr>
          <p:nvPr>
            <p:ph type="ctrTitle"/>
          </p:nvPr>
        </p:nvSpPr>
        <p:spPr/>
        <p:txBody>
          <a:bodyPr/>
          <a:lstStyle/>
          <a:p>
            <a:r>
              <a:rPr lang="en-US" dirty="0"/>
              <a:t>Human resources slide 1</a:t>
            </a:r>
          </a:p>
        </p:txBody>
      </p:sp>
      <p:grpSp>
        <p:nvGrpSpPr>
          <p:cNvPr id="56" name="Group 55" descr="This image is an icon of three connected human figures. ">
            <a:extLst>
              <a:ext uri="{FF2B5EF4-FFF2-40B4-BE49-F238E27FC236}">
                <a16:creationId xmlns:a16="http://schemas.microsoft.com/office/drawing/2014/main" id="{E56C5C06-BE0B-4D3E-8B77-1A2F0B930590}"/>
              </a:ext>
            </a:extLst>
          </p:cNvPr>
          <p:cNvGrpSpPr/>
          <p:nvPr/>
        </p:nvGrpSpPr>
        <p:grpSpPr>
          <a:xfrm>
            <a:off x="828947" y="2786077"/>
            <a:ext cx="182894" cy="157904"/>
            <a:chOff x="-23742650" y="-5770563"/>
            <a:chExt cx="3497276" cy="3019425"/>
          </a:xfrm>
          <a:solidFill>
            <a:schemeClr val="bg1">
              <a:lumMod val="50000"/>
            </a:schemeClr>
          </a:solidFill>
        </p:grpSpPr>
        <p:sp>
          <p:nvSpPr>
            <p:cNvPr id="76" name="Freeform 41">
              <a:extLst>
                <a:ext uri="{FF2B5EF4-FFF2-40B4-BE49-F238E27FC236}">
                  <a16:creationId xmlns:a16="http://schemas.microsoft.com/office/drawing/2014/main" id="{EA6EC370-AE96-4357-86E0-93B6C20D226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7" name="Freeform 42">
              <a:extLst>
                <a:ext uri="{FF2B5EF4-FFF2-40B4-BE49-F238E27FC236}">
                  <a16:creationId xmlns:a16="http://schemas.microsoft.com/office/drawing/2014/main" id="{5368DFC5-02C5-4946-A452-2652C5D14973}"/>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8" name="Freeform 43">
              <a:extLst>
                <a:ext uri="{FF2B5EF4-FFF2-40B4-BE49-F238E27FC236}">
                  <a16:creationId xmlns:a16="http://schemas.microsoft.com/office/drawing/2014/main" id="{8580222D-9DD6-41E9-912C-179A6E1059FD}"/>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sp>
        <p:nvSpPr>
          <p:cNvPr id="24" name="TextBox 23">
            <a:extLst>
              <a:ext uri="{FF2B5EF4-FFF2-40B4-BE49-F238E27FC236}">
                <a16:creationId xmlns:a16="http://schemas.microsoft.com/office/drawing/2014/main" id="{C1165547-DF3A-4694-9097-2BDAF2003713}"/>
              </a:ext>
            </a:extLst>
          </p:cNvPr>
          <p:cNvSpPr txBox="1"/>
          <p:nvPr/>
        </p:nvSpPr>
        <p:spPr>
          <a:xfrm>
            <a:off x="528038" y="3424406"/>
            <a:ext cx="4845708" cy="1477328"/>
          </a:xfrm>
          <a:prstGeom prst="rect">
            <a:avLst/>
          </a:prstGeom>
          <a:noFill/>
        </p:spPr>
        <p:txBody>
          <a:bodyPr wrap="square" lIns="0" tIns="0" rIns="0" bIns="0" rtlCol="0" anchor="t">
            <a:spAutoFit/>
          </a:bodyPr>
          <a:lstStyle/>
          <a:p>
            <a:r>
              <a:rPr lang="en-US" sz="2400" b="1">
                <a:solidFill>
                  <a:srgbClr val="1E3ADA"/>
                </a:solidFill>
                <a:ea typeface="+mn-lt"/>
                <a:cs typeface="+mn-lt"/>
              </a:rPr>
              <a:t>Analyzing the Impact of Economic Factors on Housing Prices in the United States.</a:t>
            </a:r>
            <a:endParaRPr lang="fr-FR" sz="2400" b="1">
              <a:solidFill>
                <a:srgbClr val="1E3ADA"/>
              </a:solidFill>
              <a:ea typeface="Calibri"/>
              <a:cs typeface="Calibri"/>
            </a:endParaRPr>
          </a:p>
          <a:p>
            <a:endParaRPr lang="en-US" sz="2400" b="1" dirty="0">
              <a:solidFill>
                <a:srgbClr val="002060"/>
              </a:solidFill>
              <a:highlight>
                <a:srgbClr val="FFFF00"/>
              </a:highlight>
              <a:latin typeface="Calibri"/>
              <a:ea typeface="Calibri"/>
              <a:cs typeface="Calibri"/>
            </a:endParaRPr>
          </a:p>
        </p:txBody>
      </p:sp>
      <p:sp>
        <p:nvSpPr>
          <p:cNvPr id="55" name="Rectangle 54">
            <a:extLst>
              <a:ext uri="{FF2B5EF4-FFF2-40B4-BE49-F238E27FC236}">
                <a16:creationId xmlns:a16="http://schemas.microsoft.com/office/drawing/2014/main" id="{6BBBCB2E-F413-4381-8378-02FDC20EA4F6}"/>
              </a:ext>
            </a:extLst>
          </p:cNvPr>
          <p:cNvSpPr/>
          <p:nvPr/>
        </p:nvSpPr>
        <p:spPr>
          <a:xfrm>
            <a:off x="528038" y="4899242"/>
            <a:ext cx="3536195" cy="1477328"/>
          </a:xfrm>
          <a:prstGeom prst="rect">
            <a:avLst/>
          </a:prstGeom>
        </p:spPr>
        <p:txBody>
          <a:bodyPr wrap="square" lIns="0" tIns="0" rIns="0" bIns="0" anchor="t">
            <a:spAutoFit/>
          </a:bodyPr>
          <a:lstStyle/>
          <a:p>
            <a:r>
              <a:rPr lang="en-US" sz="1600">
                <a:solidFill>
                  <a:srgbClr val="27251E"/>
                </a:solidFill>
                <a:ea typeface="+mn-lt"/>
                <a:cs typeface="+mn-lt"/>
              </a:rPr>
              <a:t>Stanley Occean.</a:t>
            </a:r>
            <a:endParaRPr lang="fr-FR" sz="1600">
              <a:ea typeface="Calibri" panose="020F0502020204030204"/>
              <a:cs typeface="Calibri" panose="020F0502020204030204"/>
            </a:endParaRPr>
          </a:p>
          <a:p>
            <a:r>
              <a:rPr lang="en-US" sz="1600">
                <a:solidFill>
                  <a:srgbClr val="27251E"/>
                </a:solidFill>
                <a:ea typeface="+mn-lt"/>
                <a:cs typeface="+mn-lt"/>
              </a:rPr>
              <a:t>Jonah Liautaud.</a:t>
            </a:r>
            <a:endParaRPr lang="en-US" sz="1600">
              <a:ea typeface="Calibri" panose="020F0502020204030204"/>
              <a:cs typeface="Calibri" panose="020F0502020204030204"/>
            </a:endParaRPr>
          </a:p>
          <a:p>
            <a:r>
              <a:rPr lang="en-US" sz="1600">
                <a:solidFill>
                  <a:srgbClr val="27251E"/>
                </a:solidFill>
                <a:ea typeface="+mn-lt"/>
                <a:cs typeface="+mn-lt"/>
              </a:rPr>
              <a:t>Pace University, Seidenberg School of CSIS.</a:t>
            </a:r>
            <a:endParaRPr lang="en-US" sz="1600">
              <a:ea typeface="Calibri" panose="020F0502020204030204"/>
              <a:cs typeface="Calibri" panose="020F0502020204030204"/>
            </a:endParaRPr>
          </a:p>
          <a:p>
            <a:r>
              <a:rPr lang="en-US" sz="1600" dirty="0">
                <a:solidFill>
                  <a:srgbClr val="27251E"/>
                </a:solidFill>
                <a:latin typeface="Calibri"/>
                <a:ea typeface="Calibri"/>
                <a:cs typeface="Calibri"/>
              </a:rPr>
              <a:t>Course: CS-668/  </a:t>
            </a:r>
            <a:r>
              <a:rPr lang="en-US" sz="1600" dirty="0" err="1">
                <a:solidFill>
                  <a:srgbClr val="27251E"/>
                </a:solidFill>
                <a:latin typeface="Calibri"/>
                <a:ea typeface="Calibri"/>
                <a:cs typeface="Calibri"/>
              </a:rPr>
              <a:t>yiqiao</a:t>
            </a:r>
            <a:r>
              <a:rPr lang="en-US" sz="1600" dirty="0">
                <a:solidFill>
                  <a:srgbClr val="27251E"/>
                </a:solidFill>
                <a:latin typeface="Calibri"/>
                <a:ea typeface="Calibri"/>
                <a:cs typeface="Calibri"/>
              </a:rPr>
              <a:t> Yin</a:t>
            </a:r>
          </a:p>
          <a:p>
            <a:r>
              <a:rPr lang="en-US" sz="1600" dirty="0">
                <a:solidFill>
                  <a:srgbClr val="27251E"/>
                </a:solidFill>
                <a:latin typeface="Calibri"/>
                <a:ea typeface="Calibri"/>
                <a:cs typeface="Calibri"/>
              </a:rPr>
              <a:t> 04/29/2026</a:t>
            </a:r>
            <a:endParaRPr lang="en-US" sz="1600">
              <a:solidFill>
                <a:srgbClr val="27251E"/>
              </a:solidFill>
              <a:ea typeface="Calibri"/>
              <a:cs typeface="Calibri"/>
            </a:endParaRPr>
          </a:p>
          <a:p>
            <a:endParaRPr lang="en-US" sz="1600" i="1" dirty="0">
              <a:solidFill>
                <a:srgbClr val="002060"/>
              </a:solidFill>
              <a:latin typeface="Calibri"/>
              <a:ea typeface="Calibri"/>
              <a:cs typeface="Calibri"/>
            </a:endParaRPr>
          </a:p>
        </p:txBody>
      </p:sp>
      <p:grpSp>
        <p:nvGrpSpPr>
          <p:cNvPr id="2" name="Group 1">
            <a:extLst>
              <a:ext uri="{FF2B5EF4-FFF2-40B4-BE49-F238E27FC236}">
                <a16:creationId xmlns:a16="http://schemas.microsoft.com/office/drawing/2014/main" id="{8E504344-8563-476C-9EF9-4200B272FDC1}"/>
              </a:ext>
              <a:ext uri="{C183D7F6-B498-43B3-948B-1728B52AA6E4}">
                <adec:decorative xmlns:adec="http://schemas.microsoft.com/office/drawing/2017/decorative" val="1"/>
              </a:ext>
            </a:extLst>
          </p:cNvPr>
          <p:cNvGrpSpPr/>
          <p:nvPr/>
        </p:nvGrpSpPr>
        <p:grpSpPr>
          <a:xfrm>
            <a:off x="4855953" y="-2833465"/>
            <a:ext cx="8948964" cy="12105059"/>
            <a:chOff x="4855953" y="-2833465"/>
            <a:chExt cx="8948964" cy="12105059"/>
          </a:xfrm>
        </p:grpSpPr>
        <p:sp>
          <p:nvSpPr>
            <p:cNvPr id="18" name="Freeform 10">
              <a:extLst>
                <a:ext uri="{FF2B5EF4-FFF2-40B4-BE49-F238E27FC236}">
                  <a16:creationId xmlns:a16="http://schemas.microsoft.com/office/drawing/2014/main" id="{73D22BE5-D5D5-4BF2-A935-5C4AB588B458}"/>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1">
              <a:extLst>
                <a:ext uri="{FF2B5EF4-FFF2-40B4-BE49-F238E27FC236}">
                  <a16:creationId xmlns:a16="http://schemas.microsoft.com/office/drawing/2014/main" id="{C42C174B-303A-45F6-8FF1-93001A3AAFC1}"/>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2">
              <a:extLst>
                <a:ext uri="{FF2B5EF4-FFF2-40B4-BE49-F238E27FC236}">
                  <a16:creationId xmlns:a16="http://schemas.microsoft.com/office/drawing/2014/main" id="{22AA5A4F-A0EB-453F-A699-F817D4616C6F}"/>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pic>
        <p:nvPicPr>
          <p:cNvPr id="4" name="Graphic 3" descr="Mortgage outline">
            <a:extLst>
              <a:ext uri="{FF2B5EF4-FFF2-40B4-BE49-F238E27FC236}">
                <a16:creationId xmlns:a16="http://schemas.microsoft.com/office/drawing/2014/main" id="{7223E8F6-233C-661A-3BC5-485FB459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908" y="2870036"/>
            <a:ext cx="342900" cy="300568"/>
          </a:xfrm>
          <a:prstGeom prst="rect">
            <a:avLst/>
          </a:prstGeom>
        </p:spPr>
      </p:pic>
      <p:pic>
        <p:nvPicPr>
          <p:cNvPr id="5" name="Graphic 4" descr="Mortgage outline">
            <a:extLst>
              <a:ext uri="{FF2B5EF4-FFF2-40B4-BE49-F238E27FC236}">
                <a16:creationId xmlns:a16="http://schemas.microsoft.com/office/drawing/2014/main" id="{F32FF91A-56A2-106D-30EF-9E549C11BD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741" y="2436119"/>
            <a:ext cx="342900" cy="300568"/>
          </a:xfrm>
          <a:prstGeom prst="rect">
            <a:avLst/>
          </a:prstGeom>
        </p:spPr>
      </p:pic>
      <p:pic>
        <p:nvPicPr>
          <p:cNvPr id="6" name="Graphic 5" descr="Mortgage outline">
            <a:extLst>
              <a:ext uri="{FF2B5EF4-FFF2-40B4-BE49-F238E27FC236}">
                <a16:creationId xmlns:a16="http://schemas.microsoft.com/office/drawing/2014/main" id="{275A5515-AB08-4DC4-D9BB-0DEFCEC312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7158" y="2870036"/>
            <a:ext cx="342900" cy="300568"/>
          </a:xfrm>
          <a:prstGeom prst="rect">
            <a:avLst/>
          </a:prstGeom>
        </p:spPr>
      </p:pic>
    </p:spTree>
    <p:extLst>
      <p:ext uri="{BB962C8B-B14F-4D97-AF65-F5344CB8AC3E}">
        <p14:creationId xmlns:p14="http://schemas.microsoft.com/office/powerpoint/2010/main" val="3254356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15E537-4AB4-4445-A3AC-40D738EDF3DC}"/>
              </a:ext>
            </a:extLst>
          </p:cNvPr>
          <p:cNvSpPr txBox="1"/>
          <p:nvPr/>
        </p:nvSpPr>
        <p:spPr>
          <a:xfrm>
            <a:off x="1183821" y="738390"/>
            <a:ext cx="4845708" cy="492443"/>
          </a:xfrm>
          <a:prstGeom prst="rect">
            <a:avLst/>
          </a:prstGeom>
          <a:noFill/>
        </p:spPr>
        <p:txBody>
          <a:bodyPr wrap="square" lIns="0" tIns="0" rIns="0" bIns="0" rtlCol="0" anchor="t">
            <a:spAutoFit/>
          </a:bodyPr>
          <a:lstStyle/>
          <a:p>
            <a:r>
              <a:rPr lang="en-US" sz="3200" b="1">
                <a:solidFill>
                  <a:srgbClr val="1E3ADA"/>
                </a:solidFill>
              </a:rPr>
              <a:t>Problem Statement</a:t>
            </a:r>
            <a:endParaRPr lang="fr-FR" sz="3200" b="1">
              <a:solidFill>
                <a:srgbClr val="1E3ADA"/>
              </a:solidFill>
            </a:endParaRPr>
          </a:p>
        </p:txBody>
      </p:sp>
      <p:cxnSp>
        <p:nvCxnSpPr>
          <p:cNvPr id="4" name="Straight Connector 3">
            <a:extLst>
              <a:ext uri="{FF2B5EF4-FFF2-40B4-BE49-F238E27FC236}">
                <a16:creationId xmlns:a16="http://schemas.microsoft.com/office/drawing/2014/main" id="{B38D4B56-7D6C-4345-912F-B3BA9A014E8B}"/>
              </a:ext>
              <a:ext uri="{C183D7F6-B498-43B3-948B-1728B52AA6E4}">
                <adec:decorative xmlns:adec="http://schemas.microsoft.com/office/drawing/2017/decorative" val="1"/>
              </a:ext>
            </a:extLst>
          </p:cNvPr>
          <p:cNvCxnSpPr/>
          <p:nvPr/>
        </p:nvCxnSpPr>
        <p:spPr>
          <a:xfrm>
            <a:off x="681614" y="39077"/>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B457331C-2A24-4352-9B4C-1C1B326F404F}"/>
              </a:ext>
              <a:ext uri="{C183D7F6-B498-43B3-948B-1728B52AA6E4}">
                <adec:decorative xmlns:adec="http://schemas.microsoft.com/office/drawing/2017/decorative" val="1"/>
              </a:ext>
            </a:extLst>
          </p:cNvPr>
          <p:cNvGrpSpPr/>
          <p:nvPr/>
        </p:nvGrpSpPr>
        <p:grpSpPr>
          <a:xfrm>
            <a:off x="518433" y="1676661"/>
            <a:ext cx="4201583" cy="3988764"/>
            <a:chOff x="518433" y="1692049"/>
            <a:chExt cx="4201583" cy="3988764"/>
          </a:xfrm>
        </p:grpSpPr>
        <p:grpSp>
          <p:nvGrpSpPr>
            <p:cNvPr id="21" name="Group 20">
              <a:extLst>
                <a:ext uri="{FF2B5EF4-FFF2-40B4-BE49-F238E27FC236}">
                  <a16:creationId xmlns:a16="http://schemas.microsoft.com/office/drawing/2014/main" id="{B111D787-E830-4638-97B3-205F0A0ABC3F}"/>
                </a:ext>
              </a:extLst>
            </p:cNvPr>
            <p:cNvGrpSpPr/>
            <p:nvPr/>
          </p:nvGrpSpPr>
          <p:grpSpPr>
            <a:xfrm>
              <a:off x="518433" y="1692049"/>
              <a:ext cx="4201583" cy="492443"/>
              <a:chOff x="518433" y="1851126"/>
              <a:chExt cx="4201583" cy="492443"/>
            </a:xfrm>
          </p:grpSpPr>
          <p:sp>
            <p:nvSpPr>
              <p:cNvPr id="6" name="Rectangle: Rounded Corners 5">
                <a:extLst>
                  <a:ext uri="{FF2B5EF4-FFF2-40B4-BE49-F238E27FC236}">
                    <a16:creationId xmlns:a16="http://schemas.microsoft.com/office/drawing/2014/main" id="{6BFCD1AA-E1CA-41D6-8605-56AFEBE4EEE3}"/>
                  </a:ext>
                </a:extLst>
              </p:cNvPr>
              <p:cNvSpPr/>
              <p:nvPr/>
            </p:nvSpPr>
            <p:spPr>
              <a:xfrm>
                <a:off x="518433" y="198119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9101D99-B002-4698-9C7E-C942B9AA2D39}"/>
                  </a:ext>
                </a:extLst>
              </p:cNvPr>
              <p:cNvSpPr/>
              <p:nvPr/>
            </p:nvSpPr>
            <p:spPr>
              <a:xfrm>
                <a:off x="1183821" y="1851126"/>
                <a:ext cx="3536195" cy="492443"/>
              </a:xfrm>
              <a:prstGeom prst="rect">
                <a:avLst/>
              </a:prstGeom>
            </p:spPr>
            <p:txBody>
              <a:bodyPr wrap="square" lIns="0" tIns="0" rIns="0" bIns="0" anchor="t">
                <a:spAutoFit/>
              </a:bodyPr>
              <a:lstStyle/>
              <a:p>
                <a:r>
                  <a:rPr lang="en-US" sz="1600">
                    <a:solidFill>
                      <a:srgbClr val="27251E"/>
                    </a:solidFill>
                    <a:ea typeface="+mn-lt"/>
                    <a:cs typeface="+mn-lt"/>
                  </a:rPr>
                  <a:t>Housing prices affect affordability, migration, and financial stability.</a:t>
                </a:r>
                <a:endParaRPr lang="fr-FR" sz="1600">
                  <a:ea typeface="Calibri" panose="020F0502020204030204"/>
                  <a:cs typeface="Calibri" panose="020F0502020204030204"/>
                </a:endParaRPr>
              </a:p>
            </p:txBody>
          </p:sp>
        </p:grpSp>
        <p:grpSp>
          <p:nvGrpSpPr>
            <p:cNvPr id="20" name="Group 19">
              <a:extLst>
                <a:ext uri="{FF2B5EF4-FFF2-40B4-BE49-F238E27FC236}">
                  <a16:creationId xmlns:a16="http://schemas.microsoft.com/office/drawing/2014/main" id="{2D19246F-8F2D-4FAD-8927-AA34DDAA5DFA}"/>
                </a:ext>
              </a:extLst>
            </p:cNvPr>
            <p:cNvGrpSpPr/>
            <p:nvPr/>
          </p:nvGrpSpPr>
          <p:grpSpPr>
            <a:xfrm>
              <a:off x="518433" y="2775416"/>
              <a:ext cx="4201583" cy="492443"/>
              <a:chOff x="518433" y="2717554"/>
              <a:chExt cx="4201583" cy="492443"/>
            </a:xfrm>
          </p:grpSpPr>
          <p:sp>
            <p:nvSpPr>
              <p:cNvPr id="9" name="Rectangle: Rounded Corners 8">
                <a:extLst>
                  <a:ext uri="{FF2B5EF4-FFF2-40B4-BE49-F238E27FC236}">
                    <a16:creationId xmlns:a16="http://schemas.microsoft.com/office/drawing/2014/main" id="{14FF47BA-9557-4442-8E2A-74A4F4AAD237}"/>
                  </a:ext>
                </a:extLst>
              </p:cNvPr>
              <p:cNvSpPr/>
              <p:nvPr/>
            </p:nvSpPr>
            <p:spPr>
              <a:xfrm>
                <a:off x="518433" y="2847627"/>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00C2221-E8A7-47E0-B2B2-5A6A32F96791}"/>
                  </a:ext>
                </a:extLst>
              </p:cNvPr>
              <p:cNvSpPr/>
              <p:nvPr/>
            </p:nvSpPr>
            <p:spPr>
              <a:xfrm>
                <a:off x="1183821" y="2717554"/>
                <a:ext cx="3536195" cy="492443"/>
              </a:xfrm>
              <a:prstGeom prst="rect">
                <a:avLst/>
              </a:prstGeom>
            </p:spPr>
            <p:txBody>
              <a:bodyPr wrap="square" lIns="0" tIns="0" rIns="0" bIns="0" anchor="t">
                <a:spAutoFit/>
              </a:bodyPr>
              <a:lstStyle/>
              <a:p>
                <a:r>
                  <a:rPr lang="en-US" sz="1600">
                    <a:solidFill>
                      <a:srgbClr val="27251E"/>
                    </a:solidFill>
                    <a:ea typeface="+mn-lt"/>
                    <a:cs typeface="+mn-lt"/>
                  </a:rPr>
                  <a:t>Economic conditions vary widely across U.S. states</a:t>
                </a:r>
                <a:r>
                  <a:rPr lang="en-US" sz="1200">
                    <a:solidFill>
                      <a:srgbClr val="27251E"/>
                    </a:solidFill>
                    <a:ea typeface="+mn-lt"/>
                    <a:cs typeface="+mn-lt"/>
                  </a:rPr>
                  <a:t>.</a:t>
                </a:r>
                <a:endParaRPr lang="fr-FR">
                  <a:ea typeface="Calibri" panose="020F0502020204030204"/>
                  <a:cs typeface="Calibri" panose="020F0502020204030204"/>
                </a:endParaRPr>
              </a:p>
            </p:txBody>
          </p:sp>
        </p:grpSp>
        <p:grpSp>
          <p:nvGrpSpPr>
            <p:cNvPr id="19" name="Group 18">
              <a:extLst>
                <a:ext uri="{FF2B5EF4-FFF2-40B4-BE49-F238E27FC236}">
                  <a16:creationId xmlns:a16="http://schemas.microsoft.com/office/drawing/2014/main" id="{9D065A01-39E4-4CC9-9075-3910C66205F5}"/>
                </a:ext>
              </a:extLst>
            </p:cNvPr>
            <p:cNvGrpSpPr/>
            <p:nvPr/>
          </p:nvGrpSpPr>
          <p:grpSpPr>
            <a:xfrm>
              <a:off x="518433" y="3858783"/>
              <a:ext cx="4201583" cy="984885"/>
              <a:chOff x="518433" y="3597907"/>
              <a:chExt cx="4201583" cy="984885"/>
            </a:xfrm>
          </p:grpSpPr>
          <p:sp>
            <p:nvSpPr>
              <p:cNvPr id="11" name="Rectangle: Rounded Corners 10">
                <a:extLst>
                  <a:ext uri="{FF2B5EF4-FFF2-40B4-BE49-F238E27FC236}">
                    <a16:creationId xmlns:a16="http://schemas.microsoft.com/office/drawing/2014/main" id="{6B458D5C-BDF7-4A75-A4E8-B99128DCD84A}"/>
                  </a:ext>
                </a:extLst>
              </p:cNvPr>
              <p:cNvSpPr/>
              <p:nvPr/>
            </p:nvSpPr>
            <p:spPr>
              <a:xfrm>
                <a:off x="518433" y="372798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A17B45E-57F0-4725-89C0-3CD74A5097A3}"/>
                  </a:ext>
                </a:extLst>
              </p:cNvPr>
              <p:cNvSpPr/>
              <p:nvPr/>
            </p:nvSpPr>
            <p:spPr>
              <a:xfrm>
                <a:off x="1183821" y="3597907"/>
                <a:ext cx="3536195" cy="984885"/>
              </a:xfrm>
              <a:prstGeom prst="rect">
                <a:avLst/>
              </a:prstGeom>
            </p:spPr>
            <p:txBody>
              <a:bodyPr wrap="square" lIns="0" tIns="0" rIns="0" bIns="0" anchor="t">
                <a:spAutoFit/>
              </a:bodyPr>
              <a:lstStyle/>
              <a:p>
                <a:r>
                  <a:rPr lang="en-US" sz="1600">
                    <a:solidFill>
                      <a:srgbClr val="27251E"/>
                    </a:solidFill>
                    <a:ea typeface="+mn-lt"/>
                    <a:cs typeface="+mn-lt"/>
                  </a:rPr>
                  <a:t>States differ in income growth, unemployment, population change, migration, and cost of living.</a:t>
                </a:r>
                <a:endParaRPr lang="fr-FR" sz="1600">
                  <a:solidFill>
                    <a:srgbClr val="27251E"/>
                  </a:solidFill>
                  <a:ea typeface="+mn-lt"/>
                  <a:cs typeface="+mn-lt"/>
                </a:endParaRPr>
              </a:p>
              <a:p>
                <a:endParaRPr lang="en-US" sz="1600" i="1" dirty="0">
                  <a:solidFill>
                    <a:srgbClr val="002060"/>
                  </a:solidFill>
                  <a:latin typeface="+mj-lt"/>
                  <a:ea typeface="Calibri Light"/>
                  <a:cs typeface="Segoe UI" panose="020B0502040204020203" pitchFamily="34" charset="0"/>
                </a:endParaRPr>
              </a:p>
            </p:txBody>
          </p:sp>
        </p:grpSp>
        <p:grpSp>
          <p:nvGrpSpPr>
            <p:cNvPr id="18" name="Group 17">
              <a:extLst>
                <a:ext uri="{FF2B5EF4-FFF2-40B4-BE49-F238E27FC236}">
                  <a16:creationId xmlns:a16="http://schemas.microsoft.com/office/drawing/2014/main" id="{609D452F-25F9-4A2F-84BD-9A44714884C6}"/>
                </a:ext>
              </a:extLst>
            </p:cNvPr>
            <p:cNvGrpSpPr/>
            <p:nvPr/>
          </p:nvGrpSpPr>
          <p:grpSpPr>
            <a:xfrm>
              <a:off x="518433" y="4942149"/>
              <a:ext cx="4201583" cy="738664"/>
              <a:chOff x="518433" y="4478260"/>
              <a:chExt cx="4201583" cy="738664"/>
            </a:xfrm>
          </p:grpSpPr>
          <p:sp>
            <p:nvSpPr>
              <p:cNvPr id="13" name="Rectangle: Rounded Corners 12">
                <a:extLst>
                  <a:ext uri="{FF2B5EF4-FFF2-40B4-BE49-F238E27FC236}">
                    <a16:creationId xmlns:a16="http://schemas.microsoft.com/office/drawing/2014/main" id="{64E3D015-D1E6-40C0-B820-5D2B0144652D}"/>
                  </a:ext>
                </a:extLst>
              </p:cNvPr>
              <p:cNvSpPr/>
              <p:nvPr/>
            </p:nvSpPr>
            <p:spPr>
              <a:xfrm>
                <a:off x="518433" y="4608333"/>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187696D-0387-46E9-A420-AD2392161D95}"/>
                  </a:ext>
                </a:extLst>
              </p:cNvPr>
              <p:cNvSpPr/>
              <p:nvPr/>
            </p:nvSpPr>
            <p:spPr>
              <a:xfrm>
                <a:off x="1183821" y="4478260"/>
                <a:ext cx="3536195" cy="738664"/>
              </a:xfrm>
              <a:prstGeom prst="rect">
                <a:avLst/>
              </a:prstGeom>
            </p:spPr>
            <p:txBody>
              <a:bodyPr wrap="square" lIns="0" tIns="0" rIns="0" bIns="0" anchor="t">
                <a:spAutoFit/>
              </a:bodyPr>
              <a:lstStyle/>
              <a:p>
                <a:r>
                  <a:rPr lang="en-US" sz="1600">
                    <a:solidFill>
                      <a:srgbClr val="27251E"/>
                    </a:solidFill>
                    <a:ea typeface="+mn-lt"/>
                    <a:cs typeface="+mn-lt"/>
                  </a:rPr>
                  <a:t>Research question: How are these factors associated with housing prices from 2020 to 2024?</a:t>
                </a:r>
                <a:endParaRPr lang="fr-FR" sz="1600">
                  <a:ea typeface="Calibri" panose="020F0502020204030204"/>
                  <a:cs typeface="Calibri" panose="020F0502020204030204"/>
                </a:endParaRPr>
              </a:p>
            </p:txBody>
          </p:sp>
        </p:grpSp>
      </p:grpSp>
      <p:grpSp>
        <p:nvGrpSpPr>
          <p:cNvPr id="62" name="Group 61" descr="This image is a woman's hand writing on a piece of paper. ">
            <a:extLst>
              <a:ext uri="{FF2B5EF4-FFF2-40B4-BE49-F238E27FC236}">
                <a16:creationId xmlns:a16="http://schemas.microsoft.com/office/drawing/2014/main" id="{123C05C1-3914-48FB-B4B8-1388A2DB5ACE}"/>
              </a:ext>
            </a:extLst>
          </p:cNvPr>
          <p:cNvGrpSpPr/>
          <p:nvPr/>
        </p:nvGrpSpPr>
        <p:grpSpPr>
          <a:xfrm>
            <a:off x="4482071" y="-508000"/>
            <a:ext cx="8739666" cy="8346238"/>
            <a:chOff x="4597682" y="-439156"/>
            <a:chExt cx="7594320" cy="7252450"/>
          </a:xfrm>
        </p:grpSpPr>
        <p:sp>
          <p:nvSpPr>
            <p:cNvPr id="45" name="Freeform 22">
              <a:extLst>
                <a:ext uri="{FF2B5EF4-FFF2-40B4-BE49-F238E27FC236}">
                  <a16:creationId xmlns:a16="http://schemas.microsoft.com/office/drawing/2014/main" id="{52C7242F-F484-4573-8387-13E2AE9DD93F}"/>
                </a:ext>
              </a:extLst>
            </p:cNvPr>
            <p:cNvSpPr>
              <a:spLocks/>
            </p:cNvSpPr>
            <p:nvPr/>
          </p:nvSpPr>
          <p:spPr bwMode="auto">
            <a:xfrm>
              <a:off x="4597682" y="-6899"/>
              <a:ext cx="7594319" cy="6820193"/>
            </a:xfrm>
            <a:custGeom>
              <a:avLst/>
              <a:gdLst>
                <a:gd name="T0" fmla="*/ 2254 w 2254"/>
                <a:gd name="T1" fmla="*/ 0 h 2026"/>
                <a:gd name="T2" fmla="*/ 2254 w 2254"/>
                <a:gd name="T3" fmla="*/ 2026 h 2026"/>
                <a:gd name="T4" fmla="*/ 2091 w 2254"/>
                <a:gd name="T5" fmla="*/ 1927 h 2026"/>
                <a:gd name="T6" fmla="*/ 1829 w 2254"/>
                <a:gd name="T7" fmla="*/ 1867 h 2026"/>
                <a:gd name="T8" fmla="*/ 1784 w 2254"/>
                <a:gd name="T9" fmla="*/ 1860 h 2026"/>
                <a:gd name="T10" fmla="*/ 1025 w 2254"/>
                <a:gd name="T11" fmla="*/ 1812 h 2026"/>
                <a:gd name="T12" fmla="*/ 330 w 2254"/>
                <a:gd name="T13" fmla="*/ 1005 h 2026"/>
                <a:gd name="T14" fmla="*/ 662 w 2254"/>
                <a:gd name="T15" fmla="*/ 430 h 2026"/>
                <a:gd name="T16" fmla="*/ 770 w 2254"/>
                <a:gd name="T17" fmla="*/ 0 h 2026"/>
                <a:gd name="T18" fmla="*/ 2254 w 2254"/>
                <a:gd name="T19" fmla="*/ 0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4" h="2026">
                  <a:moveTo>
                    <a:pt x="2254" y="0"/>
                  </a:moveTo>
                  <a:cubicBezTo>
                    <a:pt x="2254" y="2026"/>
                    <a:pt x="2254" y="2026"/>
                    <a:pt x="2254" y="2026"/>
                  </a:cubicBezTo>
                  <a:cubicBezTo>
                    <a:pt x="2243" y="2005"/>
                    <a:pt x="2206" y="1966"/>
                    <a:pt x="2091" y="1927"/>
                  </a:cubicBezTo>
                  <a:cubicBezTo>
                    <a:pt x="2029" y="1906"/>
                    <a:pt x="1944" y="1885"/>
                    <a:pt x="1829" y="1867"/>
                  </a:cubicBezTo>
                  <a:cubicBezTo>
                    <a:pt x="1814" y="1865"/>
                    <a:pt x="1800" y="1862"/>
                    <a:pt x="1784" y="1860"/>
                  </a:cubicBezTo>
                  <a:cubicBezTo>
                    <a:pt x="1606" y="1835"/>
                    <a:pt x="1361" y="1816"/>
                    <a:pt x="1025" y="1812"/>
                  </a:cubicBezTo>
                  <a:cubicBezTo>
                    <a:pt x="0" y="1800"/>
                    <a:pt x="66" y="1196"/>
                    <a:pt x="330" y="1005"/>
                  </a:cubicBezTo>
                  <a:cubicBezTo>
                    <a:pt x="580" y="825"/>
                    <a:pt x="686" y="680"/>
                    <a:pt x="662" y="430"/>
                  </a:cubicBezTo>
                  <a:cubicBezTo>
                    <a:pt x="638" y="181"/>
                    <a:pt x="770" y="0"/>
                    <a:pt x="770" y="0"/>
                  </a:cubicBezTo>
                  <a:lnTo>
                    <a:pt x="2254" y="0"/>
                  </a:lnTo>
                  <a:close/>
                </a:path>
              </a:pathLst>
            </a:custGeom>
            <a:gradFill>
              <a:gsLst>
                <a:gs pos="0">
                  <a:srgbClr val="7CEFD8"/>
                </a:gs>
                <a:gs pos="55000">
                  <a:srgbClr val="6672E4"/>
                </a:gs>
                <a:gs pos="100000">
                  <a:srgbClr val="882BE5"/>
                </a:gs>
              </a:gsLst>
              <a:lin ang="4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23">
              <a:extLst>
                <a:ext uri="{FF2B5EF4-FFF2-40B4-BE49-F238E27FC236}">
                  <a16:creationId xmlns:a16="http://schemas.microsoft.com/office/drawing/2014/main" id="{DFA1772D-1024-422A-B407-BE0F21E16E56}"/>
                </a:ext>
              </a:extLst>
            </p:cNvPr>
            <p:cNvSpPr>
              <a:spLocks/>
            </p:cNvSpPr>
            <p:nvPr/>
          </p:nvSpPr>
          <p:spPr bwMode="auto">
            <a:xfrm>
              <a:off x="7013242" y="1441003"/>
              <a:ext cx="4110752" cy="3954852"/>
            </a:xfrm>
            <a:custGeom>
              <a:avLst/>
              <a:gdLst>
                <a:gd name="T0" fmla="*/ 0 w 2294"/>
                <a:gd name="T1" fmla="*/ 221 h 2207"/>
                <a:gd name="T2" fmla="*/ 1809 w 2294"/>
                <a:gd name="T3" fmla="*/ 0 h 2207"/>
                <a:gd name="T4" fmla="*/ 2294 w 2294"/>
                <a:gd name="T5" fmla="*/ 1957 h 2207"/>
                <a:gd name="T6" fmla="*/ 432 w 2294"/>
                <a:gd name="T7" fmla="*/ 2207 h 2207"/>
                <a:gd name="T8" fmla="*/ 0 w 2294"/>
                <a:gd name="T9" fmla="*/ 221 h 2207"/>
              </a:gdLst>
              <a:ahLst/>
              <a:cxnLst>
                <a:cxn ang="0">
                  <a:pos x="T0" y="T1"/>
                </a:cxn>
                <a:cxn ang="0">
                  <a:pos x="T2" y="T3"/>
                </a:cxn>
                <a:cxn ang="0">
                  <a:pos x="T4" y="T5"/>
                </a:cxn>
                <a:cxn ang="0">
                  <a:pos x="T6" y="T7"/>
                </a:cxn>
                <a:cxn ang="0">
                  <a:pos x="T8" y="T9"/>
                </a:cxn>
              </a:cxnLst>
              <a:rect l="0" t="0" r="r" b="b"/>
              <a:pathLst>
                <a:path w="2294" h="2207">
                  <a:moveTo>
                    <a:pt x="0" y="221"/>
                  </a:moveTo>
                  <a:lnTo>
                    <a:pt x="1809" y="0"/>
                  </a:lnTo>
                  <a:lnTo>
                    <a:pt x="2294" y="1957"/>
                  </a:lnTo>
                  <a:lnTo>
                    <a:pt x="432" y="2207"/>
                  </a:lnTo>
                  <a:lnTo>
                    <a:pt x="0" y="221"/>
                  </a:lnTo>
                  <a:close/>
                </a:path>
              </a:pathLst>
            </a:custGeom>
            <a:solidFill>
              <a:srgbClr val="C8F4F7"/>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24">
              <a:extLst>
                <a:ext uri="{FF2B5EF4-FFF2-40B4-BE49-F238E27FC236}">
                  <a16:creationId xmlns:a16="http://schemas.microsoft.com/office/drawing/2014/main" id="{30CD4E41-332B-4C6B-9927-54698D5D0DF2}"/>
                </a:ext>
              </a:extLst>
            </p:cNvPr>
            <p:cNvSpPr>
              <a:spLocks/>
            </p:cNvSpPr>
            <p:nvPr/>
          </p:nvSpPr>
          <p:spPr bwMode="auto">
            <a:xfrm>
              <a:off x="7676266" y="1441003"/>
              <a:ext cx="2981818" cy="1632475"/>
            </a:xfrm>
            <a:custGeom>
              <a:avLst/>
              <a:gdLst>
                <a:gd name="T0" fmla="*/ 0 w 1664"/>
                <a:gd name="T1" fmla="*/ 736 h 911"/>
                <a:gd name="T2" fmla="*/ 1664 w 1664"/>
                <a:gd name="T3" fmla="*/ 911 h 911"/>
                <a:gd name="T4" fmla="*/ 1439 w 1664"/>
                <a:gd name="T5" fmla="*/ 0 h 911"/>
                <a:gd name="T6" fmla="*/ 399 w 1664"/>
                <a:gd name="T7" fmla="*/ 127 h 911"/>
                <a:gd name="T8" fmla="*/ 0 w 1664"/>
                <a:gd name="T9" fmla="*/ 736 h 911"/>
              </a:gdLst>
              <a:ahLst/>
              <a:cxnLst>
                <a:cxn ang="0">
                  <a:pos x="T0" y="T1"/>
                </a:cxn>
                <a:cxn ang="0">
                  <a:pos x="T2" y="T3"/>
                </a:cxn>
                <a:cxn ang="0">
                  <a:pos x="T4" y="T5"/>
                </a:cxn>
                <a:cxn ang="0">
                  <a:pos x="T6" y="T7"/>
                </a:cxn>
                <a:cxn ang="0">
                  <a:pos x="T8" y="T9"/>
                </a:cxn>
              </a:cxnLst>
              <a:rect l="0" t="0" r="r" b="b"/>
              <a:pathLst>
                <a:path w="1664" h="911">
                  <a:moveTo>
                    <a:pt x="0" y="736"/>
                  </a:moveTo>
                  <a:lnTo>
                    <a:pt x="1664" y="911"/>
                  </a:lnTo>
                  <a:lnTo>
                    <a:pt x="1439" y="0"/>
                  </a:lnTo>
                  <a:lnTo>
                    <a:pt x="399" y="127"/>
                  </a:lnTo>
                  <a:lnTo>
                    <a:pt x="0" y="736"/>
                  </a:lnTo>
                  <a:close/>
                </a:path>
              </a:pathLst>
            </a:custGeom>
            <a:solidFill>
              <a:srgbClr val="7CE4E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25">
              <a:extLst>
                <a:ext uri="{FF2B5EF4-FFF2-40B4-BE49-F238E27FC236}">
                  <a16:creationId xmlns:a16="http://schemas.microsoft.com/office/drawing/2014/main" id="{12DCF2D5-0997-409A-9DB7-B4DFF4C5BA0B}"/>
                </a:ext>
              </a:extLst>
            </p:cNvPr>
            <p:cNvSpPr>
              <a:spLocks/>
            </p:cNvSpPr>
            <p:nvPr/>
          </p:nvSpPr>
          <p:spPr bwMode="auto">
            <a:xfrm>
              <a:off x="8108129" y="1426667"/>
              <a:ext cx="1347553" cy="593139"/>
            </a:xfrm>
            <a:custGeom>
              <a:avLst/>
              <a:gdLst>
                <a:gd name="T0" fmla="*/ 752 w 752"/>
                <a:gd name="T1" fmla="*/ 0 h 331"/>
                <a:gd name="T2" fmla="*/ 275 w 752"/>
                <a:gd name="T3" fmla="*/ 72 h 331"/>
                <a:gd name="T4" fmla="*/ 0 w 752"/>
                <a:gd name="T5" fmla="*/ 331 h 331"/>
                <a:gd name="T6" fmla="*/ 752 w 752"/>
                <a:gd name="T7" fmla="*/ 130 h 331"/>
                <a:gd name="T8" fmla="*/ 752 w 752"/>
                <a:gd name="T9" fmla="*/ 0 h 331"/>
              </a:gdLst>
              <a:ahLst/>
              <a:cxnLst>
                <a:cxn ang="0">
                  <a:pos x="T0" y="T1"/>
                </a:cxn>
                <a:cxn ang="0">
                  <a:pos x="T2" y="T3"/>
                </a:cxn>
                <a:cxn ang="0">
                  <a:pos x="T4" y="T5"/>
                </a:cxn>
                <a:cxn ang="0">
                  <a:pos x="T6" y="T7"/>
                </a:cxn>
                <a:cxn ang="0">
                  <a:pos x="T8" y="T9"/>
                </a:cxn>
              </a:cxnLst>
              <a:rect l="0" t="0" r="r" b="b"/>
              <a:pathLst>
                <a:path w="752" h="331">
                  <a:moveTo>
                    <a:pt x="752" y="0"/>
                  </a:moveTo>
                  <a:lnTo>
                    <a:pt x="275" y="72"/>
                  </a:lnTo>
                  <a:lnTo>
                    <a:pt x="0" y="331"/>
                  </a:lnTo>
                  <a:lnTo>
                    <a:pt x="752" y="130"/>
                  </a:lnTo>
                  <a:lnTo>
                    <a:pt x="752" y="0"/>
                  </a:lnTo>
                  <a:close/>
                </a:path>
              </a:pathLst>
            </a:custGeom>
            <a:solidFill>
              <a:srgbClr val="ADA4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6">
              <a:extLst>
                <a:ext uri="{FF2B5EF4-FFF2-40B4-BE49-F238E27FC236}">
                  <a16:creationId xmlns:a16="http://schemas.microsoft.com/office/drawing/2014/main" id="{56FE8491-17D1-44D2-A059-D277D43E3DDA}"/>
                </a:ext>
              </a:extLst>
            </p:cNvPr>
            <p:cNvSpPr>
              <a:spLocks/>
            </p:cNvSpPr>
            <p:nvPr/>
          </p:nvSpPr>
          <p:spPr bwMode="auto">
            <a:xfrm>
              <a:off x="7955812" y="1828066"/>
              <a:ext cx="546548" cy="456950"/>
            </a:xfrm>
            <a:custGeom>
              <a:avLst/>
              <a:gdLst>
                <a:gd name="T0" fmla="*/ 162 w 162"/>
                <a:gd name="T1" fmla="*/ 66 h 136"/>
                <a:gd name="T2" fmla="*/ 87 w 162"/>
                <a:gd name="T3" fmla="*/ 130 h 136"/>
                <a:gd name="T4" fmla="*/ 36 w 162"/>
                <a:gd name="T5" fmla="*/ 124 h 136"/>
                <a:gd name="T6" fmla="*/ 0 w 162"/>
                <a:gd name="T7" fmla="*/ 103 h 136"/>
                <a:gd name="T8" fmla="*/ 103 w 162"/>
                <a:gd name="T9" fmla="*/ 0 h 136"/>
                <a:gd name="T10" fmla="*/ 148 w 162"/>
                <a:gd name="T11" fmla="*/ 50 h 136"/>
                <a:gd name="T12" fmla="*/ 162 w 162"/>
                <a:gd name="T13" fmla="*/ 66 h 136"/>
              </a:gdLst>
              <a:ahLst/>
              <a:cxnLst>
                <a:cxn ang="0">
                  <a:pos x="T0" y="T1"/>
                </a:cxn>
                <a:cxn ang="0">
                  <a:pos x="T2" y="T3"/>
                </a:cxn>
                <a:cxn ang="0">
                  <a:pos x="T4" y="T5"/>
                </a:cxn>
                <a:cxn ang="0">
                  <a:pos x="T6" y="T7"/>
                </a:cxn>
                <a:cxn ang="0">
                  <a:pos x="T8" y="T9"/>
                </a:cxn>
                <a:cxn ang="0">
                  <a:pos x="T10" y="T11"/>
                </a:cxn>
                <a:cxn ang="0">
                  <a:pos x="T12" y="T13"/>
                </a:cxn>
              </a:cxnLst>
              <a:rect l="0" t="0" r="r" b="b"/>
              <a:pathLst>
                <a:path w="162" h="136">
                  <a:moveTo>
                    <a:pt x="162" y="66"/>
                  </a:moveTo>
                  <a:cubicBezTo>
                    <a:pt x="162" y="66"/>
                    <a:pt x="119" y="116"/>
                    <a:pt x="87" y="130"/>
                  </a:cubicBezTo>
                  <a:cubicBezTo>
                    <a:pt x="72" y="136"/>
                    <a:pt x="53" y="131"/>
                    <a:pt x="36" y="124"/>
                  </a:cubicBezTo>
                  <a:cubicBezTo>
                    <a:pt x="16" y="115"/>
                    <a:pt x="0" y="103"/>
                    <a:pt x="0" y="103"/>
                  </a:cubicBezTo>
                  <a:cubicBezTo>
                    <a:pt x="103" y="0"/>
                    <a:pt x="103" y="0"/>
                    <a:pt x="103" y="0"/>
                  </a:cubicBezTo>
                  <a:cubicBezTo>
                    <a:pt x="148" y="50"/>
                    <a:pt x="148" y="50"/>
                    <a:pt x="148" y="50"/>
                  </a:cubicBezTo>
                  <a:lnTo>
                    <a:pt x="162" y="66"/>
                  </a:lnTo>
                  <a:close/>
                </a:path>
              </a:pathLst>
            </a:custGeom>
            <a:solidFill>
              <a:srgbClr val="D8C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7">
              <a:extLst>
                <a:ext uri="{FF2B5EF4-FFF2-40B4-BE49-F238E27FC236}">
                  <a16:creationId xmlns:a16="http://schemas.microsoft.com/office/drawing/2014/main" id="{59AC079D-039E-4639-B27F-9908EF107DB5}"/>
                </a:ext>
              </a:extLst>
            </p:cNvPr>
            <p:cNvSpPr>
              <a:spLocks/>
            </p:cNvSpPr>
            <p:nvPr/>
          </p:nvSpPr>
          <p:spPr bwMode="auto">
            <a:xfrm>
              <a:off x="8077665" y="1996510"/>
              <a:ext cx="424695" cy="288506"/>
            </a:xfrm>
            <a:custGeom>
              <a:avLst/>
              <a:gdLst>
                <a:gd name="T0" fmla="*/ 126 w 126"/>
                <a:gd name="T1" fmla="*/ 16 h 86"/>
                <a:gd name="T2" fmla="*/ 51 w 126"/>
                <a:gd name="T3" fmla="*/ 80 h 86"/>
                <a:gd name="T4" fmla="*/ 0 w 126"/>
                <a:gd name="T5" fmla="*/ 74 h 86"/>
                <a:gd name="T6" fmla="*/ 6 w 126"/>
                <a:gd name="T7" fmla="*/ 61 h 86"/>
                <a:gd name="T8" fmla="*/ 112 w 126"/>
                <a:gd name="T9" fmla="*/ 0 h 86"/>
                <a:gd name="T10" fmla="*/ 126 w 126"/>
                <a:gd name="T11" fmla="*/ 16 h 86"/>
              </a:gdLst>
              <a:ahLst/>
              <a:cxnLst>
                <a:cxn ang="0">
                  <a:pos x="T0" y="T1"/>
                </a:cxn>
                <a:cxn ang="0">
                  <a:pos x="T2" y="T3"/>
                </a:cxn>
                <a:cxn ang="0">
                  <a:pos x="T4" y="T5"/>
                </a:cxn>
                <a:cxn ang="0">
                  <a:pos x="T6" y="T7"/>
                </a:cxn>
                <a:cxn ang="0">
                  <a:pos x="T8" y="T9"/>
                </a:cxn>
                <a:cxn ang="0">
                  <a:pos x="T10" y="T11"/>
                </a:cxn>
              </a:cxnLst>
              <a:rect l="0" t="0" r="r" b="b"/>
              <a:pathLst>
                <a:path w="126" h="86">
                  <a:moveTo>
                    <a:pt x="126" y="16"/>
                  </a:moveTo>
                  <a:cubicBezTo>
                    <a:pt x="126" y="16"/>
                    <a:pt x="83" y="66"/>
                    <a:pt x="51" y="80"/>
                  </a:cubicBezTo>
                  <a:cubicBezTo>
                    <a:pt x="36" y="86"/>
                    <a:pt x="17" y="81"/>
                    <a:pt x="0" y="74"/>
                  </a:cubicBezTo>
                  <a:cubicBezTo>
                    <a:pt x="2" y="70"/>
                    <a:pt x="3" y="65"/>
                    <a:pt x="6" y="61"/>
                  </a:cubicBezTo>
                  <a:cubicBezTo>
                    <a:pt x="6" y="61"/>
                    <a:pt x="54" y="25"/>
                    <a:pt x="112" y="0"/>
                  </a:cubicBezTo>
                  <a:lnTo>
                    <a:pt x="126"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28">
              <a:extLst>
                <a:ext uri="{FF2B5EF4-FFF2-40B4-BE49-F238E27FC236}">
                  <a16:creationId xmlns:a16="http://schemas.microsoft.com/office/drawing/2014/main" id="{C95685F9-863C-488D-A6CE-3A519F21EA34}"/>
                </a:ext>
              </a:extLst>
            </p:cNvPr>
            <p:cNvSpPr>
              <a:spLocks/>
            </p:cNvSpPr>
            <p:nvPr/>
          </p:nvSpPr>
          <p:spPr bwMode="auto">
            <a:xfrm>
              <a:off x="11804938" y="-14067"/>
              <a:ext cx="387063" cy="7168"/>
            </a:xfrm>
            <a:custGeom>
              <a:avLst/>
              <a:gdLst>
                <a:gd name="T0" fmla="*/ 115 w 115"/>
                <a:gd name="T1" fmla="*/ 2 h 2"/>
                <a:gd name="T2" fmla="*/ 0 w 115"/>
                <a:gd name="T3" fmla="*/ 2 h 2"/>
                <a:gd name="T4" fmla="*/ 115 w 115"/>
                <a:gd name="T5" fmla="*/ 2 h 2"/>
              </a:gdLst>
              <a:ahLst/>
              <a:cxnLst>
                <a:cxn ang="0">
                  <a:pos x="T0" y="T1"/>
                </a:cxn>
                <a:cxn ang="0">
                  <a:pos x="T2" y="T3"/>
                </a:cxn>
                <a:cxn ang="0">
                  <a:pos x="T4" y="T5"/>
                </a:cxn>
              </a:cxnLst>
              <a:rect l="0" t="0" r="r" b="b"/>
              <a:pathLst>
                <a:path w="115" h="2">
                  <a:moveTo>
                    <a:pt x="115" y="2"/>
                  </a:moveTo>
                  <a:cubicBezTo>
                    <a:pt x="0" y="2"/>
                    <a:pt x="0" y="2"/>
                    <a:pt x="0" y="2"/>
                  </a:cubicBezTo>
                  <a:cubicBezTo>
                    <a:pt x="73" y="0"/>
                    <a:pt x="115" y="2"/>
                    <a:pt x="115" y="2"/>
                  </a:cubicBezTo>
                  <a:close/>
                </a:path>
              </a:pathLst>
            </a:custGeom>
            <a:solidFill>
              <a:srgbClr val="190E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60" name="Group 59">
              <a:extLst>
                <a:ext uri="{FF2B5EF4-FFF2-40B4-BE49-F238E27FC236}">
                  <a16:creationId xmlns:a16="http://schemas.microsoft.com/office/drawing/2014/main" id="{D88A045D-1D47-48A7-BD6D-329F30D7916F}"/>
                </a:ext>
              </a:extLst>
            </p:cNvPr>
            <p:cNvGrpSpPr/>
            <p:nvPr/>
          </p:nvGrpSpPr>
          <p:grpSpPr>
            <a:xfrm>
              <a:off x="7676266" y="528897"/>
              <a:ext cx="1904852" cy="2230988"/>
              <a:chOff x="7676266" y="528897"/>
              <a:chExt cx="1904852" cy="2230988"/>
            </a:xfrm>
            <a:gradFill>
              <a:gsLst>
                <a:gs pos="0">
                  <a:srgbClr val="03002F"/>
                </a:gs>
                <a:gs pos="100000">
                  <a:srgbClr val="F870FF"/>
                </a:gs>
              </a:gsLst>
              <a:lin ang="19800000" scaled="0"/>
            </a:gradFill>
          </p:grpSpPr>
          <p:sp>
            <p:nvSpPr>
              <p:cNvPr id="52" name="Freeform 29">
                <a:extLst>
                  <a:ext uri="{FF2B5EF4-FFF2-40B4-BE49-F238E27FC236}">
                    <a16:creationId xmlns:a16="http://schemas.microsoft.com/office/drawing/2014/main" id="{8AC43BD2-6A27-4E0F-BAFD-FDAF479A012B}"/>
                  </a:ext>
                </a:extLst>
              </p:cNvPr>
              <p:cNvSpPr>
                <a:spLocks/>
              </p:cNvSpPr>
              <p:nvPr/>
            </p:nvSpPr>
            <p:spPr bwMode="auto">
              <a:xfrm>
                <a:off x="7676266" y="2195418"/>
                <a:ext cx="589555" cy="564467"/>
              </a:xfrm>
              <a:custGeom>
                <a:avLst/>
                <a:gdLst>
                  <a:gd name="T0" fmla="*/ 138 w 175"/>
                  <a:gd name="T1" fmla="*/ 16 h 168"/>
                  <a:gd name="T2" fmla="*/ 175 w 175"/>
                  <a:gd name="T3" fmla="*/ 32 h 168"/>
                  <a:gd name="T4" fmla="*/ 167 w 175"/>
                  <a:gd name="T5" fmla="*/ 40 h 168"/>
                  <a:gd name="T6" fmla="*/ 109 w 175"/>
                  <a:gd name="T7" fmla="*/ 105 h 168"/>
                  <a:gd name="T8" fmla="*/ 109 w 175"/>
                  <a:gd name="T9" fmla="*/ 105 h 168"/>
                  <a:gd name="T10" fmla="*/ 84 w 175"/>
                  <a:gd name="T11" fmla="*/ 133 h 168"/>
                  <a:gd name="T12" fmla="*/ 0 w 175"/>
                  <a:gd name="T13" fmla="*/ 168 h 168"/>
                  <a:gd name="T14" fmla="*/ 32 w 175"/>
                  <a:gd name="T15" fmla="*/ 83 h 168"/>
                  <a:gd name="T16" fmla="*/ 48 w 175"/>
                  <a:gd name="T17" fmla="*/ 63 h 168"/>
                  <a:gd name="T18" fmla="*/ 65 w 175"/>
                  <a:gd name="T19" fmla="*/ 42 h 168"/>
                  <a:gd name="T20" fmla="*/ 99 w 175"/>
                  <a:gd name="T21" fmla="*/ 0 h 168"/>
                  <a:gd name="T22" fmla="*/ 103 w 175"/>
                  <a:gd name="T23" fmla="*/ 1 h 168"/>
                  <a:gd name="T24" fmla="*/ 108 w 175"/>
                  <a:gd name="T25" fmla="*/ 3 h 168"/>
                  <a:gd name="T26" fmla="*/ 113 w 175"/>
                  <a:gd name="T27" fmla="*/ 6 h 168"/>
                  <a:gd name="T28" fmla="*/ 115 w 175"/>
                  <a:gd name="T29" fmla="*/ 6 h 168"/>
                  <a:gd name="T30" fmla="*/ 115 w 175"/>
                  <a:gd name="T31" fmla="*/ 6 h 168"/>
                  <a:gd name="T32" fmla="*/ 115 w 175"/>
                  <a:gd name="T33" fmla="*/ 6 h 168"/>
                  <a:gd name="T34" fmla="*/ 131 w 175"/>
                  <a:gd name="T35" fmla="*/ 13 h 168"/>
                  <a:gd name="T36" fmla="*/ 136 w 175"/>
                  <a:gd name="T37" fmla="*/ 15 h 168"/>
                  <a:gd name="T38" fmla="*/ 138 w 175"/>
                  <a:gd name="T39" fmla="*/ 1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5" h="168">
                    <a:moveTo>
                      <a:pt x="138" y="16"/>
                    </a:moveTo>
                    <a:cubicBezTo>
                      <a:pt x="150" y="21"/>
                      <a:pt x="162" y="27"/>
                      <a:pt x="175" y="32"/>
                    </a:cubicBezTo>
                    <a:cubicBezTo>
                      <a:pt x="167" y="40"/>
                      <a:pt x="167" y="40"/>
                      <a:pt x="167" y="40"/>
                    </a:cubicBezTo>
                    <a:cubicBezTo>
                      <a:pt x="109" y="105"/>
                      <a:pt x="109" y="105"/>
                      <a:pt x="109" y="105"/>
                    </a:cubicBezTo>
                    <a:cubicBezTo>
                      <a:pt x="109" y="105"/>
                      <a:pt x="109" y="105"/>
                      <a:pt x="109" y="105"/>
                    </a:cubicBezTo>
                    <a:cubicBezTo>
                      <a:pt x="84" y="133"/>
                      <a:pt x="84" y="133"/>
                      <a:pt x="84" y="133"/>
                    </a:cubicBezTo>
                    <a:cubicBezTo>
                      <a:pt x="0" y="168"/>
                      <a:pt x="0" y="168"/>
                      <a:pt x="0" y="168"/>
                    </a:cubicBezTo>
                    <a:cubicBezTo>
                      <a:pt x="32" y="83"/>
                      <a:pt x="32" y="83"/>
                      <a:pt x="32" y="83"/>
                    </a:cubicBezTo>
                    <a:cubicBezTo>
                      <a:pt x="48" y="63"/>
                      <a:pt x="48" y="63"/>
                      <a:pt x="48" y="63"/>
                    </a:cubicBezTo>
                    <a:cubicBezTo>
                      <a:pt x="65" y="42"/>
                      <a:pt x="65" y="42"/>
                      <a:pt x="65" y="42"/>
                    </a:cubicBezTo>
                    <a:cubicBezTo>
                      <a:pt x="99" y="0"/>
                      <a:pt x="99" y="0"/>
                      <a:pt x="99" y="0"/>
                    </a:cubicBezTo>
                    <a:cubicBezTo>
                      <a:pt x="100" y="0"/>
                      <a:pt x="101" y="1"/>
                      <a:pt x="103" y="1"/>
                    </a:cubicBezTo>
                    <a:cubicBezTo>
                      <a:pt x="104" y="2"/>
                      <a:pt x="106" y="3"/>
                      <a:pt x="108" y="3"/>
                    </a:cubicBezTo>
                    <a:cubicBezTo>
                      <a:pt x="110" y="4"/>
                      <a:pt x="112" y="5"/>
                      <a:pt x="113" y="6"/>
                    </a:cubicBezTo>
                    <a:cubicBezTo>
                      <a:pt x="114" y="6"/>
                      <a:pt x="114" y="6"/>
                      <a:pt x="115" y="6"/>
                    </a:cubicBezTo>
                    <a:cubicBezTo>
                      <a:pt x="115" y="6"/>
                      <a:pt x="115" y="6"/>
                      <a:pt x="115" y="6"/>
                    </a:cubicBezTo>
                    <a:cubicBezTo>
                      <a:pt x="115" y="6"/>
                      <a:pt x="115" y="6"/>
                      <a:pt x="115" y="6"/>
                    </a:cubicBezTo>
                    <a:cubicBezTo>
                      <a:pt x="120" y="8"/>
                      <a:pt x="126" y="11"/>
                      <a:pt x="131" y="13"/>
                    </a:cubicBezTo>
                    <a:cubicBezTo>
                      <a:pt x="133" y="14"/>
                      <a:pt x="134" y="15"/>
                      <a:pt x="136" y="15"/>
                    </a:cubicBezTo>
                    <a:cubicBezTo>
                      <a:pt x="137" y="16"/>
                      <a:pt x="137" y="16"/>
                      <a:pt x="13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0">
                <a:extLst>
                  <a:ext uri="{FF2B5EF4-FFF2-40B4-BE49-F238E27FC236}">
                    <a16:creationId xmlns:a16="http://schemas.microsoft.com/office/drawing/2014/main" id="{ADA7EFA8-1700-4615-8891-221172E4BD3B}"/>
                  </a:ext>
                </a:extLst>
              </p:cNvPr>
              <p:cNvSpPr>
                <a:spLocks/>
              </p:cNvSpPr>
              <p:nvPr/>
            </p:nvSpPr>
            <p:spPr bwMode="auto">
              <a:xfrm>
                <a:off x="8009570" y="528897"/>
                <a:ext cx="1571548" cy="1774039"/>
              </a:xfrm>
              <a:custGeom>
                <a:avLst/>
                <a:gdLst>
                  <a:gd name="T0" fmla="*/ 454 w 466"/>
                  <a:gd name="T1" fmla="*/ 77 h 527"/>
                  <a:gd name="T2" fmla="*/ 450 w 466"/>
                  <a:gd name="T3" fmla="*/ 81 h 527"/>
                  <a:gd name="T4" fmla="*/ 241 w 466"/>
                  <a:gd name="T5" fmla="*/ 334 h 527"/>
                  <a:gd name="T6" fmla="*/ 228 w 466"/>
                  <a:gd name="T7" fmla="*/ 350 h 527"/>
                  <a:gd name="T8" fmla="*/ 184 w 466"/>
                  <a:gd name="T9" fmla="*/ 403 h 527"/>
                  <a:gd name="T10" fmla="*/ 162 w 466"/>
                  <a:gd name="T11" fmla="*/ 429 h 527"/>
                  <a:gd name="T12" fmla="*/ 134 w 466"/>
                  <a:gd name="T13" fmla="*/ 461 h 527"/>
                  <a:gd name="T14" fmla="*/ 76 w 466"/>
                  <a:gd name="T15" fmla="*/ 527 h 527"/>
                  <a:gd name="T16" fmla="*/ 39 w 466"/>
                  <a:gd name="T17" fmla="*/ 511 h 527"/>
                  <a:gd name="T18" fmla="*/ 37 w 466"/>
                  <a:gd name="T19" fmla="*/ 510 h 527"/>
                  <a:gd name="T20" fmla="*/ 32 w 466"/>
                  <a:gd name="T21" fmla="*/ 508 h 527"/>
                  <a:gd name="T22" fmla="*/ 16 w 466"/>
                  <a:gd name="T23" fmla="*/ 501 h 527"/>
                  <a:gd name="T24" fmla="*/ 16 w 466"/>
                  <a:gd name="T25" fmla="*/ 501 h 527"/>
                  <a:gd name="T26" fmla="*/ 16 w 466"/>
                  <a:gd name="T27" fmla="*/ 501 h 527"/>
                  <a:gd name="T28" fmla="*/ 14 w 466"/>
                  <a:gd name="T29" fmla="*/ 501 h 527"/>
                  <a:gd name="T30" fmla="*/ 9 w 466"/>
                  <a:gd name="T31" fmla="*/ 498 h 527"/>
                  <a:gd name="T32" fmla="*/ 4 w 466"/>
                  <a:gd name="T33" fmla="*/ 496 h 527"/>
                  <a:gd name="T34" fmla="*/ 0 w 466"/>
                  <a:gd name="T35" fmla="*/ 495 h 527"/>
                  <a:gd name="T36" fmla="*/ 378 w 466"/>
                  <a:gd name="T37" fmla="*/ 24 h 527"/>
                  <a:gd name="T38" fmla="*/ 443 w 466"/>
                  <a:gd name="T39" fmla="*/ 16 h 527"/>
                  <a:gd name="T40" fmla="*/ 454 w 466"/>
                  <a:gd name="T41" fmla="*/ 7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6" h="527">
                    <a:moveTo>
                      <a:pt x="454" y="77"/>
                    </a:moveTo>
                    <a:cubicBezTo>
                      <a:pt x="453" y="78"/>
                      <a:pt x="452" y="80"/>
                      <a:pt x="450" y="81"/>
                    </a:cubicBezTo>
                    <a:cubicBezTo>
                      <a:pt x="241" y="334"/>
                      <a:pt x="241" y="334"/>
                      <a:pt x="241" y="334"/>
                    </a:cubicBezTo>
                    <a:cubicBezTo>
                      <a:pt x="228" y="350"/>
                      <a:pt x="228" y="350"/>
                      <a:pt x="228" y="350"/>
                    </a:cubicBezTo>
                    <a:cubicBezTo>
                      <a:pt x="184" y="403"/>
                      <a:pt x="184" y="403"/>
                      <a:pt x="184" y="403"/>
                    </a:cubicBezTo>
                    <a:cubicBezTo>
                      <a:pt x="162" y="429"/>
                      <a:pt x="162" y="429"/>
                      <a:pt x="162" y="429"/>
                    </a:cubicBezTo>
                    <a:cubicBezTo>
                      <a:pt x="134" y="461"/>
                      <a:pt x="134" y="461"/>
                      <a:pt x="134" y="461"/>
                    </a:cubicBezTo>
                    <a:cubicBezTo>
                      <a:pt x="76" y="527"/>
                      <a:pt x="76" y="527"/>
                      <a:pt x="76" y="527"/>
                    </a:cubicBezTo>
                    <a:cubicBezTo>
                      <a:pt x="63" y="522"/>
                      <a:pt x="51" y="516"/>
                      <a:pt x="39" y="511"/>
                    </a:cubicBezTo>
                    <a:cubicBezTo>
                      <a:pt x="38" y="511"/>
                      <a:pt x="38" y="511"/>
                      <a:pt x="37" y="510"/>
                    </a:cubicBezTo>
                    <a:cubicBezTo>
                      <a:pt x="35" y="510"/>
                      <a:pt x="34" y="509"/>
                      <a:pt x="32" y="508"/>
                    </a:cubicBezTo>
                    <a:cubicBezTo>
                      <a:pt x="27" y="506"/>
                      <a:pt x="21" y="503"/>
                      <a:pt x="16" y="501"/>
                    </a:cubicBezTo>
                    <a:cubicBezTo>
                      <a:pt x="16" y="501"/>
                      <a:pt x="16" y="501"/>
                      <a:pt x="16" y="501"/>
                    </a:cubicBezTo>
                    <a:cubicBezTo>
                      <a:pt x="16" y="501"/>
                      <a:pt x="16" y="501"/>
                      <a:pt x="16" y="501"/>
                    </a:cubicBezTo>
                    <a:cubicBezTo>
                      <a:pt x="15" y="501"/>
                      <a:pt x="15" y="501"/>
                      <a:pt x="14" y="501"/>
                    </a:cubicBezTo>
                    <a:cubicBezTo>
                      <a:pt x="13" y="500"/>
                      <a:pt x="11" y="499"/>
                      <a:pt x="9" y="498"/>
                    </a:cubicBezTo>
                    <a:cubicBezTo>
                      <a:pt x="7" y="498"/>
                      <a:pt x="5" y="497"/>
                      <a:pt x="4" y="496"/>
                    </a:cubicBezTo>
                    <a:cubicBezTo>
                      <a:pt x="2" y="496"/>
                      <a:pt x="1" y="495"/>
                      <a:pt x="0" y="495"/>
                    </a:cubicBezTo>
                    <a:cubicBezTo>
                      <a:pt x="378" y="24"/>
                      <a:pt x="378" y="24"/>
                      <a:pt x="378" y="24"/>
                    </a:cubicBezTo>
                    <a:cubicBezTo>
                      <a:pt x="394" y="4"/>
                      <a:pt x="423" y="0"/>
                      <a:pt x="443" y="16"/>
                    </a:cubicBezTo>
                    <a:cubicBezTo>
                      <a:pt x="462" y="31"/>
                      <a:pt x="466" y="57"/>
                      <a:pt x="45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4" name="Freeform 31">
              <a:extLst>
                <a:ext uri="{FF2B5EF4-FFF2-40B4-BE49-F238E27FC236}">
                  <a16:creationId xmlns:a16="http://schemas.microsoft.com/office/drawing/2014/main" id="{B6F47CAE-1A30-4CE3-B40D-9C8C433D52D4}"/>
                </a:ext>
              </a:extLst>
            </p:cNvPr>
            <p:cNvSpPr>
              <a:spLocks/>
            </p:cNvSpPr>
            <p:nvPr/>
          </p:nvSpPr>
          <p:spPr bwMode="auto">
            <a:xfrm>
              <a:off x="7609964" y="1441003"/>
              <a:ext cx="4582038" cy="5372291"/>
            </a:xfrm>
            <a:custGeom>
              <a:avLst/>
              <a:gdLst>
                <a:gd name="T0" fmla="*/ 1360 w 1360"/>
                <a:gd name="T1" fmla="*/ 1596 h 1596"/>
                <a:gd name="T2" fmla="*/ 935 w 1360"/>
                <a:gd name="T3" fmla="*/ 1437 h 1596"/>
                <a:gd name="T4" fmla="*/ 823 w 1360"/>
                <a:gd name="T5" fmla="*/ 1072 h 1596"/>
                <a:gd name="T6" fmla="*/ 756 w 1360"/>
                <a:gd name="T7" fmla="*/ 634 h 1596"/>
                <a:gd name="T8" fmla="*/ 753 w 1360"/>
                <a:gd name="T9" fmla="*/ 624 h 1596"/>
                <a:gd name="T10" fmla="*/ 750 w 1360"/>
                <a:gd name="T11" fmla="*/ 616 h 1596"/>
                <a:gd name="T12" fmla="*/ 737 w 1360"/>
                <a:gd name="T13" fmla="*/ 587 h 1596"/>
                <a:gd name="T14" fmla="*/ 729 w 1360"/>
                <a:gd name="T15" fmla="*/ 577 h 1596"/>
                <a:gd name="T16" fmla="*/ 722 w 1360"/>
                <a:gd name="T17" fmla="*/ 571 h 1596"/>
                <a:gd name="T18" fmla="*/ 718 w 1360"/>
                <a:gd name="T19" fmla="*/ 568 h 1596"/>
                <a:gd name="T20" fmla="*/ 699 w 1360"/>
                <a:gd name="T21" fmla="*/ 559 h 1596"/>
                <a:gd name="T22" fmla="*/ 694 w 1360"/>
                <a:gd name="T23" fmla="*/ 557 h 1596"/>
                <a:gd name="T24" fmla="*/ 667 w 1360"/>
                <a:gd name="T25" fmla="*/ 551 h 1596"/>
                <a:gd name="T26" fmla="*/ 637 w 1360"/>
                <a:gd name="T27" fmla="*/ 546 h 1596"/>
                <a:gd name="T28" fmla="*/ 612 w 1360"/>
                <a:gd name="T29" fmla="*/ 542 h 1596"/>
                <a:gd name="T30" fmla="*/ 597 w 1360"/>
                <a:gd name="T31" fmla="*/ 539 h 1596"/>
                <a:gd name="T32" fmla="*/ 554 w 1360"/>
                <a:gd name="T33" fmla="*/ 532 h 1596"/>
                <a:gd name="T34" fmla="*/ 495 w 1360"/>
                <a:gd name="T35" fmla="*/ 522 h 1596"/>
                <a:gd name="T36" fmla="*/ 469 w 1360"/>
                <a:gd name="T37" fmla="*/ 516 h 1596"/>
                <a:gd name="T38" fmla="*/ 447 w 1360"/>
                <a:gd name="T39" fmla="*/ 512 h 1596"/>
                <a:gd name="T40" fmla="*/ 421 w 1360"/>
                <a:gd name="T41" fmla="*/ 506 h 1596"/>
                <a:gd name="T42" fmla="*/ 402 w 1360"/>
                <a:gd name="T43" fmla="*/ 500 h 1596"/>
                <a:gd name="T44" fmla="*/ 382 w 1360"/>
                <a:gd name="T45" fmla="*/ 495 h 1596"/>
                <a:gd name="T46" fmla="*/ 367 w 1360"/>
                <a:gd name="T47" fmla="*/ 490 h 1596"/>
                <a:gd name="T48" fmla="*/ 355 w 1360"/>
                <a:gd name="T49" fmla="*/ 485 h 1596"/>
                <a:gd name="T50" fmla="*/ 332 w 1360"/>
                <a:gd name="T51" fmla="*/ 476 h 1596"/>
                <a:gd name="T52" fmla="*/ 290 w 1360"/>
                <a:gd name="T53" fmla="*/ 452 h 1596"/>
                <a:gd name="T54" fmla="*/ 280 w 1360"/>
                <a:gd name="T55" fmla="*/ 444 h 1596"/>
                <a:gd name="T56" fmla="*/ 264 w 1360"/>
                <a:gd name="T57" fmla="*/ 429 h 1596"/>
                <a:gd name="T58" fmla="*/ 252 w 1360"/>
                <a:gd name="T59" fmla="*/ 419 h 1596"/>
                <a:gd name="T60" fmla="*/ 241 w 1360"/>
                <a:gd name="T61" fmla="*/ 410 h 1596"/>
                <a:gd name="T62" fmla="*/ 129 w 1360"/>
                <a:gd name="T63" fmla="*/ 329 h 1596"/>
                <a:gd name="T64" fmla="*/ 106 w 1360"/>
                <a:gd name="T65" fmla="*/ 313 h 1596"/>
                <a:gd name="T66" fmla="*/ 68 w 1360"/>
                <a:gd name="T67" fmla="*/ 287 h 1596"/>
                <a:gd name="T68" fmla="*/ 33 w 1360"/>
                <a:gd name="T69" fmla="*/ 221 h 1596"/>
                <a:gd name="T70" fmla="*/ 73 w 1360"/>
                <a:gd name="T71" fmla="*/ 213 h 1596"/>
                <a:gd name="T72" fmla="*/ 79 w 1360"/>
                <a:gd name="T73" fmla="*/ 213 h 1596"/>
                <a:gd name="T74" fmla="*/ 87 w 1360"/>
                <a:gd name="T75" fmla="*/ 214 h 1596"/>
                <a:gd name="T76" fmla="*/ 119 w 1360"/>
                <a:gd name="T77" fmla="*/ 224 h 1596"/>
                <a:gd name="T78" fmla="*/ 128 w 1360"/>
                <a:gd name="T79" fmla="*/ 227 h 1596"/>
                <a:gd name="T80" fmla="*/ 135 w 1360"/>
                <a:gd name="T81" fmla="*/ 230 h 1596"/>
                <a:gd name="T82" fmla="*/ 151 w 1360"/>
                <a:gd name="T83" fmla="*/ 237 h 1596"/>
                <a:gd name="T84" fmla="*/ 158 w 1360"/>
                <a:gd name="T85" fmla="*/ 240 h 1596"/>
                <a:gd name="T86" fmla="*/ 197 w 1360"/>
                <a:gd name="T87" fmla="*/ 257 h 1596"/>
                <a:gd name="T88" fmla="*/ 412 w 1360"/>
                <a:gd name="T89" fmla="*/ 273 h 1596"/>
                <a:gd name="T90" fmla="*/ 461 w 1360"/>
                <a:gd name="T91" fmla="*/ 189 h 1596"/>
                <a:gd name="T92" fmla="*/ 460 w 1360"/>
                <a:gd name="T93" fmla="*/ 185 h 1596"/>
                <a:gd name="T94" fmla="*/ 460 w 1360"/>
                <a:gd name="T95" fmla="*/ 181 h 1596"/>
                <a:gd name="T96" fmla="*/ 457 w 1360"/>
                <a:gd name="T97" fmla="*/ 176 h 1596"/>
                <a:gd name="T98" fmla="*/ 455 w 1360"/>
                <a:gd name="T99" fmla="*/ 172 h 1596"/>
                <a:gd name="T100" fmla="*/ 451 w 1360"/>
                <a:gd name="T101" fmla="*/ 168 h 1596"/>
                <a:gd name="T102" fmla="*/ 444 w 1360"/>
                <a:gd name="T103" fmla="*/ 164 h 1596"/>
                <a:gd name="T104" fmla="*/ 423 w 1360"/>
                <a:gd name="T105" fmla="*/ 160 h 1596"/>
                <a:gd name="T106" fmla="*/ 281 w 1360"/>
                <a:gd name="T107" fmla="*/ 158 h 1596"/>
                <a:gd name="T108" fmla="*/ 347 w 1360"/>
                <a:gd name="T109" fmla="*/ 79 h 1596"/>
                <a:gd name="T110" fmla="*/ 420 w 1360"/>
                <a:gd name="T111" fmla="*/ 45 h 1596"/>
                <a:gd name="T112" fmla="*/ 548 w 1360"/>
                <a:gd name="T113" fmla="*/ 2 h 1596"/>
                <a:gd name="T114" fmla="*/ 584 w 1360"/>
                <a:gd name="T115" fmla="*/ 24 h 1596"/>
                <a:gd name="T116" fmla="*/ 905 w 1360"/>
                <a:gd name="T117" fmla="*/ 485 h 1596"/>
                <a:gd name="T118" fmla="*/ 918 w 1360"/>
                <a:gd name="T119" fmla="*/ 526 h 1596"/>
                <a:gd name="T120" fmla="*/ 1360 w 1360"/>
                <a:gd name="T121" fmla="*/ 1194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0" h="1596">
                  <a:moveTo>
                    <a:pt x="1360" y="1194"/>
                  </a:moveTo>
                  <a:cubicBezTo>
                    <a:pt x="1360" y="1596"/>
                    <a:pt x="1360" y="1596"/>
                    <a:pt x="1360" y="1596"/>
                  </a:cubicBezTo>
                  <a:cubicBezTo>
                    <a:pt x="1349" y="1575"/>
                    <a:pt x="1312" y="1536"/>
                    <a:pt x="1197" y="1497"/>
                  </a:cubicBezTo>
                  <a:cubicBezTo>
                    <a:pt x="1135" y="1476"/>
                    <a:pt x="1050" y="1455"/>
                    <a:pt x="935" y="1437"/>
                  </a:cubicBezTo>
                  <a:cubicBezTo>
                    <a:pt x="897" y="1361"/>
                    <a:pt x="867" y="1277"/>
                    <a:pt x="847" y="1188"/>
                  </a:cubicBezTo>
                  <a:cubicBezTo>
                    <a:pt x="838" y="1147"/>
                    <a:pt x="830" y="1108"/>
                    <a:pt x="823" y="1072"/>
                  </a:cubicBezTo>
                  <a:cubicBezTo>
                    <a:pt x="785" y="876"/>
                    <a:pt x="776" y="752"/>
                    <a:pt x="763" y="674"/>
                  </a:cubicBezTo>
                  <a:cubicBezTo>
                    <a:pt x="761" y="659"/>
                    <a:pt x="758" y="646"/>
                    <a:pt x="756" y="634"/>
                  </a:cubicBezTo>
                  <a:cubicBezTo>
                    <a:pt x="755" y="632"/>
                    <a:pt x="754" y="630"/>
                    <a:pt x="754" y="628"/>
                  </a:cubicBezTo>
                  <a:cubicBezTo>
                    <a:pt x="754" y="627"/>
                    <a:pt x="753" y="625"/>
                    <a:pt x="753" y="624"/>
                  </a:cubicBezTo>
                  <a:cubicBezTo>
                    <a:pt x="752" y="622"/>
                    <a:pt x="752" y="620"/>
                    <a:pt x="751" y="618"/>
                  </a:cubicBezTo>
                  <a:cubicBezTo>
                    <a:pt x="751" y="618"/>
                    <a:pt x="751" y="617"/>
                    <a:pt x="750" y="616"/>
                  </a:cubicBezTo>
                  <a:cubicBezTo>
                    <a:pt x="747" y="605"/>
                    <a:pt x="743" y="596"/>
                    <a:pt x="738" y="589"/>
                  </a:cubicBezTo>
                  <a:cubicBezTo>
                    <a:pt x="737" y="588"/>
                    <a:pt x="737" y="588"/>
                    <a:pt x="737" y="587"/>
                  </a:cubicBezTo>
                  <a:cubicBezTo>
                    <a:pt x="735" y="584"/>
                    <a:pt x="732" y="581"/>
                    <a:pt x="730" y="579"/>
                  </a:cubicBezTo>
                  <a:cubicBezTo>
                    <a:pt x="730" y="578"/>
                    <a:pt x="729" y="578"/>
                    <a:pt x="729" y="577"/>
                  </a:cubicBezTo>
                  <a:cubicBezTo>
                    <a:pt x="727" y="576"/>
                    <a:pt x="725" y="574"/>
                    <a:pt x="723" y="572"/>
                  </a:cubicBezTo>
                  <a:cubicBezTo>
                    <a:pt x="723" y="572"/>
                    <a:pt x="723" y="571"/>
                    <a:pt x="722" y="571"/>
                  </a:cubicBezTo>
                  <a:cubicBezTo>
                    <a:pt x="722" y="571"/>
                    <a:pt x="722" y="571"/>
                    <a:pt x="721" y="571"/>
                  </a:cubicBezTo>
                  <a:cubicBezTo>
                    <a:pt x="720" y="570"/>
                    <a:pt x="719" y="569"/>
                    <a:pt x="718" y="568"/>
                  </a:cubicBezTo>
                  <a:cubicBezTo>
                    <a:pt x="715" y="566"/>
                    <a:pt x="712" y="564"/>
                    <a:pt x="709" y="563"/>
                  </a:cubicBezTo>
                  <a:cubicBezTo>
                    <a:pt x="705" y="561"/>
                    <a:pt x="702" y="560"/>
                    <a:pt x="699" y="559"/>
                  </a:cubicBezTo>
                  <a:cubicBezTo>
                    <a:pt x="698" y="559"/>
                    <a:pt x="697" y="558"/>
                    <a:pt x="696" y="558"/>
                  </a:cubicBezTo>
                  <a:cubicBezTo>
                    <a:pt x="696" y="558"/>
                    <a:pt x="695" y="558"/>
                    <a:pt x="694" y="557"/>
                  </a:cubicBezTo>
                  <a:cubicBezTo>
                    <a:pt x="692" y="557"/>
                    <a:pt x="690" y="556"/>
                    <a:pt x="688" y="556"/>
                  </a:cubicBezTo>
                  <a:cubicBezTo>
                    <a:pt x="681" y="554"/>
                    <a:pt x="674" y="553"/>
                    <a:pt x="667" y="551"/>
                  </a:cubicBezTo>
                  <a:cubicBezTo>
                    <a:pt x="665" y="551"/>
                    <a:pt x="663" y="551"/>
                    <a:pt x="661" y="550"/>
                  </a:cubicBezTo>
                  <a:cubicBezTo>
                    <a:pt x="653" y="549"/>
                    <a:pt x="645" y="547"/>
                    <a:pt x="637" y="546"/>
                  </a:cubicBezTo>
                  <a:cubicBezTo>
                    <a:pt x="632" y="545"/>
                    <a:pt x="628" y="545"/>
                    <a:pt x="624" y="544"/>
                  </a:cubicBezTo>
                  <a:cubicBezTo>
                    <a:pt x="620" y="543"/>
                    <a:pt x="616" y="543"/>
                    <a:pt x="612" y="542"/>
                  </a:cubicBezTo>
                  <a:cubicBezTo>
                    <a:pt x="611" y="542"/>
                    <a:pt x="611" y="542"/>
                    <a:pt x="610" y="541"/>
                  </a:cubicBezTo>
                  <a:cubicBezTo>
                    <a:pt x="605" y="541"/>
                    <a:pt x="601" y="540"/>
                    <a:pt x="597" y="539"/>
                  </a:cubicBezTo>
                  <a:cubicBezTo>
                    <a:pt x="590" y="538"/>
                    <a:pt x="583" y="537"/>
                    <a:pt x="576" y="536"/>
                  </a:cubicBezTo>
                  <a:cubicBezTo>
                    <a:pt x="569" y="535"/>
                    <a:pt x="562" y="534"/>
                    <a:pt x="554" y="532"/>
                  </a:cubicBezTo>
                  <a:cubicBezTo>
                    <a:pt x="539" y="530"/>
                    <a:pt x="523" y="527"/>
                    <a:pt x="508" y="524"/>
                  </a:cubicBezTo>
                  <a:cubicBezTo>
                    <a:pt x="504" y="523"/>
                    <a:pt x="499" y="523"/>
                    <a:pt x="495" y="522"/>
                  </a:cubicBezTo>
                  <a:cubicBezTo>
                    <a:pt x="493" y="521"/>
                    <a:pt x="490" y="521"/>
                    <a:pt x="488" y="520"/>
                  </a:cubicBezTo>
                  <a:cubicBezTo>
                    <a:pt x="481" y="519"/>
                    <a:pt x="475" y="518"/>
                    <a:pt x="469" y="516"/>
                  </a:cubicBezTo>
                  <a:cubicBezTo>
                    <a:pt x="464" y="515"/>
                    <a:pt x="459" y="514"/>
                    <a:pt x="454" y="513"/>
                  </a:cubicBezTo>
                  <a:cubicBezTo>
                    <a:pt x="452" y="513"/>
                    <a:pt x="449" y="512"/>
                    <a:pt x="447" y="512"/>
                  </a:cubicBezTo>
                  <a:cubicBezTo>
                    <a:pt x="439" y="510"/>
                    <a:pt x="432" y="508"/>
                    <a:pt x="425" y="507"/>
                  </a:cubicBezTo>
                  <a:cubicBezTo>
                    <a:pt x="424" y="506"/>
                    <a:pt x="422" y="506"/>
                    <a:pt x="421" y="506"/>
                  </a:cubicBezTo>
                  <a:cubicBezTo>
                    <a:pt x="418" y="505"/>
                    <a:pt x="414" y="504"/>
                    <a:pt x="411" y="503"/>
                  </a:cubicBezTo>
                  <a:cubicBezTo>
                    <a:pt x="408" y="502"/>
                    <a:pt x="405" y="501"/>
                    <a:pt x="402" y="500"/>
                  </a:cubicBezTo>
                  <a:cubicBezTo>
                    <a:pt x="399" y="500"/>
                    <a:pt x="396" y="499"/>
                    <a:pt x="393" y="498"/>
                  </a:cubicBezTo>
                  <a:cubicBezTo>
                    <a:pt x="389" y="497"/>
                    <a:pt x="386" y="496"/>
                    <a:pt x="382" y="495"/>
                  </a:cubicBezTo>
                  <a:cubicBezTo>
                    <a:pt x="380" y="494"/>
                    <a:pt x="377" y="493"/>
                    <a:pt x="374" y="492"/>
                  </a:cubicBezTo>
                  <a:cubicBezTo>
                    <a:pt x="372" y="491"/>
                    <a:pt x="370" y="491"/>
                    <a:pt x="367" y="490"/>
                  </a:cubicBezTo>
                  <a:cubicBezTo>
                    <a:pt x="365" y="489"/>
                    <a:pt x="363" y="488"/>
                    <a:pt x="361" y="488"/>
                  </a:cubicBezTo>
                  <a:cubicBezTo>
                    <a:pt x="359" y="487"/>
                    <a:pt x="357" y="486"/>
                    <a:pt x="355" y="485"/>
                  </a:cubicBezTo>
                  <a:cubicBezTo>
                    <a:pt x="349" y="483"/>
                    <a:pt x="343" y="481"/>
                    <a:pt x="337" y="478"/>
                  </a:cubicBezTo>
                  <a:cubicBezTo>
                    <a:pt x="335" y="477"/>
                    <a:pt x="334" y="477"/>
                    <a:pt x="332" y="476"/>
                  </a:cubicBezTo>
                  <a:cubicBezTo>
                    <a:pt x="317" y="469"/>
                    <a:pt x="304" y="462"/>
                    <a:pt x="292" y="453"/>
                  </a:cubicBezTo>
                  <a:cubicBezTo>
                    <a:pt x="292" y="453"/>
                    <a:pt x="291" y="453"/>
                    <a:pt x="290" y="452"/>
                  </a:cubicBezTo>
                  <a:cubicBezTo>
                    <a:pt x="288" y="450"/>
                    <a:pt x="286" y="449"/>
                    <a:pt x="284" y="447"/>
                  </a:cubicBezTo>
                  <a:cubicBezTo>
                    <a:pt x="282" y="446"/>
                    <a:pt x="281" y="445"/>
                    <a:pt x="280" y="444"/>
                  </a:cubicBezTo>
                  <a:cubicBezTo>
                    <a:pt x="276" y="440"/>
                    <a:pt x="272" y="436"/>
                    <a:pt x="268" y="432"/>
                  </a:cubicBezTo>
                  <a:cubicBezTo>
                    <a:pt x="266" y="431"/>
                    <a:pt x="265" y="430"/>
                    <a:pt x="264" y="429"/>
                  </a:cubicBezTo>
                  <a:cubicBezTo>
                    <a:pt x="262" y="428"/>
                    <a:pt x="260" y="426"/>
                    <a:pt x="258" y="424"/>
                  </a:cubicBezTo>
                  <a:cubicBezTo>
                    <a:pt x="256" y="423"/>
                    <a:pt x="254" y="421"/>
                    <a:pt x="252" y="419"/>
                  </a:cubicBezTo>
                  <a:cubicBezTo>
                    <a:pt x="249" y="417"/>
                    <a:pt x="247" y="416"/>
                    <a:pt x="245" y="414"/>
                  </a:cubicBezTo>
                  <a:cubicBezTo>
                    <a:pt x="244" y="413"/>
                    <a:pt x="242" y="412"/>
                    <a:pt x="241" y="410"/>
                  </a:cubicBezTo>
                  <a:cubicBezTo>
                    <a:pt x="208" y="384"/>
                    <a:pt x="168" y="355"/>
                    <a:pt x="129" y="329"/>
                  </a:cubicBezTo>
                  <a:cubicBezTo>
                    <a:pt x="129" y="329"/>
                    <a:pt x="129" y="329"/>
                    <a:pt x="129" y="329"/>
                  </a:cubicBezTo>
                  <a:cubicBezTo>
                    <a:pt x="125" y="326"/>
                    <a:pt x="121" y="323"/>
                    <a:pt x="117" y="320"/>
                  </a:cubicBezTo>
                  <a:cubicBezTo>
                    <a:pt x="113" y="318"/>
                    <a:pt x="110" y="315"/>
                    <a:pt x="106" y="313"/>
                  </a:cubicBezTo>
                  <a:cubicBezTo>
                    <a:pt x="104" y="311"/>
                    <a:pt x="101" y="309"/>
                    <a:pt x="99" y="308"/>
                  </a:cubicBezTo>
                  <a:cubicBezTo>
                    <a:pt x="88" y="300"/>
                    <a:pt x="78" y="294"/>
                    <a:pt x="68" y="287"/>
                  </a:cubicBezTo>
                  <a:cubicBezTo>
                    <a:pt x="29" y="261"/>
                    <a:pt x="0" y="243"/>
                    <a:pt x="0" y="243"/>
                  </a:cubicBezTo>
                  <a:cubicBezTo>
                    <a:pt x="0" y="243"/>
                    <a:pt x="7" y="230"/>
                    <a:pt x="33" y="221"/>
                  </a:cubicBezTo>
                  <a:cubicBezTo>
                    <a:pt x="43" y="217"/>
                    <a:pt x="55" y="215"/>
                    <a:pt x="71" y="213"/>
                  </a:cubicBezTo>
                  <a:cubicBezTo>
                    <a:pt x="73" y="213"/>
                    <a:pt x="73" y="213"/>
                    <a:pt x="73" y="213"/>
                  </a:cubicBezTo>
                  <a:cubicBezTo>
                    <a:pt x="74" y="213"/>
                    <a:pt x="74" y="213"/>
                    <a:pt x="75" y="213"/>
                  </a:cubicBezTo>
                  <a:cubicBezTo>
                    <a:pt x="77" y="213"/>
                    <a:pt x="78" y="213"/>
                    <a:pt x="79" y="213"/>
                  </a:cubicBezTo>
                  <a:cubicBezTo>
                    <a:pt x="81" y="213"/>
                    <a:pt x="82" y="213"/>
                    <a:pt x="84" y="214"/>
                  </a:cubicBezTo>
                  <a:cubicBezTo>
                    <a:pt x="85" y="214"/>
                    <a:pt x="86" y="214"/>
                    <a:pt x="87" y="214"/>
                  </a:cubicBezTo>
                  <a:cubicBezTo>
                    <a:pt x="95" y="216"/>
                    <a:pt x="103" y="218"/>
                    <a:pt x="113" y="221"/>
                  </a:cubicBezTo>
                  <a:cubicBezTo>
                    <a:pt x="115" y="222"/>
                    <a:pt x="117" y="223"/>
                    <a:pt x="119" y="224"/>
                  </a:cubicBezTo>
                  <a:cubicBezTo>
                    <a:pt x="120" y="224"/>
                    <a:pt x="121" y="225"/>
                    <a:pt x="123" y="225"/>
                  </a:cubicBezTo>
                  <a:cubicBezTo>
                    <a:pt x="124" y="226"/>
                    <a:pt x="126" y="227"/>
                    <a:pt x="128" y="227"/>
                  </a:cubicBezTo>
                  <a:cubicBezTo>
                    <a:pt x="130" y="228"/>
                    <a:pt x="132" y="229"/>
                    <a:pt x="133" y="230"/>
                  </a:cubicBezTo>
                  <a:cubicBezTo>
                    <a:pt x="134" y="230"/>
                    <a:pt x="135" y="230"/>
                    <a:pt x="135" y="230"/>
                  </a:cubicBezTo>
                  <a:cubicBezTo>
                    <a:pt x="135" y="230"/>
                    <a:pt x="135" y="230"/>
                    <a:pt x="135" y="230"/>
                  </a:cubicBezTo>
                  <a:cubicBezTo>
                    <a:pt x="140" y="232"/>
                    <a:pt x="146" y="235"/>
                    <a:pt x="151" y="237"/>
                  </a:cubicBezTo>
                  <a:cubicBezTo>
                    <a:pt x="153" y="238"/>
                    <a:pt x="154" y="239"/>
                    <a:pt x="156" y="239"/>
                  </a:cubicBezTo>
                  <a:cubicBezTo>
                    <a:pt x="157" y="240"/>
                    <a:pt x="157" y="240"/>
                    <a:pt x="158" y="240"/>
                  </a:cubicBezTo>
                  <a:cubicBezTo>
                    <a:pt x="170" y="245"/>
                    <a:pt x="182" y="251"/>
                    <a:pt x="195" y="256"/>
                  </a:cubicBezTo>
                  <a:cubicBezTo>
                    <a:pt x="195" y="256"/>
                    <a:pt x="196" y="257"/>
                    <a:pt x="197" y="257"/>
                  </a:cubicBezTo>
                  <a:cubicBezTo>
                    <a:pt x="211" y="263"/>
                    <a:pt x="226" y="268"/>
                    <a:pt x="241" y="273"/>
                  </a:cubicBezTo>
                  <a:cubicBezTo>
                    <a:pt x="293" y="290"/>
                    <a:pt x="368" y="304"/>
                    <a:pt x="412" y="273"/>
                  </a:cubicBezTo>
                  <a:cubicBezTo>
                    <a:pt x="438" y="255"/>
                    <a:pt x="458" y="224"/>
                    <a:pt x="461" y="198"/>
                  </a:cubicBezTo>
                  <a:cubicBezTo>
                    <a:pt x="461" y="195"/>
                    <a:pt x="461" y="192"/>
                    <a:pt x="461" y="189"/>
                  </a:cubicBezTo>
                  <a:cubicBezTo>
                    <a:pt x="461" y="188"/>
                    <a:pt x="461" y="188"/>
                    <a:pt x="461" y="187"/>
                  </a:cubicBezTo>
                  <a:cubicBezTo>
                    <a:pt x="461" y="186"/>
                    <a:pt x="461" y="186"/>
                    <a:pt x="460" y="185"/>
                  </a:cubicBezTo>
                  <a:cubicBezTo>
                    <a:pt x="460" y="184"/>
                    <a:pt x="460" y="184"/>
                    <a:pt x="460" y="183"/>
                  </a:cubicBezTo>
                  <a:cubicBezTo>
                    <a:pt x="460" y="182"/>
                    <a:pt x="460" y="182"/>
                    <a:pt x="460" y="181"/>
                  </a:cubicBezTo>
                  <a:cubicBezTo>
                    <a:pt x="459" y="181"/>
                    <a:pt x="459" y="180"/>
                    <a:pt x="459" y="180"/>
                  </a:cubicBezTo>
                  <a:cubicBezTo>
                    <a:pt x="459" y="179"/>
                    <a:pt x="458" y="177"/>
                    <a:pt x="457" y="176"/>
                  </a:cubicBezTo>
                  <a:cubicBezTo>
                    <a:pt x="457" y="175"/>
                    <a:pt x="457" y="175"/>
                    <a:pt x="456" y="174"/>
                  </a:cubicBezTo>
                  <a:cubicBezTo>
                    <a:pt x="456" y="174"/>
                    <a:pt x="456" y="173"/>
                    <a:pt x="455" y="172"/>
                  </a:cubicBezTo>
                  <a:cubicBezTo>
                    <a:pt x="455" y="172"/>
                    <a:pt x="454" y="171"/>
                    <a:pt x="453" y="170"/>
                  </a:cubicBezTo>
                  <a:cubicBezTo>
                    <a:pt x="453" y="169"/>
                    <a:pt x="452" y="169"/>
                    <a:pt x="451" y="168"/>
                  </a:cubicBezTo>
                  <a:cubicBezTo>
                    <a:pt x="451" y="168"/>
                    <a:pt x="450" y="167"/>
                    <a:pt x="450" y="167"/>
                  </a:cubicBezTo>
                  <a:cubicBezTo>
                    <a:pt x="448" y="166"/>
                    <a:pt x="446" y="165"/>
                    <a:pt x="444" y="164"/>
                  </a:cubicBezTo>
                  <a:cubicBezTo>
                    <a:pt x="443" y="163"/>
                    <a:pt x="442" y="163"/>
                    <a:pt x="441" y="162"/>
                  </a:cubicBezTo>
                  <a:cubicBezTo>
                    <a:pt x="436" y="161"/>
                    <a:pt x="430" y="160"/>
                    <a:pt x="423" y="160"/>
                  </a:cubicBezTo>
                  <a:cubicBezTo>
                    <a:pt x="375" y="160"/>
                    <a:pt x="287" y="192"/>
                    <a:pt x="253" y="190"/>
                  </a:cubicBezTo>
                  <a:cubicBezTo>
                    <a:pt x="281" y="158"/>
                    <a:pt x="281" y="158"/>
                    <a:pt x="281" y="158"/>
                  </a:cubicBezTo>
                  <a:cubicBezTo>
                    <a:pt x="303" y="132"/>
                    <a:pt x="303" y="132"/>
                    <a:pt x="303" y="132"/>
                  </a:cubicBezTo>
                  <a:cubicBezTo>
                    <a:pt x="347" y="79"/>
                    <a:pt x="347" y="79"/>
                    <a:pt x="347" y="79"/>
                  </a:cubicBezTo>
                  <a:cubicBezTo>
                    <a:pt x="360" y="63"/>
                    <a:pt x="360" y="63"/>
                    <a:pt x="360" y="63"/>
                  </a:cubicBezTo>
                  <a:cubicBezTo>
                    <a:pt x="380" y="57"/>
                    <a:pt x="400" y="51"/>
                    <a:pt x="420" y="45"/>
                  </a:cubicBezTo>
                  <a:cubicBezTo>
                    <a:pt x="420" y="45"/>
                    <a:pt x="420" y="45"/>
                    <a:pt x="420" y="45"/>
                  </a:cubicBezTo>
                  <a:cubicBezTo>
                    <a:pt x="480" y="25"/>
                    <a:pt x="533" y="7"/>
                    <a:pt x="548" y="2"/>
                  </a:cubicBezTo>
                  <a:cubicBezTo>
                    <a:pt x="550" y="1"/>
                    <a:pt x="552" y="0"/>
                    <a:pt x="552" y="0"/>
                  </a:cubicBezTo>
                  <a:cubicBezTo>
                    <a:pt x="552" y="0"/>
                    <a:pt x="564" y="8"/>
                    <a:pt x="584" y="24"/>
                  </a:cubicBezTo>
                  <a:cubicBezTo>
                    <a:pt x="631" y="62"/>
                    <a:pt x="721" y="143"/>
                    <a:pt x="801" y="268"/>
                  </a:cubicBezTo>
                  <a:cubicBezTo>
                    <a:pt x="840" y="330"/>
                    <a:pt x="877" y="402"/>
                    <a:pt x="905" y="485"/>
                  </a:cubicBezTo>
                  <a:cubicBezTo>
                    <a:pt x="905" y="485"/>
                    <a:pt x="905" y="485"/>
                    <a:pt x="905" y="485"/>
                  </a:cubicBezTo>
                  <a:cubicBezTo>
                    <a:pt x="910" y="498"/>
                    <a:pt x="914" y="512"/>
                    <a:pt x="918" y="526"/>
                  </a:cubicBezTo>
                  <a:cubicBezTo>
                    <a:pt x="918" y="526"/>
                    <a:pt x="934" y="547"/>
                    <a:pt x="960" y="582"/>
                  </a:cubicBezTo>
                  <a:cubicBezTo>
                    <a:pt x="1041" y="691"/>
                    <a:pt x="1224" y="945"/>
                    <a:pt x="1360" y="1194"/>
                  </a:cubicBezTo>
                  <a:close/>
                </a:path>
              </a:pathLst>
            </a:custGeom>
            <a:gradFill>
              <a:gsLst>
                <a:gs pos="0">
                  <a:srgbClr val="E5C3FF"/>
                </a:gs>
                <a:gs pos="65000">
                  <a:srgbClr val="B0C7FF"/>
                </a:gs>
              </a:gsLst>
              <a:lin ang="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32">
              <a:extLst>
                <a:ext uri="{FF2B5EF4-FFF2-40B4-BE49-F238E27FC236}">
                  <a16:creationId xmlns:a16="http://schemas.microsoft.com/office/drawing/2014/main" id="{742FC6CF-44F1-407F-BEB2-8F383DCEC064}"/>
                </a:ext>
              </a:extLst>
            </p:cNvPr>
            <p:cNvSpPr>
              <a:spLocks/>
            </p:cNvSpPr>
            <p:nvPr/>
          </p:nvSpPr>
          <p:spPr bwMode="auto">
            <a:xfrm>
              <a:off x="7721066" y="1559272"/>
              <a:ext cx="2833086" cy="2015954"/>
            </a:xfrm>
            <a:custGeom>
              <a:avLst/>
              <a:gdLst>
                <a:gd name="T0" fmla="*/ 723 w 841"/>
                <a:gd name="T1" fmla="*/ 599 h 599"/>
                <a:gd name="T2" fmla="*/ 720 w 841"/>
                <a:gd name="T3" fmla="*/ 589 h 599"/>
                <a:gd name="T4" fmla="*/ 717 w 841"/>
                <a:gd name="T5" fmla="*/ 581 h 599"/>
                <a:gd name="T6" fmla="*/ 704 w 841"/>
                <a:gd name="T7" fmla="*/ 552 h 599"/>
                <a:gd name="T8" fmla="*/ 696 w 841"/>
                <a:gd name="T9" fmla="*/ 542 h 599"/>
                <a:gd name="T10" fmla="*/ 689 w 841"/>
                <a:gd name="T11" fmla="*/ 536 h 599"/>
                <a:gd name="T12" fmla="*/ 685 w 841"/>
                <a:gd name="T13" fmla="*/ 533 h 599"/>
                <a:gd name="T14" fmla="*/ 666 w 841"/>
                <a:gd name="T15" fmla="*/ 524 h 599"/>
                <a:gd name="T16" fmla="*/ 661 w 841"/>
                <a:gd name="T17" fmla="*/ 522 h 599"/>
                <a:gd name="T18" fmla="*/ 634 w 841"/>
                <a:gd name="T19" fmla="*/ 516 h 599"/>
                <a:gd name="T20" fmla="*/ 604 w 841"/>
                <a:gd name="T21" fmla="*/ 511 h 599"/>
                <a:gd name="T22" fmla="*/ 579 w 841"/>
                <a:gd name="T23" fmla="*/ 507 h 599"/>
                <a:gd name="T24" fmla="*/ 564 w 841"/>
                <a:gd name="T25" fmla="*/ 504 h 599"/>
                <a:gd name="T26" fmla="*/ 521 w 841"/>
                <a:gd name="T27" fmla="*/ 497 h 599"/>
                <a:gd name="T28" fmla="*/ 462 w 841"/>
                <a:gd name="T29" fmla="*/ 487 h 599"/>
                <a:gd name="T30" fmla="*/ 436 w 841"/>
                <a:gd name="T31" fmla="*/ 481 h 599"/>
                <a:gd name="T32" fmla="*/ 414 w 841"/>
                <a:gd name="T33" fmla="*/ 477 h 599"/>
                <a:gd name="T34" fmla="*/ 388 w 841"/>
                <a:gd name="T35" fmla="*/ 471 h 599"/>
                <a:gd name="T36" fmla="*/ 369 w 841"/>
                <a:gd name="T37" fmla="*/ 465 h 599"/>
                <a:gd name="T38" fmla="*/ 349 w 841"/>
                <a:gd name="T39" fmla="*/ 460 h 599"/>
                <a:gd name="T40" fmla="*/ 334 w 841"/>
                <a:gd name="T41" fmla="*/ 455 h 599"/>
                <a:gd name="T42" fmla="*/ 322 w 841"/>
                <a:gd name="T43" fmla="*/ 450 h 599"/>
                <a:gd name="T44" fmla="*/ 299 w 841"/>
                <a:gd name="T45" fmla="*/ 441 h 599"/>
                <a:gd name="T46" fmla="*/ 257 w 841"/>
                <a:gd name="T47" fmla="*/ 417 h 599"/>
                <a:gd name="T48" fmla="*/ 247 w 841"/>
                <a:gd name="T49" fmla="*/ 409 h 599"/>
                <a:gd name="T50" fmla="*/ 231 w 841"/>
                <a:gd name="T51" fmla="*/ 394 h 599"/>
                <a:gd name="T52" fmla="*/ 219 w 841"/>
                <a:gd name="T53" fmla="*/ 384 h 599"/>
                <a:gd name="T54" fmla="*/ 208 w 841"/>
                <a:gd name="T55" fmla="*/ 375 h 599"/>
                <a:gd name="T56" fmla="*/ 96 w 841"/>
                <a:gd name="T57" fmla="*/ 294 h 599"/>
                <a:gd name="T58" fmla="*/ 73 w 841"/>
                <a:gd name="T59" fmla="*/ 278 h 599"/>
                <a:gd name="T60" fmla="*/ 52 w 841"/>
                <a:gd name="T61" fmla="*/ 231 h 599"/>
                <a:gd name="T62" fmla="*/ 38 w 841"/>
                <a:gd name="T63" fmla="*/ 178 h 599"/>
                <a:gd name="T64" fmla="*/ 42 w 841"/>
                <a:gd name="T65" fmla="*/ 178 h 599"/>
                <a:gd name="T66" fmla="*/ 51 w 841"/>
                <a:gd name="T67" fmla="*/ 179 h 599"/>
                <a:gd name="T68" fmla="*/ 80 w 841"/>
                <a:gd name="T69" fmla="*/ 186 h 599"/>
                <a:gd name="T70" fmla="*/ 90 w 841"/>
                <a:gd name="T71" fmla="*/ 190 h 599"/>
                <a:gd name="T72" fmla="*/ 100 w 841"/>
                <a:gd name="T73" fmla="*/ 195 h 599"/>
                <a:gd name="T74" fmla="*/ 102 w 841"/>
                <a:gd name="T75" fmla="*/ 195 h 599"/>
                <a:gd name="T76" fmla="*/ 154 w 841"/>
                <a:gd name="T77" fmla="*/ 229 h 599"/>
                <a:gd name="T78" fmla="*/ 428 w 841"/>
                <a:gd name="T79" fmla="*/ 189 h 599"/>
                <a:gd name="T80" fmla="*/ 428 w 841"/>
                <a:gd name="T81" fmla="*/ 163 h 599"/>
                <a:gd name="T82" fmla="*/ 428 w 841"/>
                <a:gd name="T83" fmla="*/ 152 h 599"/>
                <a:gd name="T84" fmla="*/ 427 w 841"/>
                <a:gd name="T85" fmla="*/ 148 h 599"/>
                <a:gd name="T86" fmla="*/ 426 w 841"/>
                <a:gd name="T87" fmla="*/ 145 h 599"/>
                <a:gd name="T88" fmla="*/ 423 w 841"/>
                <a:gd name="T89" fmla="*/ 139 h 599"/>
                <a:gd name="T90" fmla="*/ 420 w 841"/>
                <a:gd name="T91" fmla="*/ 135 h 599"/>
                <a:gd name="T92" fmla="*/ 417 w 841"/>
                <a:gd name="T93" fmla="*/ 132 h 599"/>
                <a:gd name="T94" fmla="*/ 408 w 841"/>
                <a:gd name="T95" fmla="*/ 127 h 599"/>
                <a:gd name="T96" fmla="*/ 220 w 841"/>
                <a:gd name="T97" fmla="*/ 155 h 599"/>
                <a:gd name="T98" fmla="*/ 270 w 841"/>
                <a:gd name="T99" fmla="*/ 97 h 599"/>
                <a:gd name="T100" fmla="*/ 594 w 841"/>
                <a:gd name="T101" fmla="*/ 148 h 599"/>
                <a:gd name="T102" fmla="*/ 832 w 841"/>
                <a:gd name="T103" fmla="*/ 544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1" h="599">
                  <a:moveTo>
                    <a:pt x="832" y="544"/>
                  </a:moveTo>
                  <a:cubicBezTo>
                    <a:pt x="827" y="548"/>
                    <a:pt x="784" y="581"/>
                    <a:pt x="723" y="599"/>
                  </a:cubicBezTo>
                  <a:cubicBezTo>
                    <a:pt x="722" y="597"/>
                    <a:pt x="721" y="595"/>
                    <a:pt x="721" y="593"/>
                  </a:cubicBezTo>
                  <a:cubicBezTo>
                    <a:pt x="721" y="592"/>
                    <a:pt x="720" y="590"/>
                    <a:pt x="720" y="589"/>
                  </a:cubicBezTo>
                  <a:cubicBezTo>
                    <a:pt x="719" y="587"/>
                    <a:pt x="719" y="585"/>
                    <a:pt x="718" y="583"/>
                  </a:cubicBezTo>
                  <a:cubicBezTo>
                    <a:pt x="718" y="583"/>
                    <a:pt x="718" y="582"/>
                    <a:pt x="717" y="581"/>
                  </a:cubicBezTo>
                  <a:cubicBezTo>
                    <a:pt x="714" y="570"/>
                    <a:pt x="710" y="561"/>
                    <a:pt x="705" y="554"/>
                  </a:cubicBezTo>
                  <a:cubicBezTo>
                    <a:pt x="704" y="553"/>
                    <a:pt x="704" y="553"/>
                    <a:pt x="704" y="552"/>
                  </a:cubicBezTo>
                  <a:cubicBezTo>
                    <a:pt x="702" y="549"/>
                    <a:pt x="699" y="546"/>
                    <a:pt x="697" y="544"/>
                  </a:cubicBezTo>
                  <a:cubicBezTo>
                    <a:pt x="697" y="543"/>
                    <a:pt x="696" y="543"/>
                    <a:pt x="696" y="542"/>
                  </a:cubicBezTo>
                  <a:cubicBezTo>
                    <a:pt x="694" y="541"/>
                    <a:pt x="692" y="539"/>
                    <a:pt x="690" y="537"/>
                  </a:cubicBezTo>
                  <a:cubicBezTo>
                    <a:pt x="690" y="537"/>
                    <a:pt x="690" y="536"/>
                    <a:pt x="689" y="536"/>
                  </a:cubicBezTo>
                  <a:cubicBezTo>
                    <a:pt x="689" y="536"/>
                    <a:pt x="689" y="536"/>
                    <a:pt x="688" y="536"/>
                  </a:cubicBezTo>
                  <a:cubicBezTo>
                    <a:pt x="687" y="535"/>
                    <a:pt x="686" y="534"/>
                    <a:pt x="685" y="533"/>
                  </a:cubicBezTo>
                  <a:cubicBezTo>
                    <a:pt x="682" y="531"/>
                    <a:pt x="679" y="529"/>
                    <a:pt x="676" y="528"/>
                  </a:cubicBezTo>
                  <a:cubicBezTo>
                    <a:pt x="672" y="526"/>
                    <a:pt x="669" y="525"/>
                    <a:pt x="666" y="524"/>
                  </a:cubicBezTo>
                  <a:cubicBezTo>
                    <a:pt x="665" y="524"/>
                    <a:pt x="664" y="523"/>
                    <a:pt x="663" y="523"/>
                  </a:cubicBezTo>
                  <a:cubicBezTo>
                    <a:pt x="663" y="523"/>
                    <a:pt x="662" y="523"/>
                    <a:pt x="661" y="522"/>
                  </a:cubicBezTo>
                  <a:cubicBezTo>
                    <a:pt x="659" y="522"/>
                    <a:pt x="657" y="521"/>
                    <a:pt x="655" y="521"/>
                  </a:cubicBezTo>
                  <a:cubicBezTo>
                    <a:pt x="648" y="519"/>
                    <a:pt x="641" y="518"/>
                    <a:pt x="634" y="516"/>
                  </a:cubicBezTo>
                  <a:cubicBezTo>
                    <a:pt x="632" y="516"/>
                    <a:pt x="630" y="516"/>
                    <a:pt x="628" y="515"/>
                  </a:cubicBezTo>
                  <a:cubicBezTo>
                    <a:pt x="620" y="514"/>
                    <a:pt x="612" y="512"/>
                    <a:pt x="604" y="511"/>
                  </a:cubicBezTo>
                  <a:cubicBezTo>
                    <a:pt x="599" y="510"/>
                    <a:pt x="595" y="510"/>
                    <a:pt x="591" y="509"/>
                  </a:cubicBezTo>
                  <a:cubicBezTo>
                    <a:pt x="587" y="508"/>
                    <a:pt x="583" y="508"/>
                    <a:pt x="579" y="507"/>
                  </a:cubicBezTo>
                  <a:cubicBezTo>
                    <a:pt x="578" y="507"/>
                    <a:pt x="578" y="507"/>
                    <a:pt x="577" y="506"/>
                  </a:cubicBezTo>
                  <a:cubicBezTo>
                    <a:pt x="572" y="506"/>
                    <a:pt x="568" y="505"/>
                    <a:pt x="564" y="504"/>
                  </a:cubicBezTo>
                  <a:cubicBezTo>
                    <a:pt x="557" y="503"/>
                    <a:pt x="550" y="502"/>
                    <a:pt x="543" y="501"/>
                  </a:cubicBezTo>
                  <a:cubicBezTo>
                    <a:pt x="536" y="500"/>
                    <a:pt x="529" y="499"/>
                    <a:pt x="521" y="497"/>
                  </a:cubicBezTo>
                  <a:cubicBezTo>
                    <a:pt x="506" y="495"/>
                    <a:pt x="490" y="492"/>
                    <a:pt x="475" y="489"/>
                  </a:cubicBezTo>
                  <a:cubicBezTo>
                    <a:pt x="471" y="488"/>
                    <a:pt x="466" y="488"/>
                    <a:pt x="462" y="487"/>
                  </a:cubicBezTo>
                  <a:cubicBezTo>
                    <a:pt x="460" y="486"/>
                    <a:pt x="457" y="486"/>
                    <a:pt x="455" y="485"/>
                  </a:cubicBezTo>
                  <a:cubicBezTo>
                    <a:pt x="448" y="484"/>
                    <a:pt x="442" y="483"/>
                    <a:pt x="436" y="481"/>
                  </a:cubicBezTo>
                  <a:cubicBezTo>
                    <a:pt x="431" y="480"/>
                    <a:pt x="426" y="479"/>
                    <a:pt x="421" y="478"/>
                  </a:cubicBezTo>
                  <a:cubicBezTo>
                    <a:pt x="419" y="478"/>
                    <a:pt x="416" y="477"/>
                    <a:pt x="414" y="477"/>
                  </a:cubicBezTo>
                  <a:cubicBezTo>
                    <a:pt x="406" y="475"/>
                    <a:pt x="399" y="473"/>
                    <a:pt x="392" y="472"/>
                  </a:cubicBezTo>
                  <a:cubicBezTo>
                    <a:pt x="391" y="471"/>
                    <a:pt x="389" y="471"/>
                    <a:pt x="388" y="471"/>
                  </a:cubicBezTo>
                  <a:cubicBezTo>
                    <a:pt x="385" y="470"/>
                    <a:pt x="381" y="469"/>
                    <a:pt x="378" y="468"/>
                  </a:cubicBezTo>
                  <a:cubicBezTo>
                    <a:pt x="375" y="467"/>
                    <a:pt x="372" y="466"/>
                    <a:pt x="369" y="465"/>
                  </a:cubicBezTo>
                  <a:cubicBezTo>
                    <a:pt x="366" y="465"/>
                    <a:pt x="363" y="464"/>
                    <a:pt x="360" y="463"/>
                  </a:cubicBezTo>
                  <a:cubicBezTo>
                    <a:pt x="356" y="462"/>
                    <a:pt x="353" y="461"/>
                    <a:pt x="349" y="460"/>
                  </a:cubicBezTo>
                  <a:cubicBezTo>
                    <a:pt x="347" y="459"/>
                    <a:pt x="344" y="458"/>
                    <a:pt x="341" y="457"/>
                  </a:cubicBezTo>
                  <a:cubicBezTo>
                    <a:pt x="339" y="456"/>
                    <a:pt x="337" y="456"/>
                    <a:pt x="334" y="455"/>
                  </a:cubicBezTo>
                  <a:cubicBezTo>
                    <a:pt x="332" y="454"/>
                    <a:pt x="330" y="453"/>
                    <a:pt x="328" y="453"/>
                  </a:cubicBezTo>
                  <a:cubicBezTo>
                    <a:pt x="326" y="452"/>
                    <a:pt x="324" y="451"/>
                    <a:pt x="322" y="450"/>
                  </a:cubicBezTo>
                  <a:cubicBezTo>
                    <a:pt x="316" y="448"/>
                    <a:pt x="310" y="446"/>
                    <a:pt x="304" y="443"/>
                  </a:cubicBezTo>
                  <a:cubicBezTo>
                    <a:pt x="302" y="442"/>
                    <a:pt x="301" y="442"/>
                    <a:pt x="299" y="441"/>
                  </a:cubicBezTo>
                  <a:cubicBezTo>
                    <a:pt x="284" y="434"/>
                    <a:pt x="271" y="427"/>
                    <a:pt x="259" y="418"/>
                  </a:cubicBezTo>
                  <a:cubicBezTo>
                    <a:pt x="259" y="418"/>
                    <a:pt x="258" y="418"/>
                    <a:pt x="257" y="417"/>
                  </a:cubicBezTo>
                  <a:cubicBezTo>
                    <a:pt x="255" y="415"/>
                    <a:pt x="253" y="414"/>
                    <a:pt x="251" y="412"/>
                  </a:cubicBezTo>
                  <a:cubicBezTo>
                    <a:pt x="249" y="411"/>
                    <a:pt x="248" y="410"/>
                    <a:pt x="247" y="409"/>
                  </a:cubicBezTo>
                  <a:cubicBezTo>
                    <a:pt x="243" y="405"/>
                    <a:pt x="239" y="401"/>
                    <a:pt x="235" y="397"/>
                  </a:cubicBezTo>
                  <a:cubicBezTo>
                    <a:pt x="233" y="396"/>
                    <a:pt x="232" y="395"/>
                    <a:pt x="231" y="394"/>
                  </a:cubicBezTo>
                  <a:cubicBezTo>
                    <a:pt x="229" y="393"/>
                    <a:pt x="227" y="391"/>
                    <a:pt x="225" y="389"/>
                  </a:cubicBezTo>
                  <a:cubicBezTo>
                    <a:pt x="223" y="388"/>
                    <a:pt x="221" y="386"/>
                    <a:pt x="219" y="384"/>
                  </a:cubicBezTo>
                  <a:cubicBezTo>
                    <a:pt x="216" y="382"/>
                    <a:pt x="214" y="381"/>
                    <a:pt x="212" y="379"/>
                  </a:cubicBezTo>
                  <a:cubicBezTo>
                    <a:pt x="211" y="378"/>
                    <a:pt x="209" y="377"/>
                    <a:pt x="208" y="375"/>
                  </a:cubicBezTo>
                  <a:cubicBezTo>
                    <a:pt x="175" y="349"/>
                    <a:pt x="135" y="320"/>
                    <a:pt x="96" y="294"/>
                  </a:cubicBezTo>
                  <a:cubicBezTo>
                    <a:pt x="96" y="294"/>
                    <a:pt x="96" y="294"/>
                    <a:pt x="96" y="294"/>
                  </a:cubicBezTo>
                  <a:cubicBezTo>
                    <a:pt x="92" y="291"/>
                    <a:pt x="88" y="288"/>
                    <a:pt x="84" y="285"/>
                  </a:cubicBezTo>
                  <a:cubicBezTo>
                    <a:pt x="80" y="283"/>
                    <a:pt x="77" y="280"/>
                    <a:pt x="73" y="278"/>
                  </a:cubicBezTo>
                  <a:cubicBezTo>
                    <a:pt x="71" y="276"/>
                    <a:pt x="68" y="274"/>
                    <a:pt x="66" y="273"/>
                  </a:cubicBezTo>
                  <a:cubicBezTo>
                    <a:pt x="65" y="256"/>
                    <a:pt x="60" y="242"/>
                    <a:pt x="52" y="231"/>
                  </a:cubicBezTo>
                  <a:cubicBezTo>
                    <a:pt x="38" y="211"/>
                    <a:pt x="16" y="198"/>
                    <a:pt x="0" y="186"/>
                  </a:cubicBezTo>
                  <a:cubicBezTo>
                    <a:pt x="10" y="182"/>
                    <a:pt x="22" y="180"/>
                    <a:pt x="38" y="178"/>
                  </a:cubicBezTo>
                  <a:cubicBezTo>
                    <a:pt x="40" y="178"/>
                    <a:pt x="40" y="178"/>
                    <a:pt x="40" y="178"/>
                  </a:cubicBezTo>
                  <a:cubicBezTo>
                    <a:pt x="41" y="178"/>
                    <a:pt x="41" y="178"/>
                    <a:pt x="42" y="178"/>
                  </a:cubicBezTo>
                  <a:cubicBezTo>
                    <a:pt x="44" y="178"/>
                    <a:pt x="45" y="178"/>
                    <a:pt x="46" y="178"/>
                  </a:cubicBezTo>
                  <a:cubicBezTo>
                    <a:pt x="48" y="178"/>
                    <a:pt x="49" y="178"/>
                    <a:pt x="51" y="179"/>
                  </a:cubicBezTo>
                  <a:cubicBezTo>
                    <a:pt x="52" y="179"/>
                    <a:pt x="53" y="179"/>
                    <a:pt x="54" y="179"/>
                  </a:cubicBezTo>
                  <a:cubicBezTo>
                    <a:pt x="62" y="181"/>
                    <a:pt x="70" y="183"/>
                    <a:pt x="80" y="186"/>
                  </a:cubicBezTo>
                  <a:cubicBezTo>
                    <a:pt x="82" y="187"/>
                    <a:pt x="84" y="188"/>
                    <a:pt x="86" y="189"/>
                  </a:cubicBezTo>
                  <a:cubicBezTo>
                    <a:pt x="87" y="189"/>
                    <a:pt x="88" y="190"/>
                    <a:pt x="90" y="190"/>
                  </a:cubicBezTo>
                  <a:cubicBezTo>
                    <a:pt x="91" y="191"/>
                    <a:pt x="93" y="192"/>
                    <a:pt x="95" y="192"/>
                  </a:cubicBezTo>
                  <a:cubicBezTo>
                    <a:pt x="97" y="193"/>
                    <a:pt x="99" y="194"/>
                    <a:pt x="100" y="195"/>
                  </a:cubicBezTo>
                  <a:cubicBezTo>
                    <a:pt x="101" y="195"/>
                    <a:pt x="101" y="195"/>
                    <a:pt x="102" y="195"/>
                  </a:cubicBezTo>
                  <a:cubicBezTo>
                    <a:pt x="102" y="195"/>
                    <a:pt x="102" y="195"/>
                    <a:pt x="102" y="195"/>
                  </a:cubicBezTo>
                  <a:cubicBezTo>
                    <a:pt x="102" y="195"/>
                    <a:pt x="102" y="195"/>
                    <a:pt x="102" y="195"/>
                  </a:cubicBezTo>
                  <a:cubicBezTo>
                    <a:pt x="116" y="207"/>
                    <a:pt x="134" y="218"/>
                    <a:pt x="154" y="229"/>
                  </a:cubicBezTo>
                  <a:cubicBezTo>
                    <a:pt x="251" y="280"/>
                    <a:pt x="405" y="310"/>
                    <a:pt x="428" y="196"/>
                  </a:cubicBezTo>
                  <a:cubicBezTo>
                    <a:pt x="429" y="193"/>
                    <a:pt x="429" y="191"/>
                    <a:pt x="428" y="189"/>
                  </a:cubicBezTo>
                  <a:cubicBezTo>
                    <a:pt x="430" y="180"/>
                    <a:pt x="430" y="171"/>
                    <a:pt x="428" y="163"/>
                  </a:cubicBezTo>
                  <a:cubicBezTo>
                    <a:pt x="428" y="163"/>
                    <a:pt x="428" y="163"/>
                    <a:pt x="428" y="163"/>
                  </a:cubicBezTo>
                  <a:cubicBezTo>
                    <a:pt x="428" y="160"/>
                    <a:pt x="428" y="157"/>
                    <a:pt x="428" y="154"/>
                  </a:cubicBezTo>
                  <a:cubicBezTo>
                    <a:pt x="428" y="153"/>
                    <a:pt x="428" y="153"/>
                    <a:pt x="428" y="152"/>
                  </a:cubicBezTo>
                  <a:cubicBezTo>
                    <a:pt x="428" y="151"/>
                    <a:pt x="428" y="151"/>
                    <a:pt x="427" y="150"/>
                  </a:cubicBezTo>
                  <a:cubicBezTo>
                    <a:pt x="427" y="149"/>
                    <a:pt x="427" y="149"/>
                    <a:pt x="427" y="148"/>
                  </a:cubicBezTo>
                  <a:cubicBezTo>
                    <a:pt x="427" y="147"/>
                    <a:pt x="427" y="147"/>
                    <a:pt x="427" y="146"/>
                  </a:cubicBezTo>
                  <a:cubicBezTo>
                    <a:pt x="426" y="146"/>
                    <a:pt x="426" y="145"/>
                    <a:pt x="426" y="145"/>
                  </a:cubicBezTo>
                  <a:cubicBezTo>
                    <a:pt x="426" y="144"/>
                    <a:pt x="425" y="142"/>
                    <a:pt x="424" y="141"/>
                  </a:cubicBezTo>
                  <a:cubicBezTo>
                    <a:pt x="424" y="140"/>
                    <a:pt x="424" y="140"/>
                    <a:pt x="423" y="139"/>
                  </a:cubicBezTo>
                  <a:cubicBezTo>
                    <a:pt x="423" y="139"/>
                    <a:pt x="423" y="138"/>
                    <a:pt x="422" y="137"/>
                  </a:cubicBezTo>
                  <a:cubicBezTo>
                    <a:pt x="422" y="137"/>
                    <a:pt x="421" y="136"/>
                    <a:pt x="420" y="135"/>
                  </a:cubicBezTo>
                  <a:cubicBezTo>
                    <a:pt x="420" y="134"/>
                    <a:pt x="419" y="134"/>
                    <a:pt x="418" y="133"/>
                  </a:cubicBezTo>
                  <a:cubicBezTo>
                    <a:pt x="418" y="133"/>
                    <a:pt x="417" y="132"/>
                    <a:pt x="417" y="132"/>
                  </a:cubicBezTo>
                  <a:cubicBezTo>
                    <a:pt x="415" y="131"/>
                    <a:pt x="413" y="130"/>
                    <a:pt x="411" y="129"/>
                  </a:cubicBezTo>
                  <a:cubicBezTo>
                    <a:pt x="410" y="128"/>
                    <a:pt x="409" y="128"/>
                    <a:pt x="408" y="127"/>
                  </a:cubicBezTo>
                  <a:cubicBezTo>
                    <a:pt x="403" y="126"/>
                    <a:pt x="397" y="125"/>
                    <a:pt x="390" y="125"/>
                  </a:cubicBezTo>
                  <a:cubicBezTo>
                    <a:pt x="342" y="125"/>
                    <a:pt x="254" y="157"/>
                    <a:pt x="220" y="155"/>
                  </a:cubicBezTo>
                  <a:cubicBezTo>
                    <a:pt x="248" y="123"/>
                    <a:pt x="248" y="123"/>
                    <a:pt x="248" y="123"/>
                  </a:cubicBezTo>
                  <a:cubicBezTo>
                    <a:pt x="270" y="97"/>
                    <a:pt x="270" y="97"/>
                    <a:pt x="270" y="97"/>
                  </a:cubicBezTo>
                  <a:cubicBezTo>
                    <a:pt x="333" y="79"/>
                    <a:pt x="410" y="61"/>
                    <a:pt x="464" y="53"/>
                  </a:cubicBezTo>
                  <a:cubicBezTo>
                    <a:pt x="541" y="42"/>
                    <a:pt x="566" y="0"/>
                    <a:pt x="594" y="148"/>
                  </a:cubicBezTo>
                  <a:cubicBezTo>
                    <a:pt x="621" y="297"/>
                    <a:pt x="682" y="329"/>
                    <a:pt x="730" y="361"/>
                  </a:cubicBezTo>
                  <a:cubicBezTo>
                    <a:pt x="779" y="394"/>
                    <a:pt x="841" y="538"/>
                    <a:pt x="832"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86469AEA-7511-41DC-A011-88DD81748329}"/>
                </a:ext>
              </a:extLst>
            </p:cNvPr>
            <p:cNvSpPr>
              <a:spLocks/>
            </p:cNvSpPr>
            <p:nvPr/>
          </p:nvSpPr>
          <p:spPr bwMode="auto">
            <a:xfrm>
              <a:off x="9860664" y="3197122"/>
              <a:ext cx="964074" cy="677360"/>
            </a:xfrm>
            <a:custGeom>
              <a:avLst/>
              <a:gdLst>
                <a:gd name="T0" fmla="*/ 462 w 538"/>
                <a:gd name="T1" fmla="*/ 0 h 378"/>
                <a:gd name="T2" fmla="*/ 0 w 538"/>
                <a:gd name="T3" fmla="*/ 245 h 378"/>
                <a:gd name="T4" fmla="*/ 0 w 538"/>
                <a:gd name="T5" fmla="*/ 378 h 378"/>
                <a:gd name="T6" fmla="*/ 538 w 538"/>
                <a:gd name="T7" fmla="*/ 100 h 378"/>
                <a:gd name="T8" fmla="*/ 462 w 538"/>
                <a:gd name="T9" fmla="*/ 0 h 378"/>
              </a:gdLst>
              <a:ahLst/>
              <a:cxnLst>
                <a:cxn ang="0">
                  <a:pos x="T0" y="T1"/>
                </a:cxn>
                <a:cxn ang="0">
                  <a:pos x="T2" y="T3"/>
                </a:cxn>
                <a:cxn ang="0">
                  <a:pos x="T4" y="T5"/>
                </a:cxn>
                <a:cxn ang="0">
                  <a:pos x="T6" y="T7"/>
                </a:cxn>
                <a:cxn ang="0">
                  <a:pos x="T8" y="T9"/>
                </a:cxn>
              </a:cxnLst>
              <a:rect l="0" t="0" r="r" b="b"/>
              <a:pathLst>
                <a:path w="538" h="378">
                  <a:moveTo>
                    <a:pt x="462" y="0"/>
                  </a:moveTo>
                  <a:lnTo>
                    <a:pt x="0" y="245"/>
                  </a:lnTo>
                  <a:lnTo>
                    <a:pt x="0" y="378"/>
                  </a:lnTo>
                  <a:lnTo>
                    <a:pt x="538" y="100"/>
                  </a:lnTo>
                  <a:lnTo>
                    <a:pt x="462"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A828F27C-2D7F-4EC9-819B-5E25949089DA}"/>
                </a:ext>
              </a:extLst>
            </p:cNvPr>
            <p:cNvSpPr>
              <a:spLocks/>
            </p:cNvSpPr>
            <p:nvPr/>
          </p:nvSpPr>
          <p:spPr bwMode="auto">
            <a:xfrm>
              <a:off x="9860664" y="3376318"/>
              <a:ext cx="2331338" cy="3436976"/>
            </a:xfrm>
            <a:custGeom>
              <a:avLst/>
              <a:gdLst>
                <a:gd name="T0" fmla="*/ 692 w 692"/>
                <a:gd name="T1" fmla="*/ 543 h 1021"/>
                <a:gd name="T2" fmla="*/ 692 w 692"/>
                <a:gd name="T3" fmla="*/ 1021 h 1021"/>
                <a:gd name="T4" fmla="*/ 529 w 692"/>
                <a:gd name="T5" fmla="*/ 922 h 1021"/>
                <a:gd name="T6" fmla="*/ 267 w 692"/>
                <a:gd name="T7" fmla="*/ 862 h 1021"/>
                <a:gd name="T8" fmla="*/ 222 w 692"/>
                <a:gd name="T9" fmla="*/ 855 h 1021"/>
                <a:gd name="T10" fmla="*/ 85 w 692"/>
                <a:gd name="T11" fmla="*/ 506 h 1021"/>
                <a:gd name="T12" fmla="*/ 0 w 692"/>
                <a:gd name="T13" fmla="*/ 148 h 1021"/>
                <a:gd name="T14" fmla="*/ 95 w 692"/>
                <a:gd name="T15" fmla="*/ 99 h 1021"/>
                <a:gd name="T16" fmla="*/ 183 w 692"/>
                <a:gd name="T17" fmla="*/ 54 h 1021"/>
                <a:gd name="T18" fmla="*/ 263 w 692"/>
                <a:gd name="T19" fmla="*/ 13 h 1021"/>
                <a:gd name="T20" fmla="*/ 286 w 692"/>
                <a:gd name="T21" fmla="*/ 0 h 1021"/>
                <a:gd name="T22" fmla="*/ 286 w 692"/>
                <a:gd name="T23" fmla="*/ 0 h 1021"/>
                <a:gd name="T24" fmla="*/ 286 w 692"/>
                <a:gd name="T25" fmla="*/ 0 h 1021"/>
                <a:gd name="T26" fmla="*/ 292 w 692"/>
                <a:gd name="T27" fmla="*/ 7 h 1021"/>
                <a:gd name="T28" fmla="*/ 692 w 692"/>
                <a:gd name="T29" fmla="*/ 543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1021">
                  <a:moveTo>
                    <a:pt x="692" y="543"/>
                  </a:moveTo>
                  <a:cubicBezTo>
                    <a:pt x="692" y="1021"/>
                    <a:pt x="692" y="1021"/>
                    <a:pt x="692" y="1021"/>
                  </a:cubicBezTo>
                  <a:cubicBezTo>
                    <a:pt x="681" y="1000"/>
                    <a:pt x="644" y="961"/>
                    <a:pt x="529" y="922"/>
                  </a:cubicBezTo>
                  <a:cubicBezTo>
                    <a:pt x="467" y="901"/>
                    <a:pt x="382" y="880"/>
                    <a:pt x="267" y="862"/>
                  </a:cubicBezTo>
                  <a:cubicBezTo>
                    <a:pt x="252" y="860"/>
                    <a:pt x="238" y="857"/>
                    <a:pt x="222" y="855"/>
                  </a:cubicBezTo>
                  <a:cubicBezTo>
                    <a:pt x="164" y="741"/>
                    <a:pt x="118" y="618"/>
                    <a:pt x="85" y="506"/>
                  </a:cubicBezTo>
                  <a:cubicBezTo>
                    <a:pt x="24" y="308"/>
                    <a:pt x="0" y="148"/>
                    <a:pt x="0" y="148"/>
                  </a:cubicBezTo>
                  <a:cubicBezTo>
                    <a:pt x="95" y="99"/>
                    <a:pt x="95" y="99"/>
                    <a:pt x="95" y="99"/>
                  </a:cubicBezTo>
                  <a:cubicBezTo>
                    <a:pt x="183" y="54"/>
                    <a:pt x="183" y="54"/>
                    <a:pt x="183" y="54"/>
                  </a:cubicBezTo>
                  <a:cubicBezTo>
                    <a:pt x="263" y="13"/>
                    <a:pt x="263" y="13"/>
                    <a:pt x="263" y="13"/>
                  </a:cubicBezTo>
                  <a:cubicBezTo>
                    <a:pt x="286" y="0"/>
                    <a:pt x="286" y="0"/>
                    <a:pt x="286" y="0"/>
                  </a:cubicBezTo>
                  <a:cubicBezTo>
                    <a:pt x="286" y="0"/>
                    <a:pt x="286" y="0"/>
                    <a:pt x="286" y="0"/>
                  </a:cubicBezTo>
                  <a:cubicBezTo>
                    <a:pt x="286" y="0"/>
                    <a:pt x="286" y="0"/>
                    <a:pt x="286" y="0"/>
                  </a:cubicBezTo>
                  <a:cubicBezTo>
                    <a:pt x="288" y="2"/>
                    <a:pt x="290" y="5"/>
                    <a:pt x="292" y="7"/>
                  </a:cubicBezTo>
                  <a:cubicBezTo>
                    <a:pt x="354" y="77"/>
                    <a:pt x="539" y="303"/>
                    <a:pt x="692" y="543"/>
                  </a:cubicBezTo>
                  <a:close/>
                </a:path>
              </a:pathLst>
            </a:custGeom>
            <a:gradFill>
              <a:gsLst>
                <a:gs pos="0">
                  <a:srgbClr val="0A2DDB"/>
                </a:gs>
                <a:gs pos="83000">
                  <a:srgbClr val="3E04A9"/>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3CEFFA90-EB51-41A6-8D88-DC1FC480C0E4}"/>
                </a:ext>
              </a:extLst>
            </p:cNvPr>
            <p:cNvSpPr>
              <a:spLocks/>
            </p:cNvSpPr>
            <p:nvPr/>
          </p:nvSpPr>
          <p:spPr bwMode="auto">
            <a:xfrm>
              <a:off x="9860664" y="3557306"/>
              <a:ext cx="1782999" cy="2922684"/>
            </a:xfrm>
            <a:custGeom>
              <a:avLst/>
              <a:gdLst>
                <a:gd name="T0" fmla="*/ 529 w 529"/>
                <a:gd name="T1" fmla="*/ 868 h 868"/>
                <a:gd name="T2" fmla="*/ 267 w 529"/>
                <a:gd name="T3" fmla="*/ 808 h 868"/>
                <a:gd name="T4" fmla="*/ 222 w 529"/>
                <a:gd name="T5" fmla="*/ 801 h 868"/>
                <a:gd name="T6" fmla="*/ 85 w 529"/>
                <a:gd name="T7" fmla="*/ 452 h 868"/>
                <a:gd name="T8" fmla="*/ 0 w 529"/>
                <a:gd name="T9" fmla="*/ 94 h 868"/>
                <a:gd name="T10" fmla="*/ 95 w 529"/>
                <a:gd name="T11" fmla="*/ 45 h 868"/>
                <a:gd name="T12" fmla="*/ 183 w 529"/>
                <a:gd name="T13" fmla="*/ 0 h 868"/>
                <a:gd name="T14" fmla="*/ 194 w 529"/>
                <a:gd name="T15" fmla="*/ 1 h 868"/>
                <a:gd name="T16" fmla="*/ 315 w 529"/>
                <a:gd name="T17" fmla="*/ 378 h 868"/>
                <a:gd name="T18" fmla="*/ 315 w 529"/>
                <a:gd name="T19" fmla="*/ 421 h 868"/>
                <a:gd name="T20" fmla="*/ 508 w 529"/>
                <a:gd name="T21" fmla="*/ 855 h 868"/>
                <a:gd name="T22" fmla="*/ 529 w 529"/>
                <a:gd name="T23" fmla="*/ 868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9" h="868">
                  <a:moveTo>
                    <a:pt x="529" y="868"/>
                  </a:moveTo>
                  <a:cubicBezTo>
                    <a:pt x="467" y="847"/>
                    <a:pt x="382" y="826"/>
                    <a:pt x="267" y="808"/>
                  </a:cubicBezTo>
                  <a:cubicBezTo>
                    <a:pt x="252" y="806"/>
                    <a:pt x="238" y="803"/>
                    <a:pt x="222" y="801"/>
                  </a:cubicBezTo>
                  <a:cubicBezTo>
                    <a:pt x="164" y="687"/>
                    <a:pt x="118" y="564"/>
                    <a:pt x="85" y="452"/>
                  </a:cubicBezTo>
                  <a:cubicBezTo>
                    <a:pt x="24" y="254"/>
                    <a:pt x="0" y="94"/>
                    <a:pt x="0" y="94"/>
                  </a:cubicBezTo>
                  <a:cubicBezTo>
                    <a:pt x="95" y="45"/>
                    <a:pt x="95" y="45"/>
                    <a:pt x="95" y="45"/>
                  </a:cubicBezTo>
                  <a:cubicBezTo>
                    <a:pt x="183" y="0"/>
                    <a:pt x="183" y="0"/>
                    <a:pt x="183" y="0"/>
                  </a:cubicBezTo>
                  <a:cubicBezTo>
                    <a:pt x="187" y="0"/>
                    <a:pt x="190" y="0"/>
                    <a:pt x="194" y="1"/>
                  </a:cubicBezTo>
                  <a:cubicBezTo>
                    <a:pt x="194" y="1"/>
                    <a:pt x="315" y="244"/>
                    <a:pt x="315" y="378"/>
                  </a:cubicBezTo>
                  <a:cubicBezTo>
                    <a:pt x="315" y="392"/>
                    <a:pt x="315" y="406"/>
                    <a:pt x="315" y="421"/>
                  </a:cubicBezTo>
                  <a:cubicBezTo>
                    <a:pt x="311" y="551"/>
                    <a:pt x="307" y="720"/>
                    <a:pt x="508" y="855"/>
                  </a:cubicBezTo>
                  <a:cubicBezTo>
                    <a:pt x="515" y="859"/>
                    <a:pt x="522" y="864"/>
                    <a:pt x="529" y="868"/>
                  </a:cubicBezTo>
                  <a:close/>
                </a:path>
              </a:pathLst>
            </a:custGeom>
            <a:gradFill>
              <a:gsLst>
                <a:gs pos="100000">
                  <a:srgbClr val="5936E0"/>
                </a:gs>
                <a:gs pos="44000">
                  <a:srgbClr val="371DBD"/>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Shape 66">
              <a:extLst>
                <a:ext uri="{FF2B5EF4-FFF2-40B4-BE49-F238E27FC236}">
                  <a16:creationId xmlns:a16="http://schemas.microsoft.com/office/drawing/2014/main" id="{2ACAA286-8EC7-477A-B799-85B6B23E638D}"/>
                </a:ext>
              </a:extLst>
            </p:cNvPr>
            <p:cNvSpPr/>
            <p:nvPr/>
          </p:nvSpPr>
          <p:spPr>
            <a:xfrm rot="20923453">
              <a:off x="6655548" y="-439156"/>
              <a:ext cx="5488008" cy="1037277"/>
            </a:xfrm>
            <a:custGeom>
              <a:avLst/>
              <a:gdLst>
                <a:gd name="connsiteX0" fmla="*/ 584535 w 5488008"/>
                <a:gd name="connsiteY0" fmla="*/ 0 h 1037277"/>
                <a:gd name="connsiteX1" fmla="*/ 5488008 w 5488008"/>
                <a:gd name="connsiteY1" fmla="*/ 977656 h 1037277"/>
                <a:gd name="connsiteX2" fmla="*/ 5476121 w 5488008"/>
                <a:gd name="connsiteY2" fmla="*/ 1037276 h 1037277"/>
                <a:gd name="connsiteX3" fmla="*/ 0 w 5488008"/>
                <a:gd name="connsiteY3" fmla="*/ 1037277 h 1037277"/>
                <a:gd name="connsiteX4" fmla="*/ 35107 w 5488008"/>
                <a:gd name="connsiteY4" fmla="*/ 912868 h 1037277"/>
                <a:gd name="connsiteX5" fmla="*/ 584535 w 5488008"/>
                <a:gd name="connsiteY5" fmla="*/ 0 h 103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8008" h="1037277">
                  <a:moveTo>
                    <a:pt x="584535" y="0"/>
                  </a:moveTo>
                  <a:lnTo>
                    <a:pt x="5488008" y="977656"/>
                  </a:lnTo>
                  <a:lnTo>
                    <a:pt x="5476121" y="1037276"/>
                  </a:lnTo>
                  <a:lnTo>
                    <a:pt x="0" y="1037277"/>
                  </a:lnTo>
                  <a:lnTo>
                    <a:pt x="35107" y="912868"/>
                  </a:lnTo>
                  <a:cubicBezTo>
                    <a:pt x="217952" y="337066"/>
                    <a:pt x="584535" y="0"/>
                    <a:pt x="584535" y="0"/>
                  </a:cubicBezTo>
                  <a:close/>
                </a:path>
              </a:pathLst>
            </a:custGeom>
            <a:gradFill>
              <a:gsLst>
                <a:gs pos="0">
                  <a:srgbClr val="7CEFD8"/>
                </a:gs>
                <a:gs pos="83000">
                  <a:srgbClr val="6672E4"/>
                </a:gs>
              </a:gsLst>
              <a:lin ang="24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sp>
        <p:nvSpPr>
          <p:cNvPr id="15" name="Title 14" hidden="1">
            <a:extLst>
              <a:ext uri="{FF2B5EF4-FFF2-40B4-BE49-F238E27FC236}">
                <a16:creationId xmlns:a16="http://schemas.microsoft.com/office/drawing/2014/main" id="{1B710331-53CB-4E4F-A9D3-D1E190EEAEE4}"/>
              </a:ext>
            </a:extLst>
          </p:cNvPr>
          <p:cNvSpPr>
            <a:spLocks noGrp="1"/>
          </p:cNvSpPr>
          <p:nvPr>
            <p:ph type="title"/>
          </p:nvPr>
        </p:nvSpPr>
        <p:spPr/>
        <p:txBody>
          <a:bodyPr/>
          <a:lstStyle/>
          <a:p>
            <a:r>
              <a:rPr lang="en-US" dirty="0"/>
              <a:t>Human resources slide 2</a:t>
            </a:r>
          </a:p>
        </p:txBody>
      </p:sp>
      <p:sp>
        <p:nvSpPr>
          <p:cNvPr id="33" name="Rectangle: Rounded Corners 5">
            <a:extLst>
              <a:ext uri="{FF2B5EF4-FFF2-40B4-BE49-F238E27FC236}">
                <a16:creationId xmlns:a16="http://schemas.microsoft.com/office/drawing/2014/main" id="{8A9418B4-DB3D-3ECC-4AD0-1516BCAAECB1}"/>
              </a:ext>
            </a:extLst>
          </p:cNvPr>
          <p:cNvSpPr/>
          <p:nvPr/>
        </p:nvSpPr>
        <p:spPr>
          <a:xfrm>
            <a:off x="514525" y="6042672"/>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01D7597C-8B8C-2B41-0689-A91B11A8B396}"/>
              </a:ext>
            </a:extLst>
          </p:cNvPr>
          <p:cNvSpPr/>
          <p:nvPr/>
        </p:nvSpPr>
        <p:spPr>
          <a:xfrm>
            <a:off x="1179913" y="5997469"/>
            <a:ext cx="3536195" cy="492443"/>
          </a:xfrm>
          <a:prstGeom prst="rect">
            <a:avLst/>
          </a:prstGeom>
        </p:spPr>
        <p:txBody>
          <a:bodyPr wrap="square" lIns="0" tIns="0" rIns="0" bIns="0" anchor="t">
            <a:spAutoFit/>
          </a:bodyPr>
          <a:lstStyle/>
          <a:p>
            <a:r>
              <a:rPr lang="en-US" sz="1600">
                <a:solidFill>
                  <a:srgbClr val="27251E"/>
                </a:solidFill>
                <a:ea typeface="+mn-lt"/>
                <a:cs typeface="+mn-lt"/>
              </a:rPr>
              <a:t>Main goal: explain housing prices using a multivariable approach.</a:t>
            </a:r>
            <a:endParaRPr lang="en-US" sz="1600"/>
          </a:p>
        </p:txBody>
      </p:sp>
    </p:spTree>
    <p:extLst>
      <p:ext uri="{BB962C8B-B14F-4D97-AF65-F5344CB8AC3E}">
        <p14:creationId xmlns:p14="http://schemas.microsoft.com/office/powerpoint/2010/main" val="285523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itle 67" hidden="1">
            <a:extLst>
              <a:ext uri="{FF2B5EF4-FFF2-40B4-BE49-F238E27FC236}">
                <a16:creationId xmlns:a16="http://schemas.microsoft.com/office/drawing/2014/main" id="{3D46526D-118F-4F6F-BAE0-066F422EBD1E}"/>
              </a:ext>
            </a:extLst>
          </p:cNvPr>
          <p:cNvSpPr>
            <a:spLocks noGrp="1"/>
          </p:cNvSpPr>
          <p:nvPr>
            <p:ph type="title"/>
          </p:nvPr>
        </p:nvSpPr>
        <p:spPr/>
        <p:txBody>
          <a:bodyPr/>
          <a:lstStyle/>
          <a:p>
            <a:r>
              <a:rPr lang="en-US" dirty="0"/>
              <a:t>Human resources slide 3</a:t>
            </a:r>
          </a:p>
        </p:txBody>
      </p:sp>
      <p:pic>
        <p:nvPicPr>
          <p:cNvPr id="122" name="Picture 121">
            <a:extLst>
              <a:ext uri="{FF2B5EF4-FFF2-40B4-BE49-F238E27FC236}">
                <a16:creationId xmlns:a16="http://schemas.microsoft.com/office/drawing/2014/main" id="{470070FC-19D0-4354-9BC9-608A5DC44997}"/>
              </a:ext>
              <a:ext uri="{C183D7F6-B498-43B3-948B-1728B52AA6E4}">
                <adec:decorative xmlns:adec="http://schemas.microsoft.com/office/drawing/2017/decorative" val="1"/>
              </a:ext>
            </a:extLst>
          </p:cNvPr>
          <p:cNvPicPr>
            <a:picLocks noChangeAspect="1"/>
          </p:cNvPicPr>
          <p:nvPr/>
        </p:nvPicPr>
        <p:blipFill rotWithShape="1">
          <a:blip r:embed="rId3">
            <a:lum bright="70000" contrast="-70000"/>
            <a:extLst>
              <a:ext uri="{BEBA8EAE-BF5A-486C-A8C5-ECC9F3942E4B}">
                <a14:imgProps xmlns:a14="http://schemas.microsoft.com/office/drawing/2010/main">
                  <a14:imgLayer r:embed="rId4">
                    <a14:imgEffect>
                      <a14:colorTemperature colorTemp="5300"/>
                    </a14:imgEffect>
                    <a14:imgEffect>
                      <a14:saturation sat="0"/>
                    </a14:imgEffect>
                  </a14:imgLayer>
                </a14:imgProps>
              </a:ext>
              <a:ext uri="{28A0092B-C50C-407E-A947-70E740481C1C}">
                <a14:useLocalDpi xmlns:a14="http://schemas.microsoft.com/office/drawing/2010/main" val="0"/>
              </a:ext>
            </a:extLst>
          </a:blip>
          <a:srcRect/>
          <a:stretch/>
        </p:blipFill>
        <p:spPr>
          <a:xfrm>
            <a:off x="0" y="0"/>
            <a:ext cx="12192000" cy="6858000"/>
          </a:xfrm>
          <a:custGeom>
            <a:avLst/>
            <a:gdLst>
              <a:gd name="connsiteX0" fmla="*/ 0 w 12192000"/>
              <a:gd name="connsiteY0" fmla="*/ 0 h 2895600"/>
              <a:gd name="connsiteX1" fmla="*/ 12192000 w 12192000"/>
              <a:gd name="connsiteY1" fmla="*/ 0 h 2895600"/>
              <a:gd name="connsiteX2" fmla="*/ 12192000 w 12192000"/>
              <a:gd name="connsiteY2" fmla="*/ 2895600 h 2895600"/>
              <a:gd name="connsiteX3" fmla="*/ 0 w 12192000"/>
              <a:gd name="connsiteY3" fmla="*/ 2895600 h 2895600"/>
            </a:gdLst>
            <a:ahLst/>
            <a:cxnLst>
              <a:cxn ang="0">
                <a:pos x="connsiteX0" y="connsiteY0"/>
              </a:cxn>
              <a:cxn ang="0">
                <a:pos x="connsiteX1" y="connsiteY1"/>
              </a:cxn>
              <a:cxn ang="0">
                <a:pos x="connsiteX2" y="connsiteY2"/>
              </a:cxn>
              <a:cxn ang="0">
                <a:pos x="connsiteX3" y="connsiteY3"/>
              </a:cxn>
            </a:cxnLst>
            <a:rect l="l" t="t" r="r" b="b"/>
            <a:pathLst>
              <a:path w="12192000" h="2895600">
                <a:moveTo>
                  <a:pt x="0" y="0"/>
                </a:moveTo>
                <a:lnTo>
                  <a:pt x="12192000" y="0"/>
                </a:lnTo>
                <a:lnTo>
                  <a:pt x="12192000" y="2895600"/>
                </a:lnTo>
                <a:lnTo>
                  <a:pt x="0" y="2895600"/>
                </a:lnTo>
                <a:close/>
              </a:path>
            </a:pathLst>
          </a:custGeom>
        </p:spPr>
      </p:pic>
      <p:sp>
        <p:nvSpPr>
          <p:cNvPr id="123" name="Rectangle 122">
            <a:extLst>
              <a:ext uri="{FF2B5EF4-FFF2-40B4-BE49-F238E27FC236}">
                <a16:creationId xmlns:a16="http://schemas.microsoft.com/office/drawing/2014/main" id="{C9C2C56A-C4D4-4578-84E9-27FD62603EAA}"/>
              </a:ext>
              <a:ext uri="{C183D7F6-B498-43B3-948B-1728B52AA6E4}">
                <adec:decorative xmlns:adec="http://schemas.microsoft.com/office/drawing/2017/decorative" val="1"/>
              </a:ext>
            </a:extLst>
          </p:cNvPr>
          <p:cNvSpPr/>
          <p:nvPr/>
        </p:nvSpPr>
        <p:spPr>
          <a:xfrm>
            <a:off x="-87923" y="0"/>
            <a:ext cx="121920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C8431200-8E45-4A0C-B12B-CFA1B2C53C47}"/>
              </a:ext>
              <a:ext uri="{C183D7F6-B498-43B3-948B-1728B52AA6E4}">
                <adec:decorative xmlns:adec="http://schemas.microsoft.com/office/drawing/2017/decorative" val="1"/>
              </a:ext>
            </a:extLst>
          </p:cNvPr>
          <p:cNvSpPr/>
          <p:nvPr/>
        </p:nvSpPr>
        <p:spPr>
          <a:xfrm>
            <a:off x="-221796" y="5502466"/>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62AEF5FE-6C45-4BF6-9676-571742C3CDD7}"/>
              </a:ext>
            </a:extLst>
          </p:cNvPr>
          <p:cNvSpPr txBox="1"/>
          <p:nvPr/>
        </p:nvSpPr>
        <p:spPr>
          <a:xfrm>
            <a:off x="523908" y="1231908"/>
            <a:ext cx="3603287" cy="1005403"/>
          </a:xfrm>
          <a:prstGeom prst="rect">
            <a:avLst/>
          </a:prstGeom>
          <a:noFill/>
        </p:spPr>
        <p:txBody>
          <a:bodyPr wrap="square" lIns="0" tIns="0" rIns="0" bIns="0" rtlCol="0" anchor="t">
            <a:spAutoFit/>
          </a:bodyPr>
          <a:lstStyle/>
          <a:p>
            <a:r>
              <a:rPr lang="en-US" sz="3200" b="1">
                <a:solidFill>
                  <a:srgbClr val="1E3ADA"/>
                </a:solidFill>
              </a:rPr>
              <a:t>New EDA</a:t>
            </a:r>
            <a:endParaRPr lang="fr-FR" sz="3200" b="1">
              <a:solidFill>
                <a:srgbClr val="000000"/>
              </a:solidFill>
              <a:ea typeface="Calibri" panose="020F0502020204030204"/>
              <a:cs typeface="Calibri" panose="020F0502020204030204"/>
            </a:endParaRPr>
          </a:p>
          <a:p>
            <a:pPr>
              <a:lnSpc>
                <a:spcPts val="4000"/>
              </a:lnSpc>
            </a:pPr>
            <a:endParaRPr lang="en-US" sz="4400" b="1" dirty="0">
              <a:solidFill>
                <a:srgbClr val="002060"/>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A74D15AA-4B45-41B5-A81C-97FCBF019951}"/>
              </a:ext>
            </a:extLst>
          </p:cNvPr>
          <p:cNvSpPr/>
          <p:nvPr/>
        </p:nvSpPr>
        <p:spPr>
          <a:xfrm>
            <a:off x="523908" y="1982470"/>
            <a:ext cx="2879127" cy="3939540"/>
          </a:xfrm>
          <a:prstGeom prst="rect">
            <a:avLst/>
          </a:prstGeom>
        </p:spPr>
        <p:txBody>
          <a:bodyPr wrap="square" lIns="0" tIns="0" rIns="0" bIns="0" anchor="t">
            <a:spAutoFit/>
          </a:bodyPr>
          <a:lstStyle/>
          <a:p>
            <a:pPr marL="285750" indent="-285750">
              <a:buFont typeface="Arial"/>
              <a:buChar char="•"/>
            </a:pPr>
            <a:r>
              <a:rPr lang="en-US" sz="1600">
                <a:solidFill>
                  <a:srgbClr val="27251E"/>
                </a:solidFill>
                <a:ea typeface="+mn-lt"/>
                <a:cs typeface="+mn-lt"/>
              </a:rPr>
              <a:t>Average Housing Price Index rose from about 372 to 544 from 2020 to 2024.</a:t>
            </a:r>
            <a:endParaRPr lang="fr-FR" sz="1600">
              <a:ea typeface="Calibri"/>
              <a:cs typeface="Calibri"/>
            </a:endParaRPr>
          </a:p>
          <a:p>
            <a:pPr marL="285750" indent="-285750">
              <a:buFont typeface="Arial"/>
              <a:buChar char="•"/>
            </a:pPr>
            <a:r>
              <a:rPr lang="en-US" sz="1600">
                <a:solidFill>
                  <a:srgbClr val="27251E"/>
                </a:solidFill>
                <a:ea typeface="+mn-lt"/>
                <a:cs typeface="+mn-lt"/>
              </a:rPr>
              <a:t>RPP had the strongest positive relationship with housing prices.</a:t>
            </a:r>
            <a:endParaRPr lang="en-US" sz="1600">
              <a:ea typeface="Calibri"/>
              <a:cs typeface="Calibri"/>
            </a:endParaRPr>
          </a:p>
          <a:p>
            <a:pPr marL="285750" indent="-285750">
              <a:buFont typeface="Arial"/>
              <a:buChar char="•"/>
            </a:pPr>
            <a:r>
              <a:rPr lang="en-US" sz="1600">
                <a:solidFill>
                  <a:srgbClr val="27251E"/>
                </a:solidFill>
                <a:ea typeface="+mn-lt"/>
                <a:cs typeface="+mn-lt"/>
              </a:rPr>
              <a:t>Unemployment showed a negative relationship.</a:t>
            </a:r>
            <a:endParaRPr lang="en-US" sz="1600">
              <a:ea typeface="Calibri"/>
              <a:cs typeface="Calibri"/>
            </a:endParaRPr>
          </a:p>
          <a:p>
            <a:pPr marL="285750" indent="-285750">
              <a:buFont typeface="Arial"/>
              <a:buChar char="•"/>
            </a:pPr>
            <a:r>
              <a:rPr lang="en-US" sz="1600">
                <a:solidFill>
                  <a:srgbClr val="27251E"/>
                </a:solidFill>
                <a:ea typeface="+mn-lt"/>
                <a:cs typeface="+mn-lt"/>
              </a:rPr>
              <a:t>Income growth was positive but weaker than RPP.</a:t>
            </a:r>
            <a:endParaRPr lang="en-US" sz="1600">
              <a:ea typeface="Calibri"/>
              <a:cs typeface="Calibri"/>
            </a:endParaRPr>
          </a:p>
          <a:p>
            <a:pPr marL="285750" indent="-285750">
              <a:buFont typeface="Arial"/>
              <a:buChar char="•"/>
            </a:pPr>
            <a:r>
              <a:rPr lang="en-US" sz="1600">
                <a:solidFill>
                  <a:srgbClr val="27251E"/>
                </a:solidFill>
                <a:ea typeface="+mn-lt"/>
                <a:cs typeface="+mn-lt"/>
              </a:rPr>
              <a:t>Migration was weaker than the other variables.</a:t>
            </a:r>
            <a:endParaRPr lang="en-US" sz="1600">
              <a:ea typeface="Calibri"/>
              <a:cs typeface="Calibri"/>
            </a:endParaRPr>
          </a:p>
          <a:p>
            <a:pPr marL="285750" indent="-285750">
              <a:buFont typeface="Arial"/>
              <a:buChar char="•"/>
            </a:pPr>
            <a:r>
              <a:rPr lang="en-US" sz="1600">
                <a:solidFill>
                  <a:srgbClr val="27251E"/>
                </a:solidFill>
                <a:ea typeface="+mn-lt"/>
                <a:cs typeface="+mn-lt"/>
              </a:rPr>
              <a:t>EDA used trend plots, scatterplots, and a correlation heatmap.</a:t>
            </a:r>
          </a:p>
          <a:p>
            <a:endParaRPr lang="en-US" sz="1600" i="1" dirty="0">
              <a:solidFill>
                <a:srgbClr val="002060"/>
              </a:solidFill>
              <a:latin typeface="+mj-lt"/>
              <a:ea typeface="Calibri Light"/>
              <a:cs typeface="Segoe UI" panose="020B0502040204020203" pitchFamily="34" charset="0"/>
            </a:endParaRPr>
          </a:p>
        </p:txBody>
      </p:sp>
      <p:sp>
        <p:nvSpPr>
          <p:cNvPr id="4" name="Parallelogram 3">
            <a:extLst>
              <a:ext uri="{FF2B5EF4-FFF2-40B4-BE49-F238E27FC236}">
                <a16:creationId xmlns:a16="http://schemas.microsoft.com/office/drawing/2014/main" id="{241C7FC4-FEFA-4A96-9749-9068C68611EF}"/>
              </a:ext>
              <a:ext uri="{C183D7F6-B498-43B3-948B-1728B52AA6E4}">
                <adec:decorative xmlns:adec="http://schemas.microsoft.com/office/drawing/2017/decorative" val="1"/>
              </a:ext>
            </a:extLst>
          </p:cNvPr>
          <p:cNvSpPr/>
          <p:nvPr/>
        </p:nvSpPr>
        <p:spPr>
          <a:xfrm>
            <a:off x="4115474" y="2"/>
            <a:ext cx="3961053" cy="6857998"/>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 name="TextBox 13">
            <a:extLst>
              <a:ext uri="{FF2B5EF4-FFF2-40B4-BE49-F238E27FC236}">
                <a16:creationId xmlns:a16="http://schemas.microsoft.com/office/drawing/2014/main" id="{A5704BA3-593E-4519-9139-4E1D86366677}"/>
              </a:ext>
            </a:extLst>
          </p:cNvPr>
          <p:cNvSpPr txBox="1"/>
          <p:nvPr/>
        </p:nvSpPr>
        <p:spPr>
          <a:xfrm>
            <a:off x="4453458" y="1227906"/>
            <a:ext cx="2427971" cy="246221"/>
          </a:xfrm>
          <a:prstGeom prst="rect">
            <a:avLst/>
          </a:prstGeom>
          <a:noFill/>
        </p:spPr>
        <p:txBody>
          <a:bodyPr wrap="square" lIns="0" tIns="0" rIns="0" bIns="0" rtlCol="0" anchor="t">
            <a:spAutoFit/>
          </a:bodyPr>
          <a:lstStyle/>
          <a:p>
            <a:r>
              <a:rPr lang="en-US" sz="1600" b="1">
                <a:solidFill>
                  <a:schemeClr val="bg1"/>
                </a:solidFill>
                <a:latin typeface="Segoe UI"/>
                <a:ea typeface="+mn-lt"/>
                <a:cs typeface="Segoe UI"/>
              </a:rPr>
              <a:t>Correlation Heatmap</a:t>
            </a:r>
            <a:endParaRPr lang="en-US" sz="1600" b="1">
              <a:solidFill>
                <a:schemeClr val="bg1"/>
              </a:solidFill>
              <a:latin typeface="Segoe UI"/>
              <a:ea typeface="Calibri"/>
              <a:cs typeface="Segoe UI"/>
            </a:endParaRPr>
          </a:p>
        </p:txBody>
      </p:sp>
      <p:grpSp>
        <p:nvGrpSpPr>
          <p:cNvPr id="93" name="Group 92">
            <a:extLst>
              <a:ext uri="{FF2B5EF4-FFF2-40B4-BE49-F238E27FC236}">
                <a16:creationId xmlns:a16="http://schemas.microsoft.com/office/drawing/2014/main" id="{294AEDC0-6B1D-4A3D-860D-83756CC387D3}"/>
              </a:ext>
              <a:ext uri="{C183D7F6-B498-43B3-948B-1728B52AA6E4}">
                <adec:decorative xmlns:adec="http://schemas.microsoft.com/office/drawing/2017/decorative" val="1"/>
              </a:ext>
            </a:extLst>
          </p:cNvPr>
          <p:cNvGrpSpPr/>
          <p:nvPr/>
        </p:nvGrpSpPr>
        <p:grpSpPr>
          <a:xfrm>
            <a:off x="8330412" y="1300476"/>
            <a:ext cx="3679052" cy="4372956"/>
            <a:chOff x="8346370" y="1300476"/>
            <a:chExt cx="3679052" cy="4372956"/>
          </a:xfrm>
        </p:grpSpPr>
        <p:sp>
          <p:nvSpPr>
            <p:cNvPr id="101" name="TextBox 100">
              <a:extLst>
                <a:ext uri="{FF2B5EF4-FFF2-40B4-BE49-F238E27FC236}">
                  <a16:creationId xmlns:a16="http://schemas.microsoft.com/office/drawing/2014/main" id="{CAECCF3F-B2FA-4F0A-96EE-B54207D66547}"/>
                </a:ext>
              </a:extLst>
            </p:cNvPr>
            <p:cNvSpPr txBox="1"/>
            <p:nvPr/>
          </p:nvSpPr>
          <p:spPr>
            <a:xfrm>
              <a:off x="8462691" y="1300476"/>
              <a:ext cx="3047138" cy="246221"/>
            </a:xfrm>
            <a:prstGeom prst="rect">
              <a:avLst/>
            </a:prstGeom>
            <a:noFill/>
          </p:spPr>
          <p:txBody>
            <a:bodyPr wrap="square" lIns="0" tIns="0" rIns="0" bIns="0" rtlCol="0" anchor="t">
              <a:spAutoFit/>
            </a:bodyPr>
            <a:lstStyle/>
            <a:p>
              <a:r>
                <a:rPr lang="en-US" sz="1600" b="1" dirty="0" err="1">
                  <a:solidFill>
                    <a:srgbClr val="002060"/>
                  </a:solidFill>
                  <a:latin typeface="Segoe UI"/>
                  <a:cs typeface="Segoe UI"/>
                </a:rPr>
                <a:t>AVerage</a:t>
              </a:r>
              <a:r>
                <a:rPr lang="en-US" sz="1600" b="1" dirty="0">
                  <a:solidFill>
                    <a:srgbClr val="002060"/>
                  </a:solidFill>
                  <a:latin typeface="Segoe UI"/>
                  <a:cs typeface="Segoe UI"/>
                </a:rPr>
                <a:t> Housing Price </a:t>
              </a:r>
            </a:p>
          </p:txBody>
        </p:sp>
        <p:sp>
          <p:nvSpPr>
            <p:cNvPr id="103" name="Rectangle 102">
              <a:extLst>
                <a:ext uri="{FF2B5EF4-FFF2-40B4-BE49-F238E27FC236}">
                  <a16:creationId xmlns:a16="http://schemas.microsoft.com/office/drawing/2014/main" id="{CDAD2E5F-3DBB-47BA-B90E-DDB45972B6AF}"/>
                </a:ext>
              </a:extLst>
            </p:cNvPr>
            <p:cNvSpPr/>
            <p:nvPr/>
          </p:nvSpPr>
          <p:spPr>
            <a:xfrm>
              <a:off x="8483139" y="2034038"/>
              <a:ext cx="2975669" cy="492443"/>
            </a:xfrm>
            <a:prstGeom prst="rect">
              <a:avLst/>
            </a:prstGeom>
          </p:spPr>
          <p:txBody>
            <a:bodyPr wrap="square" lIns="0" tIns="0" rIns="0" bIns="0">
              <a:spAutoFit/>
            </a:bodyPr>
            <a:lstStyle/>
            <a:p>
              <a:r>
                <a:rPr lang="en-US" sz="1600" i="1" dirty="0">
                  <a:solidFill>
                    <a:srgbClr val="002060"/>
                  </a:solidFill>
                  <a:latin typeface="+mj-lt"/>
                  <a:cs typeface="Segoe UI" panose="020B0502040204020203" pitchFamily="34" charset="0"/>
                </a:rPr>
                <a:t>Lorem ipsum dolor sit amet, consectetur adipiscing elit. </a:t>
              </a:r>
            </a:p>
          </p:txBody>
        </p:sp>
        <p:sp>
          <p:nvSpPr>
            <p:cNvPr id="104" name="TextBox 103">
              <a:extLst>
                <a:ext uri="{FF2B5EF4-FFF2-40B4-BE49-F238E27FC236}">
                  <a16:creationId xmlns:a16="http://schemas.microsoft.com/office/drawing/2014/main" id="{36650A66-75C3-4933-AFC0-6AB58DFE89D9}"/>
                </a:ext>
              </a:extLst>
            </p:cNvPr>
            <p:cNvSpPr txBox="1"/>
            <p:nvPr/>
          </p:nvSpPr>
          <p:spPr>
            <a:xfrm>
              <a:off x="8462691" y="2899706"/>
              <a:ext cx="3047138" cy="492443"/>
            </a:xfrm>
            <a:prstGeom prst="rect">
              <a:avLst/>
            </a:prstGeom>
            <a:noFill/>
          </p:spPr>
          <p:txBody>
            <a:bodyPr wrap="square" lIns="0" tIns="0" rIns="0" bIns="0" rtlCol="0">
              <a:spAutoFit/>
            </a:bodyPr>
            <a:lstStyle/>
            <a:p>
              <a:r>
                <a:rPr lang="en-US" sz="1600" b="1" dirty="0">
                  <a:solidFill>
                    <a:srgbClr val="002060"/>
                  </a:solidFill>
                  <a:latin typeface="Segoe UI" panose="020B0502040204020203" pitchFamily="34" charset="0"/>
                  <a:cs typeface="Segoe UI" panose="020B0502040204020203" pitchFamily="34" charset="0"/>
                </a:rPr>
                <a:t>STRATEGY HUMAN RESOURCES:</a:t>
              </a:r>
            </a:p>
          </p:txBody>
        </p:sp>
        <p:sp>
          <p:nvSpPr>
            <p:cNvPr id="105" name="Rectangle 104">
              <a:extLst>
                <a:ext uri="{FF2B5EF4-FFF2-40B4-BE49-F238E27FC236}">
                  <a16:creationId xmlns:a16="http://schemas.microsoft.com/office/drawing/2014/main" id="{AD1F5E0B-9D11-43FF-9946-9B61EF9D6E88}"/>
                </a:ext>
              </a:extLst>
            </p:cNvPr>
            <p:cNvSpPr/>
            <p:nvPr/>
          </p:nvSpPr>
          <p:spPr>
            <a:xfrm>
              <a:off x="8483139" y="3633268"/>
              <a:ext cx="2975669" cy="492443"/>
            </a:xfrm>
            <a:prstGeom prst="rect">
              <a:avLst/>
            </a:prstGeom>
          </p:spPr>
          <p:txBody>
            <a:bodyPr wrap="square" lIns="0" tIns="0" rIns="0" bIns="0">
              <a:spAutoFit/>
            </a:bodyPr>
            <a:lstStyle/>
            <a:p>
              <a:r>
                <a:rPr lang="en-US" sz="1600" i="1" dirty="0">
                  <a:solidFill>
                    <a:srgbClr val="002060"/>
                  </a:solidFill>
                  <a:latin typeface="+mj-lt"/>
                  <a:cs typeface="Segoe UI" panose="020B0502040204020203" pitchFamily="34" charset="0"/>
                </a:rPr>
                <a:t>Lorem ipsum dolor sit amet, consectetur adipiscing elit. </a:t>
              </a:r>
            </a:p>
          </p:txBody>
        </p:sp>
        <p:sp>
          <p:nvSpPr>
            <p:cNvPr id="107" name="Rectangle 106">
              <a:extLst>
                <a:ext uri="{FF2B5EF4-FFF2-40B4-BE49-F238E27FC236}">
                  <a16:creationId xmlns:a16="http://schemas.microsoft.com/office/drawing/2014/main" id="{D6D9691D-4606-4981-97A5-3BEAC7F0804E}"/>
                </a:ext>
              </a:extLst>
            </p:cNvPr>
            <p:cNvSpPr/>
            <p:nvPr/>
          </p:nvSpPr>
          <p:spPr>
            <a:xfrm>
              <a:off x="8346370" y="4688547"/>
              <a:ext cx="3679052" cy="984885"/>
            </a:xfrm>
            <a:prstGeom prst="rect">
              <a:avLst/>
            </a:prstGeom>
          </p:spPr>
          <p:txBody>
            <a:bodyPr wrap="square" lIns="0" tIns="0" rIns="0" bIns="0" anchor="t">
              <a:spAutoFit/>
            </a:bodyPr>
            <a:lstStyle/>
            <a:p>
              <a:r>
                <a:rPr lang="en-US" sz="1600" dirty="0">
                  <a:solidFill>
                    <a:srgbClr val="000000"/>
                  </a:solidFill>
                  <a:latin typeface="Calibri"/>
                  <a:ea typeface="Calibri"/>
                  <a:cs typeface="Calibri"/>
                </a:rPr>
                <a:t>Trend of average housing price index from 2020 to 2024. The steady increase reflects strong growth in housing prices across U.S. states during this period.</a:t>
              </a:r>
              <a:endParaRPr lang="en-US" sz="1600" i="1" dirty="0">
                <a:solidFill>
                  <a:srgbClr val="002060"/>
                </a:solidFill>
                <a:latin typeface="Calibri"/>
                <a:ea typeface="Calibri"/>
                <a:cs typeface="Calibri"/>
              </a:endParaRPr>
            </a:p>
          </p:txBody>
        </p:sp>
        <p:cxnSp>
          <p:nvCxnSpPr>
            <p:cNvPr id="72" name="Straight Connector 71">
              <a:extLst>
                <a:ext uri="{FF2B5EF4-FFF2-40B4-BE49-F238E27FC236}">
                  <a16:creationId xmlns:a16="http://schemas.microsoft.com/office/drawing/2014/main" id="{281FF210-334C-43FA-80C2-0E1E9F3F51C4}"/>
                </a:ext>
              </a:extLst>
            </p:cNvPr>
            <p:cNvCxnSpPr>
              <a:cxnSpLocks/>
            </p:cNvCxnSpPr>
            <p:nvPr/>
          </p:nvCxnSpPr>
          <p:spPr>
            <a:xfrm>
              <a:off x="8462691" y="4385043"/>
              <a:ext cx="299611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F599308-2B51-4D9D-9F9B-2C2E81CA918F}"/>
                </a:ext>
              </a:extLst>
            </p:cNvPr>
            <p:cNvCxnSpPr>
              <a:cxnSpLocks/>
            </p:cNvCxnSpPr>
            <p:nvPr/>
          </p:nvCxnSpPr>
          <p:spPr>
            <a:xfrm>
              <a:off x="8462691" y="2651992"/>
              <a:ext cx="299611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66" name="Image 65" descr="Une image contenant texte, capture d’écran, carré, Caractère coloré&#10;&#10;Le contenu généré par l’IA peut être incorrect.">
            <a:extLst>
              <a:ext uri="{FF2B5EF4-FFF2-40B4-BE49-F238E27FC236}">
                <a16:creationId xmlns:a16="http://schemas.microsoft.com/office/drawing/2014/main" id="{ECB0E353-8D85-EEF9-9D02-6581FF028D3A}"/>
              </a:ext>
            </a:extLst>
          </p:cNvPr>
          <p:cNvPicPr>
            <a:picLocks noChangeAspect="1"/>
          </p:cNvPicPr>
          <p:nvPr/>
        </p:nvPicPr>
        <p:blipFill>
          <a:blip r:embed="rId5"/>
          <a:stretch>
            <a:fillRect/>
          </a:stretch>
        </p:blipFill>
        <p:spPr>
          <a:xfrm>
            <a:off x="4392247" y="1839425"/>
            <a:ext cx="3407507" cy="2690690"/>
          </a:xfrm>
          <a:prstGeom prst="rect">
            <a:avLst/>
          </a:prstGeom>
        </p:spPr>
      </p:pic>
      <p:sp>
        <p:nvSpPr>
          <p:cNvPr id="67" name="Rectangle 66">
            <a:extLst>
              <a:ext uri="{FF2B5EF4-FFF2-40B4-BE49-F238E27FC236}">
                <a16:creationId xmlns:a16="http://schemas.microsoft.com/office/drawing/2014/main" id="{4B06AF52-08D8-58A9-30EF-54F2311DA220}"/>
              </a:ext>
            </a:extLst>
          </p:cNvPr>
          <p:cNvSpPr/>
          <p:nvPr/>
        </p:nvSpPr>
        <p:spPr>
          <a:xfrm>
            <a:off x="4451138" y="4688546"/>
            <a:ext cx="3348050" cy="2000548"/>
          </a:xfrm>
          <a:prstGeom prst="rect">
            <a:avLst/>
          </a:prstGeom>
        </p:spPr>
        <p:txBody>
          <a:bodyPr wrap="square" lIns="0" tIns="0" rIns="0" bIns="0" anchor="t">
            <a:spAutoFit/>
          </a:bodyPr>
          <a:lstStyle/>
          <a:p>
            <a:r>
              <a:rPr lang="en-US" sz="1400" dirty="0">
                <a:solidFill>
                  <a:schemeClr val="bg1"/>
                </a:solidFill>
                <a:latin typeface="Calibri"/>
                <a:ea typeface="+mn-lt"/>
                <a:cs typeface="Calibri"/>
              </a:rPr>
              <a:t>Correlation heatmap of housing price index and key economic variables, including RPP, income change, unemployment rate, population, and net migration (2021–2023). The results show that RPP has the strongest positive relationship with housing prices, while the unemployment rate exhibits a negative correlation.</a:t>
            </a:r>
            <a:br>
              <a:rPr lang="en-US" dirty="0"/>
            </a:br>
            <a:endParaRPr lang="en-US">
              <a:ea typeface="Calibri" panose="020F0502020204030204"/>
              <a:cs typeface="Calibri" panose="020F0502020204030204"/>
            </a:endParaRPr>
          </a:p>
        </p:txBody>
      </p:sp>
      <p:pic>
        <p:nvPicPr>
          <p:cNvPr id="69" name="Image 68" descr="Trend of average housing price index from 2020 to 2024. The steady increase reflects strong growth in housing prices across U.S. states during this period.&#10;">
            <a:extLst>
              <a:ext uri="{FF2B5EF4-FFF2-40B4-BE49-F238E27FC236}">
                <a16:creationId xmlns:a16="http://schemas.microsoft.com/office/drawing/2014/main" id="{76864875-286B-24FD-6079-A3D59D04B149}"/>
              </a:ext>
            </a:extLst>
          </p:cNvPr>
          <p:cNvPicPr>
            <a:picLocks noChangeAspect="1"/>
          </p:cNvPicPr>
          <p:nvPr/>
        </p:nvPicPr>
        <p:blipFill>
          <a:blip r:embed="rId6"/>
          <a:stretch>
            <a:fillRect/>
          </a:stretch>
        </p:blipFill>
        <p:spPr>
          <a:xfrm>
            <a:off x="8329246" y="1838813"/>
            <a:ext cx="3681046" cy="2691910"/>
          </a:xfrm>
          <a:prstGeom prst="rect">
            <a:avLst/>
          </a:prstGeom>
        </p:spPr>
      </p:pic>
    </p:spTree>
    <p:extLst>
      <p:ext uri="{BB962C8B-B14F-4D97-AF65-F5344CB8AC3E}">
        <p14:creationId xmlns:p14="http://schemas.microsoft.com/office/powerpoint/2010/main" val="1860944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hidden="1">
            <a:extLst>
              <a:ext uri="{FF2B5EF4-FFF2-40B4-BE49-F238E27FC236}">
                <a16:creationId xmlns:a16="http://schemas.microsoft.com/office/drawing/2014/main" id="{6FF5F564-0C08-4A3C-8BAC-1FADF459417F}"/>
              </a:ext>
            </a:extLst>
          </p:cNvPr>
          <p:cNvSpPr>
            <a:spLocks noGrp="1"/>
          </p:cNvSpPr>
          <p:nvPr>
            <p:ph type="title"/>
          </p:nvPr>
        </p:nvSpPr>
        <p:spPr/>
        <p:txBody>
          <a:bodyPr/>
          <a:lstStyle/>
          <a:p>
            <a:r>
              <a:rPr lang="en-US" dirty="0"/>
              <a:t>Human resources slide 4</a:t>
            </a:r>
          </a:p>
        </p:txBody>
      </p:sp>
      <p:sp>
        <p:nvSpPr>
          <p:cNvPr id="346" name="TextBox 345">
            <a:extLst>
              <a:ext uri="{FF2B5EF4-FFF2-40B4-BE49-F238E27FC236}">
                <a16:creationId xmlns:a16="http://schemas.microsoft.com/office/drawing/2014/main" id="{3DF722C9-361F-401E-AD34-54132A8436B3}"/>
              </a:ext>
            </a:extLst>
          </p:cNvPr>
          <p:cNvSpPr txBox="1"/>
          <p:nvPr/>
        </p:nvSpPr>
        <p:spPr>
          <a:xfrm>
            <a:off x="3805821" y="379249"/>
            <a:ext cx="4284026" cy="369332"/>
          </a:xfrm>
          <a:prstGeom prst="rect">
            <a:avLst/>
          </a:prstGeom>
          <a:noFill/>
        </p:spPr>
        <p:txBody>
          <a:bodyPr wrap="square" lIns="0" tIns="0" rIns="0" bIns="0" rtlCol="0" anchor="t">
            <a:spAutoFit/>
          </a:bodyPr>
          <a:lstStyle/>
          <a:p>
            <a:pPr algn="ctr"/>
            <a:r>
              <a:rPr lang="en-US" sz="2400" b="1">
                <a:solidFill>
                  <a:srgbClr val="002060"/>
                </a:solidFill>
                <a:latin typeface="Segoe UI"/>
                <a:cs typeface="Segoe UI"/>
              </a:rPr>
              <a:t>Propose Solution</a:t>
            </a:r>
            <a:endParaRPr lang="en-US" sz="2400" b="1" dirty="0">
              <a:solidFill>
                <a:srgbClr val="002060"/>
              </a:solidFill>
              <a:latin typeface="Segoe UI" panose="020B0502040204020203" pitchFamily="34" charset="0"/>
              <a:cs typeface="Segoe UI" panose="020B0502040204020203" pitchFamily="34" charset="0"/>
            </a:endParaRPr>
          </a:p>
        </p:txBody>
      </p:sp>
      <p:sp>
        <p:nvSpPr>
          <p:cNvPr id="34" name="Oval 26">
            <a:extLst>
              <a:ext uri="{FF2B5EF4-FFF2-40B4-BE49-F238E27FC236}">
                <a16:creationId xmlns:a16="http://schemas.microsoft.com/office/drawing/2014/main" id="{BAB1D2D2-1913-4FAF-8141-A2217D47D3D9}"/>
              </a:ext>
            </a:extLst>
          </p:cNvPr>
          <p:cNvSpPr>
            <a:spLocks noChangeArrowheads="1"/>
          </p:cNvSpPr>
          <p:nvPr/>
        </p:nvSpPr>
        <p:spPr bwMode="auto">
          <a:xfrm>
            <a:off x="5364162" y="1543580"/>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341" name="Rectangle 340">
            <a:extLst>
              <a:ext uri="{FF2B5EF4-FFF2-40B4-BE49-F238E27FC236}">
                <a16:creationId xmlns:a16="http://schemas.microsoft.com/office/drawing/2014/main" id="{594EDD4C-FB3C-4D67-A0E0-448BE5307678}"/>
              </a:ext>
            </a:extLst>
          </p:cNvPr>
          <p:cNvSpPr/>
          <p:nvPr/>
        </p:nvSpPr>
        <p:spPr>
          <a:xfrm>
            <a:off x="506554" y="2677728"/>
            <a:ext cx="3012770" cy="492443"/>
          </a:xfrm>
          <a:prstGeom prst="rect">
            <a:avLst/>
          </a:prstGeom>
        </p:spPr>
        <p:txBody>
          <a:bodyPr wrap="square" lIns="0" tIns="0" rIns="0" bIns="0" anchor="t">
            <a:spAutoFit/>
          </a:bodyPr>
          <a:lstStyle/>
          <a:p>
            <a:r>
              <a:rPr lang="en-US" sz="1600">
                <a:solidFill>
                  <a:srgbClr val="27251E"/>
                </a:solidFill>
                <a:ea typeface="+mn-lt"/>
                <a:cs typeface="+mn-lt"/>
              </a:rPr>
              <a:t>Used multiple linear regression as the main model.</a:t>
            </a:r>
            <a:endParaRPr lang="fr-FR" sz="1600">
              <a:ea typeface="Calibri" panose="020F0502020204030204"/>
              <a:cs typeface="Calibri" panose="020F0502020204030204"/>
            </a:endParaRPr>
          </a:p>
        </p:txBody>
      </p:sp>
      <p:grpSp>
        <p:nvGrpSpPr>
          <p:cNvPr id="166" name="Group 165">
            <a:extLst>
              <a:ext uri="{FF2B5EF4-FFF2-40B4-BE49-F238E27FC236}">
                <a16:creationId xmlns:a16="http://schemas.microsoft.com/office/drawing/2014/main" id="{F3A32F3A-3EA3-4F6F-905C-AE7E326402EF}"/>
              </a:ext>
            </a:extLst>
          </p:cNvPr>
          <p:cNvGrpSpPr/>
          <p:nvPr/>
        </p:nvGrpSpPr>
        <p:grpSpPr>
          <a:xfrm>
            <a:off x="3681199" y="921398"/>
            <a:ext cx="613094" cy="694109"/>
            <a:chOff x="3398838" y="2885489"/>
            <a:chExt cx="346075" cy="356187"/>
          </a:xfrm>
        </p:grpSpPr>
        <p:sp>
          <p:nvSpPr>
            <p:cNvPr id="167" name="Freeform 49">
              <a:extLst>
                <a:ext uri="{FF2B5EF4-FFF2-40B4-BE49-F238E27FC236}">
                  <a16:creationId xmlns:a16="http://schemas.microsoft.com/office/drawing/2014/main" id="{740B54FD-C512-4C4B-90F2-B8FE96027793}"/>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8" name="Freeform 50">
              <a:extLst>
                <a:ext uri="{FF2B5EF4-FFF2-40B4-BE49-F238E27FC236}">
                  <a16:creationId xmlns:a16="http://schemas.microsoft.com/office/drawing/2014/main" id="{4FDC5A8D-821C-42CD-8C45-FB309BF76A4B}"/>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9" name="Oval 51">
              <a:extLst>
                <a:ext uri="{FF2B5EF4-FFF2-40B4-BE49-F238E27FC236}">
                  <a16:creationId xmlns:a16="http://schemas.microsoft.com/office/drawing/2014/main" id="{627888DD-F7D4-4895-B336-F188BAF1D77E}"/>
                </a:ext>
              </a:extLst>
            </p:cNvPr>
            <p:cNvSpPr>
              <a:spLocks noChangeArrowheads="1"/>
            </p:cNvSpPr>
            <p:nvPr/>
          </p:nvSpPr>
          <p:spPr bwMode="auto">
            <a:xfrm>
              <a:off x="3429001"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0" name="Freeform 52">
              <a:extLst>
                <a:ext uri="{FF2B5EF4-FFF2-40B4-BE49-F238E27FC236}">
                  <a16:creationId xmlns:a16="http://schemas.microsoft.com/office/drawing/2014/main" id="{21C53BAF-A1BD-4D9D-8C56-C5A5E2964569}"/>
                </a:ext>
              </a:extLst>
            </p:cNvPr>
            <p:cNvSpPr>
              <a:spLocks/>
            </p:cNvSpPr>
            <p:nvPr/>
          </p:nvSpPr>
          <p:spPr bwMode="auto">
            <a:xfrm>
              <a:off x="3429001" y="2885491"/>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1" name="Freeform 53">
              <a:extLst>
                <a:ext uri="{FF2B5EF4-FFF2-40B4-BE49-F238E27FC236}">
                  <a16:creationId xmlns:a16="http://schemas.microsoft.com/office/drawing/2014/main" id="{B30A39F9-E915-4B71-94A4-3436CE4B9810}"/>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2" name="Freeform 54">
              <a:extLst>
                <a:ext uri="{FF2B5EF4-FFF2-40B4-BE49-F238E27FC236}">
                  <a16:creationId xmlns:a16="http://schemas.microsoft.com/office/drawing/2014/main" id="{92A91763-2FE9-4F49-81B3-F46A31888210}"/>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3" name="Oval 55">
              <a:extLst>
                <a:ext uri="{FF2B5EF4-FFF2-40B4-BE49-F238E27FC236}">
                  <a16:creationId xmlns:a16="http://schemas.microsoft.com/office/drawing/2014/main" id="{5D56157D-44A4-414B-A115-780567411345}"/>
                </a:ext>
              </a:extLst>
            </p:cNvPr>
            <p:cNvSpPr>
              <a:spLocks noChangeArrowheads="1"/>
            </p:cNvSpPr>
            <p:nvPr/>
          </p:nvSpPr>
          <p:spPr bwMode="auto">
            <a:xfrm>
              <a:off x="3624263"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4" name="Freeform 56">
              <a:extLst>
                <a:ext uri="{FF2B5EF4-FFF2-40B4-BE49-F238E27FC236}">
                  <a16:creationId xmlns:a16="http://schemas.microsoft.com/office/drawing/2014/main" id="{62DA9A80-F152-45F5-94C2-BB31EDA3C093}"/>
                </a:ext>
              </a:extLst>
            </p:cNvPr>
            <p:cNvSpPr>
              <a:spLocks/>
            </p:cNvSpPr>
            <p:nvPr/>
          </p:nvSpPr>
          <p:spPr bwMode="auto">
            <a:xfrm>
              <a:off x="3624263" y="288548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5" name="Freeform 57">
              <a:extLst>
                <a:ext uri="{FF2B5EF4-FFF2-40B4-BE49-F238E27FC236}">
                  <a16:creationId xmlns:a16="http://schemas.microsoft.com/office/drawing/2014/main" id="{003EFD2E-CF90-4AC0-BEC7-7BC68564812B}"/>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9" name="Line 61">
              <a:extLst>
                <a:ext uri="{FF2B5EF4-FFF2-40B4-BE49-F238E27FC236}">
                  <a16:creationId xmlns:a16="http://schemas.microsoft.com/office/drawing/2014/main" id="{5DC54740-A0D8-4879-95BC-57FB1ACC3E3D}"/>
                </a:ext>
              </a:extLst>
            </p:cNvPr>
            <p:cNvSpPr>
              <a:spLocks noChangeShapeType="1"/>
            </p:cNvSpPr>
            <p:nvPr/>
          </p:nvSpPr>
          <p:spPr bwMode="auto">
            <a:xfrm>
              <a:off x="3451226" y="303153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7" name="Group 26" descr="This image is of a man seen from the back. ">
            <a:extLst>
              <a:ext uri="{FF2B5EF4-FFF2-40B4-BE49-F238E27FC236}">
                <a16:creationId xmlns:a16="http://schemas.microsoft.com/office/drawing/2014/main" id="{ABC2A172-1C05-4D6F-B5FB-5CEBE6B7E962}"/>
              </a:ext>
            </a:extLst>
          </p:cNvPr>
          <p:cNvGrpSpPr/>
          <p:nvPr/>
        </p:nvGrpSpPr>
        <p:grpSpPr>
          <a:xfrm>
            <a:off x="4761706" y="3127375"/>
            <a:ext cx="2668588" cy="2679700"/>
            <a:chOff x="4832350" y="3127375"/>
            <a:chExt cx="2668588" cy="2679700"/>
          </a:xfrm>
        </p:grpSpPr>
        <p:sp>
          <p:nvSpPr>
            <p:cNvPr id="5" name="Freeform 5">
              <a:extLst>
                <a:ext uri="{FF2B5EF4-FFF2-40B4-BE49-F238E27FC236}">
                  <a16:creationId xmlns:a16="http://schemas.microsoft.com/office/drawing/2014/main" id="{A113113D-0844-4CD7-B171-8F00F9D68757}"/>
                </a:ext>
              </a:extLst>
            </p:cNvPr>
            <p:cNvSpPr>
              <a:spLocks/>
            </p:cNvSpPr>
            <p:nvPr/>
          </p:nvSpPr>
          <p:spPr bwMode="auto">
            <a:xfrm>
              <a:off x="6364288" y="3810000"/>
              <a:ext cx="1004888" cy="1736725"/>
            </a:xfrm>
            <a:custGeom>
              <a:avLst/>
              <a:gdLst>
                <a:gd name="T0" fmla="*/ 82 w 175"/>
                <a:gd name="T1" fmla="*/ 75 h 303"/>
                <a:gd name="T2" fmla="*/ 172 w 175"/>
                <a:gd name="T3" fmla="*/ 242 h 303"/>
                <a:gd name="T4" fmla="*/ 103 w 175"/>
                <a:gd name="T5" fmla="*/ 242 h 303"/>
                <a:gd name="T6" fmla="*/ 49 w 175"/>
                <a:gd name="T7" fmla="*/ 89 h 303"/>
                <a:gd name="T8" fmla="*/ 22 w 175"/>
                <a:gd name="T9" fmla="*/ 67 h 303"/>
                <a:gd name="T10" fmla="*/ 7 w 175"/>
                <a:gd name="T11" fmla="*/ 36 h 303"/>
                <a:gd name="T12" fmla="*/ 23 w 175"/>
                <a:gd name="T13" fmla="*/ 36 h 303"/>
                <a:gd name="T14" fmla="*/ 35 w 175"/>
                <a:gd name="T15" fmla="*/ 54 h 303"/>
                <a:gd name="T16" fmla="*/ 8 w 175"/>
                <a:gd name="T17" fmla="*/ 5 h 303"/>
                <a:gd name="T18" fmla="*/ 30 w 175"/>
                <a:gd name="T19" fmla="*/ 21 h 303"/>
                <a:gd name="T20" fmla="*/ 51 w 175"/>
                <a:gd name="T21" fmla="*/ 25 h 303"/>
                <a:gd name="T22" fmla="*/ 70 w 175"/>
                <a:gd name="T23" fmla="*/ 49 h 303"/>
                <a:gd name="T24" fmla="*/ 82 w 175"/>
                <a:gd name="T25" fmla="*/ 7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303">
                  <a:moveTo>
                    <a:pt x="82" y="75"/>
                  </a:moveTo>
                  <a:cubicBezTo>
                    <a:pt x="82" y="75"/>
                    <a:pt x="175" y="184"/>
                    <a:pt x="172" y="242"/>
                  </a:cubicBezTo>
                  <a:cubicBezTo>
                    <a:pt x="169" y="299"/>
                    <a:pt x="126" y="303"/>
                    <a:pt x="103" y="242"/>
                  </a:cubicBezTo>
                  <a:cubicBezTo>
                    <a:pt x="81" y="180"/>
                    <a:pt x="49" y="89"/>
                    <a:pt x="49" y="89"/>
                  </a:cubicBezTo>
                  <a:cubicBezTo>
                    <a:pt x="49" y="89"/>
                    <a:pt x="27" y="74"/>
                    <a:pt x="22" y="67"/>
                  </a:cubicBezTo>
                  <a:cubicBezTo>
                    <a:pt x="17" y="61"/>
                    <a:pt x="13" y="39"/>
                    <a:pt x="7" y="36"/>
                  </a:cubicBezTo>
                  <a:cubicBezTo>
                    <a:pt x="0" y="33"/>
                    <a:pt x="12" y="26"/>
                    <a:pt x="23" y="36"/>
                  </a:cubicBezTo>
                  <a:cubicBezTo>
                    <a:pt x="33" y="46"/>
                    <a:pt x="30" y="57"/>
                    <a:pt x="35" y="54"/>
                  </a:cubicBezTo>
                  <a:cubicBezTo>
                    <a:pt x="40" y="50"/>
                    <a:pt x="8" y="10"/>
                    <a:pt x="8" y="5"/>
                  </a:cubicBezTo>
                  <a:cubicBezTo>
                    <a:pt x="9" y="0"/>
                    <a:pt x="30" y="21"/>
                    <a:pt x="30" y="21"/>
                  </a:cubicBezTo>
                  <a:cubicBezTo>
                    <a:pt x="30" y="21"/>
                    <a:pt x="44" y="19"/>
                    <a:pt x="51" y="25"/>
                  </a:cubicBezTo>
                  <a:cubicBezTo>
                    <a:pt x="58" y="30"/>
                    <a:pt x="67" y="43"/>
                    <a:pt x="70" y="49"/>
                  </a:cubicBezTo>
                  <a:cubicBezTo>
                    <a:pt x="72" y="55"/>
                    <a:pt x="75" y="66"/>
                    <a:pt x="82" y="75"/>
                  </a:cubicBezTo>
                  <a:close/>
                </a:path>
              </a:pathLst>
            </a:custGeom>
            <a:solidFill>
              <a:srgbClr val="F8F3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 name="AutoShape 3">
              <a:extLst>
                <a:ext uri="{FF2B5EF4-FFF2-40B4-BE49-F238E27FC236}">
                  <a16:creationId xmlns:a16="http://schemas.microsoft.com/office/drawing/2014/main" id="{CBAFF68D-D572-4371-A91E-AC6024B691FF}"/>
                </a:ext>
              </a:extLst>
            </p:cNvPr>
            <p:cNvSpPr>
              <a:spLocks noChangeAspect="1" noChangeArrowheads="1" noTextEdit="1"/>
            </p:cNvSpPr>
            <p:nvPr/>
          </p:nvSpPr>
          <p:spPr bwMode="auto">
            <a:xfrm>
              <a:off x="4905375" y="3141662"/>
              <a:ext cx="2479675"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a:extLst>
                <a:ext uri="{FF2B5EF4-FFF2-40B4-BE49-F238E27FC236}">
                  <a16:creationId xmlns:a16="http://schemas.microsoft.com/office/drawing/2014/main" id="{48C4C649-8470-4879-B490-47F99A11E63F}"/>
                </a:ext>
              </a:extLst>
            </p:cNvPr>
            <p:cNvSpPr>
              <a:spLocks/>
            </p:cNvSpPr>
            <p:nvPr/>
          </p:nvSpPr>
          <p:spPr bwMode="auto">
            <a:xfrm>
              <a:off x="6610350" y="4210050"/>
              <a:ext cx="752475" cy="1301750"/>
            </a:xfrm>
            <a:custGeom>
              <a:avLst/>
              <a:gdLst>
                <a:gd name="T0" fmla="*/ 36 w 131"/>
                <a:gd name="T1" fmla="*/ 0 h 227"/>
                <a:gd name="T2" fmla="*/ 0 w 131"/>
                <a:gd name="T3" fmla="*/ 22 h 227"/>
                <a:gd name="T4" fmla="*/ 94 w 131"/>
                <a:gd name="T5" fmla="*/ 215 h 227"/>
                <a:gd name="T6" fmla="*/ 130 w 131"/>
                <a:gd name="T7" fmla="*/ 168 h 227"/>
                <a:gd name="T8" fmla="*/ 36 w 131"/>
                <a:gd name="T9" fmla="*/ 0 h 227"/>
              </a:gdLst>
              <a:ahLst/>
              <a:cxnLst>
                <a:cxn ang="0">
                  <a:pos x="T0" y="T1"/>
                </a:cxn>
                <a:cxn ang="0">
                  <a:pos x="T2" y="T3"/>
                </a:cxn>
                <a:cxn ang="0">
                  <a:pos x="T4" y="T5"/>
                </a:cxn>
                <a:cxn ang="0">
                  <a:pos x="T6" y="T7"/>
                </a:cxn>
                <a:cxn ang="0">
                  <a:pos x="T8" y="T9"/>
                </a:cxn>
              </a:cxnLst>
              <a:rect l="0" t="0" r="r" b="b"/>
              <a:pathLst>
                <a:path w="131" h="227">
                  <a:moveTo>
                    <a:pt x="36" y="0"/>
                  </a:moveTo>
                  <a:cubicBezTo>
                    <a:pt x="36" y="0"/>
                    <a:pt x="5" y="19"/>
                    <a:pt x="0" y="22"/>
                  </a:cubicBezTo>
                  <a:cubicBezTo>
                    <a:pt x="0" y="22"/>
                    <a:pt x="64" y="203"/>
                    <a:pt x="94" y="215"/>
                  </a:cubicBezTo>
                  <a:cubicBezTo>
                    <a:pt x="124" y="227"/>
                    <a:pt x="131" y="194"/>
                    <a:pt x="130" y="168"/>
                  </a:cubicBezTo>
                  <a:cubicBezTo>
                    <a:pt x="129" y="138"/>
                    <a:pt x="99" y="55"/>
                    <a:pt x="36" y="0"/>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a:extLst>
                <a:ext uri="{FF2B5EF4-FFF2-40B4-BE49-F238E27FC236}">
                  <a16:creationId xmlns:a16="http://schemas.microsoft.com/office/drawing/2014/main" id="{A6D0BE20-D8F3-4E9A-9E7A-BC6FFF63D4D3}"/>
                </a:ext>
              </a:extLst>
            </p:cNvPr>
            <p:cNvSpPr>
              <a:spLocks/>
            </p:cNvSpPr>
            <p:nvPr/>
          </p:nvSpPr>
          <p:spPr bwMode="auto">
            <a:xfrm>
              <a:off x="4883150" y="5529263"/>
              <a:ext cx="2451100" cy="257175"/>
            </a:xfrm>
            <a:custGeom>
              <a:avLst/>
              <a:gdLst>
                <a:gd name="T0" fmla="*/ 1544 w 1544"/>
                <a:gd name="T1" fmla="*/ 162 h 162"/>
                <a:gd name="T2" fmla="*/ 0 w 1544"/>
                <a:gd name="T3" fmla="*/ 162 h 162"/>
                <a:gd name="T4" fmla="*/ 156 w 1544"/>
                <a:gd name="T5" fmla="*/ 0 h 162"/>
                <a:gd name="T6" fmla="*/ 1436 w 1544"/>
                <a:gd name="T7" fmla="*/ 0 h 162"/>
                <a:gd name="T8" fmla="*/ 1544 w 1544"/>
                <a:gd name="T9" fmla="*/ 162 h 162"/>
              </a:gdLst>
              <a:ahLst/>
              <a:cxnLst>
                <a:cxn ang="0">
                  <a:pos x="T0" y="T1"/>
                </a:cxn>
                <a:cxn ang="0">
                  <a:pos x="T2" y="T3"/>
                </a:cxn>
                <a:cxn ang="0">
                  <a:pos x="T4" y="T5"/>
                </a:cxn>
                <a:cxn ang="0">
                  <a:pos x="T6" y="T7"/>
                </a:cxn>
                <a:cxn ang="0">
                  <a:pos x="T8" y="T9"/>
                </a:cxn>
              </a:cxnLst>
              <a:rect l="0" t="0" r="r" b="b"/>
              <a:pathLst>
                <a:path w="1544" h="162">
                  <a:moveTo>
                    <a:pt x="1544" y="162"/>
                  </a:moveTo>
                  <a:lnTo>
                    <a:pt x="0" y="162"/>
                  </a:lnTo>
                  <a:lnTo>
                    <a:pt x="156" y="0"/>
                  </a:lnTo>
                  <a:lnTo>
                    <a:pt x="1436" y="0"/>
                  </a:lnTo>
                  <a:lnTo>
                    <a:pt x="1544" y="162"/>
                  </a:lnTo>
                  <a:close/>
                </a:path>
              </a:pathLst>
            </a:custGeom>
            <a:gradFill flip="none" rotWithShape="1">
              <a:gsLst>
                <a:gs pos="0">
                  <a:srgbClr val="6FC9E0"/>
                </a:gs>
                <a:gs pos="39000">
                  <a:srgbClr val="4BC3E2"/>
                </a:gs>
                <a:gs pos="85000">
                  <a:srgbClr val="030341"/>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Freeform 8">
              <a:extLst>
                <a:ext uri="{FF2B5EF4-FFF2-40B4-BE49-F238E27FC236}">
                  <a16:creationId xmlns:a16="http://schemas.microsoft.com/office/drawing/2014/main" id="{91E2CD51-2ACF-4F68-863C-840F1804E8B5}"/>
                </a:ext>
              </a:extLst>
            </p:cNvPr>
            <p:cNvSpPr>
              <a:spLocks/>
            </p:cNvSpPr>
            <p:nvPr/>
          </p:nvSpPr>
          <p:spPr bwMode="auto">
            <a:xfrm>
              <a:off x="5313363" y="4187825"/>
              <a:ext cx="1520825" cy="1598613"/>
            </a:xfrm>
            <a:custGeom>
              <a:avLst/>
              <a:gdLst>
                <a:gd name="T0" fmla="*/ 265 w 265"/>
                <a:gd name="T1" fmla="*/ 279 h 279"/>
                <a:gd name="T2" fmla="*/ 25 w 265"/>
                <a:gd name="T3" fmla="*/ 279 h 279"/>
                <a:gd name="T4" fmla="*/ 20 w 265"/>
                <a:gd name="T5" fmla="*/ 234 h 279"/>
                <a:gd name="T6" fmla="*/ 20 w 265"/>
                <a:gd name="T7" fmla="*/ 230 h 279"/>
                <a:gd name="T8" fmla="*/ 13 w 265"/>
                <a:gd name="T9" fmla="*/ 171 h 279"/>
                <a:gd name="T10" fmla="*/ 11 w 265"/>
                <a:gd name="T11" fmla="*/ 150 h 279"/>
                <a:gd name="T12" fmla="*/ 10 w 265"/>
                <a:gd name="T13" fmla="*/ 129 h 279"/>
                <a:gd name="T14" fmla="*/ 10 w 265"/>
                <a:gd name="T15" fmla="*/ 34 h 279"/>
                <a:gd name="T16" fmla="*/ 10 w 265"/>
                <a:gd name="T17" fmla="*/ 34 h 279"/>
                <a:gd name="T18" fmla="*/ 65 w 265"/>
                <a:gd name="T19" fmla="*/ 17 h 279"/>
                <a:gd name="T20" fmla="*/ 86 w 265"/>
                <a:gd name="T21" fmla="*/ 1 h 279"/>
                <a:gd name="T22" fmla="*/ 131 w 265"/>
                <a:gd name="T23" fmla="*/ 3 h 279"/>
                <a:gd name="T24" fmla="*/ 132 w 265"/>
                <a:gd name="T25" fmla="*/ 3 h 279"/>
                <a:gd name="T26" fmla="*/ 132 w 265"/>
                <a:gd name="T27" fmla="*/ 3 h 279"/>
                <a:gd name="T28" fmla="*/ 133 w 265"/>
                <a:gd name="T29" fmla="*/ 3 h 279"/>
                <a:gd name="T30" fmla="*/ 169 w 265"/>
                <a:gd name="T31" fmla="*/ 12 h 279"/>
                <a:gd name="T32" fmla="*/ 170 w 265"/>
                <a:gd name="T33" fmla="*/ 13 h 279"/>
                <a:gd name="T34" fmla="*/ 170 w 265"/>
                <a:gd name="T35" fmla="*/ 13 h 279"/>
                <a:gd name="T36" fmla="*/ 171 w 265"/>
                <a:gd name="T37" fmla="*/ 26 h 279"/>
                <a:gd name="T38" fmla="*/ 197 w 265"/>
                <a:gd name="T39" fmla="*/ 31 h 279"/>
                <a:gd name="T40" fmla="*/ 201 w 265"/>
                <a:gd name="T41" fmla="*/ 32 h 279"/>
                <a:gd name="T42" fmla="*/ 251 w 265"/>
                <a:gd name="T43" fmla="*/ 105 h 279"/>
                <a:gd name="T44" fmla="*/ 255 w 265"/>
                <a:gd name="T45" fmla="*/ 151 h 279"/>
                <a:gd name="T46" fmla="*/ 259 w 265"/>
                <a:gd name="T47" fmla="*/ 192 h 279"/>
                <a:gd name="T48" fmla="*/ 262 w 265"/>
                <a:gd name="T49" fmla="*/ 234 h 279"/>
                <a:gd name="T50" fmla="*/ 264 w 265"/>
                <a:gd name="T51" fmla="*/ 266 h 279"/>
                <a:gd name="T52" fmla="*/ 264 w 265"/>
                <a:gd name="T53" fmla="*/ 266 h 279"/>
                <a:gd name="T54" fmla="*/ 265 w 265"/>
                <a:gd name="T55" fmla="*/ 279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5" h="279">
                  <a:moveTo>
                    <a:pt x="265" y="279"/>
                  </a:moveTo>
                  <a:cubicBezTo>
                    <a:pt x="25" y="279"/>
                    <a:pt x="25" y="279"/>
                    <a:pt x="25" y="279"/>
                  </a:cubicBezTo>
                  <a:cubicBezTo>
                    <a:pt x="25" y="273"/>
                    <a:pt x="23" y="256"/>
                    <a:pt x="20" y="234"/>
                  </a:cubicBezTo>
                  <a:cubicBezTo>
                    <a:pt x="20" y="232"/>
                    <a:pt x="20" y="231"/>
                    <a:pt x="20" y="230"/>
                  </a:cubicBezTo>
                  <a:cubicBezTo>
                    <a:pt x="17" y="211"/>
                    <a:pt x="15" y="191"/>
                    <a:pt x="13" y="171"/>
                  </a:cubicBezTo>
                  <a:cubicBezTo>
                    <a:pt x="13" y="164"/>
                    <a:pt x="12" y="157"/>
                    <a:pt x="11" y="150"/>
                  </a:cubicBezTo>
                  <a:cubicBezTo>
                    <a:pt x="11" y="143"/>
                    <a:pt x="11" y="136"/>
                    <a:pt x="10" y="129"/>
                  </a:cubicBezTo>
                  <a:cubicBezTo>
                    <a:pt x="8" y="78"/>
                    <a:pt x="0" y="42"/>
                    <a:pt x="10" y="34"/>
                  </a:cubicBezTo>
                  <a:cubicBezTo>
                    <a:pt x="10" y="34"/>
                    <a:pt x="10" y="34"/>
                    <a:pt x="10" y="34"/>
                  </a:cubicBezTo>
                  <a:cubicBezTo>
                    <a:pt x="19" y="26"/>
                    <a:pt x="65" y="17"/>
                    <a:pt x="65" y="17"/>
                  </a:cubicBezTo>
                  <a:cubicBezTo>
                    <a:pt x="65" y="17"/>
                    <a:pt x="70" y="2"/>
                    <a:pt x="86" y="1"/>
                  </a:cubicBezTo>
                  <a:cubicBezTo>
                    <a:pt x="102" y="0"/>
                    <a:pt x="118" y="1"/>
                    <a:pt x="131" y="3"/>
                  </a:cubicBezTo>
                  <a:cubicBezTo>
                    <a:pt x="131" y="3"/>
                    <a:pt x="132" y="3"/>
                    <a:pt x="132" y="3"/>
                  </a:cubicBezTo>
                  <a:cubicBezTo>
                    <a:pt x="132" y="3"/>
                    <a:pt x="132" y="3"/>
                    <a:pt x="132" y="3"/>
                  </a:cubicBezTo>
                  <a:cubicBezTo>
                    <a:pt x="132" y="3"/>
                    <a:pt x="133" y="3"/>
                    <a:pt x="133" y="3"/>
                  </a:cubicBezTo>
                  <a:cubicBezTo>
                    <a:pt x="152" y="6"/>
                    <a:pt x="167" y="10"/>
                    <a:pt x="169" y="12"/>
                  </a:cubicBezTo>
                  <a:cubicBezTo>
                    <a:pt x="170" y="12"/>
                    <a:pt x="170" y="13"/>
                    <a:pt x="170" y="13"/>
                  </a:cubicBezTo>
                  <a:cubicBezTo>
                    <a:pt x="170" y="13"/>
                    <a:pt x="170" y="13"/>
                    <a:pt x="170" y="13"/>
                  </a:cubicBezTo>
                  <a:cubicBezTo>
                    <a:pt x="171" y="22"/>
                    <a:pt x="171" y="26"/>
                    <a:pt x="171" y="26"/>
                  </a:cubicBezTo>
                  <a:cubicBezTo>
                    <a:pt x="171" y="26"/>
                    <a:pt x="184" y="32"/>
                    <a:pt x="197" y="31"/>
                  </a:cubicBezTo>
                  <a:cubicBezTo>
                    <a:pt x="198" y="31"/>
                    <a:pt x="199" y="31"/>
                    <a:pt x="201" y="32"/>
                  </a:cubicBezTo>
                  <a:cubicBezTo>
                    <a:pt x="216" y="35"/>
                    <a:pt x="247" y="62"/>
                    <a:pt x="251" y="105"/>
                  </a:cubicBezTo>
                  <a:cubicBezTo>
                    <a:pt x="252" y="117"/>
                    <a:pt x="254" y="133"/>
                    <a:pt x="255" y="151"/>
                  </a:cubicBezTo>
                  <a:cubicBezTo>
                    <a:pt x="256" y="164"/>
                    <a:pt x="257" y="178"/>
                    <a:pt x="259" y="192"/>
                  </a:cubicBezTo>
                  <a:cubicBezTo>
                    <a:pt x="260" y="207"/>
                    <a:pt x="261" y="221"/>
                    <a:pt x="262" y="234"/>
                  </a:cubicBezTo>
                  <a:cubicBezTo>
                    <a:pt x="263" y="246"/>
                    <a:pt x="263" y="258"/>
                    <a:pt x="264" y="266"/>
                  </a:cubicBezTo>
                  <a:cubicBezTo>
                    <a:pt x="264" y="266"/>
                    <a:pt x="264" y="266"/>
                    <a:pt x="264" y="266"/>
                  </a:cubicBezTo>
                  <a:cubicBezTo>
                    <a:pt x="264" y="272"/>
                    <a:pt x="265" y="277"/>
                    <a:pt x="265" y="279"/>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a:extLst>
                <a:ext uri="{FF2B5EF4-FFF2-40B4-BE49-F238E27FC236}">
                  <a16:creationId xmlns:a16="http://schemas.microsoft.com/office/drawing/2014/main" id="{319F10DD-B9D3-4B3A-8314-9802E27DC1C4}"/>
                </a:ext>
              </a:extLst>
            </p:cNvPr>
            <p:cNvSpPr>
              <a:spLocks/>
            </p:cNvSpPr>
            <p:nvPr/>
          </p:nvSpPr>
          <p:spPr bwMode="auto">
            <a:xfrm>
              <a:off x="4832350" y="4359275"/>
              <a:ext cx="1382713" cy="1152525"/>
            </a:xfrm>
            <a:custGeom>
              <a:avLst/>
              <a:gdLst>
                <a:gd name="T0" fmla="*/ 227 w 241"/>
                <a:gd name="T1" fmla="*/ 194 h 201"/>
                <a:gd name="T2" fmla="*/ 104 w 241"/>
                <a:gd name="T3" fmla="*/ 200 h 201"/>
                <a:gd name="T4" fmla="*/ 23 w 241"/>
                <a:gd name="T5" fmla="*/ 199 h 201"/>
                <a:gd name="T6" fmla="*/ 38 w 241"/>
                <a:gd name="T7" fmla="*/ 83 h 201"/>
                <a:gd name="T8" fmla="*/ 94 w 241"/>
                <a:gd name="T9" fmla="*/ 4 h 201"/>
                <a:gd name="T10" fmla="*/ 94 w 241"/>
                <a:gd name="T11" fmla="*/ 4 h 201"/>
                <a:gd name="T12" fmla="*/ 106 w 241"/>
                <a:gd name="T13" fmla="*/ 1 h 201"/>
                <a:gd name="T14" fmla="*/ 143 w 241"/>
                <a:gd name="T15" fmla="*/ 57 h 201"/>
                <a:gd name="T16" fmla="*/ 95 w 241"/>
                <a:gd name="T17" fmla="*/ 120 h 201"/>
                <a:gd name="T18" fmla="*/ 76 w 241"/>
                <a:gd name="T19" fmla="*/ 141 h 201"/>
                <a:gd name="T20" fmla="*/ 97 w 241"/>
                <a:gd name="T21" fmla="*/ 141 h 201"/>
                <a:gd name="T22" fmla="*/ 239 w 241"/>
                <a:gd name="T23" fmla="*/ 164 h 201"/>
                <a:gd name="T24" fmla="*/ 227 w 241"/>
                <a:gd name="T25" fmla="*/ 194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201">
                  <a:moveTo>
                    <a:pt x="227" y="194"/>
                  </a:moveTo>
                  <a:cubicBezTo>
                    <a:pt x="224" y="194"/>
                    <a:pt x="160" y="198"/>
                    <a:pt x="104" y="200"/>
                  </a:cubicBezTo>
                  <a:cubicBezTo>
                    <a:pt x="66" y="201"/>
                    <a:pt x="32" y="201"/>
                    <a:pt x="23" y="199"/>
                  </a:cubicBezTo>
                  <a:cubicBezTo>
                    <a:pt x="0" y="193"/>
                    <a:pt x="5" y="167"/>
                    <a:pt x="38" y="83"/>
                  </a:cubicBezTo>
                  <a:cubicBezTo>
                    <a:pt x="59" y="29"/>
                    <a:pt x="80" y="10"/>
                    <a:pt x="94" y="4"/>
                  </a:cubicBezTo>
                  <a:cubicBezTo>
                    <a:pt x="94" y="4"/>
                    <a:pt x="94" y="4"/>
                    <a:pt x="94" y="4"/>
                  </a:cubicBezTo>
                  <a:cubicBezTo>
                    <a:pt x="101" y="0"/>
                    <a:pt x="106" y="1"/>
                    <a:pt x="106" y="1"/>
                  </a:cubicBezTo>
                  <a:cubicBezTo>
                    <a:pt x="123" y="0"/>
                    <a:pt x="145" y="42"/>
                    <a:pt x="143" y="57"/>
                  </a:cubicBezTo>
                  <a:cubicBezTo>
                    <a:pt x="142" y="66"/>
                    <a:pt x="115" y="98"/>
                    <a:pt x="95" y="120"/>
                  </a:cubicBezTo>
                  <a:cubicBezTo>
                    <a:pt x="85" y="132"/>
                    <a:pt x="76" y="141"/>
                    <a:pt x="76" y="141"/>
                  </a:cubicBezTo>
                  <a:cubicBezTo>
                    <a:pt x="76" y="141"/>
                    <a:pt x="85" y="141"/>
                    <a:pt x="97" y="141"/>
                  </a:cubicBezTo>
                  <a:cubicBezTo>
                    <a:pt x="139" y="142"/>
                    <a:pt x="228" y="145"/>
                    <a:pt x="239" y="164"/>
                  </a:cubicBezTo>
                  <a:cubicBezTo>
                    <a:pt x="241" y="169"/>
                    <a:pt x="233" y="194"/>
                    <a:pt x="227" y="194"/>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a:extLst>
                <a:ext uri="{FF2B5EF4-FFF2-40B4-BE49-F238E27FC236}">
                  <a16:creationId xmlns:a16="http://schemas.microsoft.com/office/drawing/2014/main" id="{5849D18F-42AB-4436-A00E-CCB48479C93C}"/>
                </a:ext>
              </a:extLst>
            </p:cNvPr>
            <p:cNvSpPr>
              <a:spLocks/>
            </p:cNvSpPr>
            <p:nvPr/>
          </p:nvSpPr>
          <p:spPr bwMode="auto">
            <a:xfrm>
              <a:off x="6450013" y="4960938"/>
              <a:ext cx="333375" cy="750888"/>
            </a:xfrm>
            <a:custGeom>
              <a:avLst/>
              <a:gdLst>
                <a:gd name="T0" fmla="*/ 66 w 66"/>
                <a:gd name="T1" fmla="*/ 131 h 131"/>
                <a:gd name="T2" fmla="*/ 23 w 66"/>
                <a:gd name="T3" fmla="*/ 68 h 131"/>
                <a:gd name="T4" fmla="*/ 4 w 66"/>
                <a:gd name="T5" fmla="*/ 25 h 131"/>
                <a:gd name="T6" fmla="*/ 57 w 66"/>
                <a:gd name="T7" fmla="*/ 16 h 131"/>
                <a:gd name="T8" fmla="*/ 64 w 66"/>
                <a:gd name="T9" fmla="*/ 99 h 131"/>
                <a:gd name="T10" fmla="*/ 66 w 66"/>
                <a:gd name="T11" fmla="*/ 131 h 131"/>
              </a:gdLst>
              <a:ahLst/>
              <a:cxnLst>
                <a:cxn ang="0">
                  <a:pos x="T0" y="T1"/>
                </a:cxn>
                <a:cxn ang="0">
                  <a:pos x="T2" y="T3"/>
                </a:cxn>
                <a:cxn ang="0">
                  <a:pos x="T4" y="T5"/>
                </a:cxn>
                <a:cxn ang="0">
                  <a:pos x="T6" y="T7"/>
                </a:cxn>
                <a:cxn ang="0">
                  <a:pos x="T8" y="T9"/>
                </a:cxn>
                <a:cxn ang="0">
                  <a:pos x="T10" y="T11"/>
                </a:cxn>
              </a:cxnLst>
              <a:rect l="0" t="0" r="r" b="b"/>
              <a:pathLst>
                <a:path w="66" h="131">
                  <a:moveTo>
                    <a:pt x="66" y="131"/>
                  </a:moveTo>
                  <a:cubicBezTo>
                    <a:pt x="61" y="107"/>
                    <a:pt x="42" y="83"/>
                    <a:pt x="23" y="68"/>
                  </a:cubicBezTo>
                  <a:cubicBezTo>
                    <a:pt x="0" y="51"/>
                    <a:pt x="4" y="25"/>
                    <a:pt x="4" y="25"/>
                  </a:cubicBezTo>
                  <a:cubicBezTo>
                    <a:pt x="21" y="0"/>
                    <a:pt x="41" y="5"/>
                    <a:pt x="57" y="16"/>
                  </a:cubicBezTo>
                  <a:cubicBezTo>
                    <a:pt x="59" y="43"/>
                    <a:pt x="62" y="74"/>
                    <a:pt x="64" y="99"/>
                  </a:cubicBezTo>
                  <a:cubicBezTo>
                    <a:pt x="65" y="111"/>
                    <a:pt x="65" y="123"/>
                    <a:pt x="66" y="131"/>
                  </a:cubicBezTo>
                  <a:close/>
                </a:path>
              </a:pathLst>
            </a:custGeom>
            <a:gradFill flip="none" rotWithShape="1">
              <a:gsLst>
                <a:gs pos="100000">
                  <a:srgbClr val="7289F2">
                    <a:alpha val="0"/>
                  </a:srgbClr>
                </a:gs>
                <a:gs pos="26000">
                  <a:srgbClr val="7289F2">
                    <a:alpha val="54000"/>
                  </a:srgbClr>
                </a:gs>
              </a:gsLst>
              <a:lin ang="7800000" scaled="0"/>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Shape 21">
              <a:extLst>
                <a:ext uri="{FF2B5EF4-FFF2-40B4-BE49-F238E27FC236}">
                  <a16:creationId xmlns:a16="http://schemas.microsoft.com/office/drawing/2014/main" id="{D1D8B039-3C85-439E-9B4E-0AE3B0227E37}"/>
                </a:ext>
              </a:extLst>
            </p:cNvPr>
            <p:cNvSpPr/>
            <p:nvPr/>
          </p:nvSpPr>
          <p:spPr>
            <a:xfrm rot="20364014">
              <a:off x="6924390" y="4583236"/>
              <a:ext cx="305126" cy="641501"/>
            </a:xfrm>
            <a:custGeom>
              <a:avLst/>
              <a:gdLst>
                <a:gd name="connsiteX0" fmla="*/ 793 w 453638"/>
                <a:gd name="connsiteY0" fmla="*/ 10752 h 953733"/>
                <a:gd name="connsiteX1" fmla="*/ 331787 w 453638"/>
                <a:gd name="connsiteY1" fmla="*/ 467952 h 953733"/>
                <a:gd name="connsiteX2" fmla="*/ 436562 w 453638"/>
                <a:gd name="connsiteY2" fmla="*/ 944202 h 953733"/>
                <a:gd name="connsiteX3" fmla="*/ 793 w 453638"/>
                <a:gd name="connsiteY3" fmla="*/ 10752 h 953733"/>
              </a:gdLst>
              <a:ahLst/>
              <a:cxnLst>
                <a:cxn ang="0">
                  <a:pos x="connsiteX0" y="connsiteY0"/>
                </a:cxn>
                <a:cxn ang="0">
                  <a:pos x="connsiteX1" y="connsiteY1"/>
                </a:cxn>
                <a:cxn ang="0">
                  <a:pos x="connsiteX2" y="connsiteY2"/>
                </a:cxn>
                <a:cxn ang="0">
                  <a:pos x="connsiteX3" y="connsiteY3"/>
                </a:cxn>
              </a:cxnLst>
              <a:rect l="l" t="t" r="r" b="b"/>
              <a:pathLst>
                <a:path w="453638" h="953733">
                  <a:moveTo>
                    <a:pt x="793" y="10752"/>
                  </a:moveTo>
                  <a:cubicBezTo>
                    <a:pt x="-16669" y="-68623"/>
                    <a:pt x="259159" y="312377"/>
                    <a:pt x="331787" y="467952"/>
                  </a:cubicBezTo>
                  <a:cubicBezTo>
                    <a:pt x="404415" y="623527"/>
                    <a:pt x="490934" y="1020005"/>
                    <a:pt x="436562" y="944202"/>
                  </a:cubicBezTo>
                  <a:cubicBezTo>
                    <a:pt x="382190" y="868399"/>
                    <a:pt x="18255" y="90127"/>
                    <a:pt x="793" y="10752"/>
                  </a:cubicBezTo>
                  <a:close/>
                </a:path>
              </a:pathLst>
            </a:custGeom>
            <a:gradFill flip="none" rotWithShape="1">
              <a:gsLst>
                <a:gs pos="100000">
                  <a:srgbClr val="7289F2">
                    <a:alpha val="0"/>
                  </a:srgbClr>
                </a:gs>
                <a:gs pos="26000">
                  <a:srgbClr val="7289F2">
                    <a:alpha val="54000"/>
                  </a:srgbClr>
                </a:gs>
              </a:gsLst>
              <a:lin ang="7800000" scaled="0"/>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 name="Freeform 11">
              <a:extLst>
                <a:ext uri="{FF2B5EF4-FFF2-40B4-BE49-F238E27FC236}">
                  <a16:creationId xmlns:a16="http://schemas.microsoft.com/office/drawing/2014/main" id="{9C6C3AB2-1F41-4F9F-A40A-34C6948A2EEB}"/>
                </a:ext>
              </a:extLst>
            </p:cNvPr>
            <p:cNvSpPr>
              <a:spLocks/>
            </p:cNvSpPr>
            <p:nvPr/>
          </p:nvSpPr>
          <p:spPr bwMode="auto">
            <a:xfrm>
              <a:off x="6065838" y="4297363"/>
              <a:ext cx="1435100" cy="1168400"/>
            </a:xfrm>
            <a:custGeom>
              <a:avLst/>
              <a:gdLst>
                <a:gd name="T0" fmla="*/ 11 w 250"/>
                <a:gd name="T1" fmla="*/ 49 h 204"/>
                <a:gd name="T2" fmla="*/ 103 w 250"/>
                <a:gd name="T3" fmla="*/ 27 h 204"/>
                <a:gd name="T4" fmla="*/ 211 w 250"/>
                <a:gd name="T5" fmla="*/ 135 h 204"/>
                <a:gd name="T6" fmla="*/ 179 w 250"/>
                <a:gd name="T7" fmla="*/ 196 h 204"/>
                <a:gd name="T8" fmla="*/ 10 w 250"/>
                <a:gd name="T9" fmla="*/ 49 h 204"/>
                <a:gd name="T10" fmla="*/ 11 w 250"/>
                <a:gd name="T11" fmla="*/ 49 h 204"/>
              </a:gdLst>
              <a:ahLst/>
              <a:cxnLst>
                <a:cxn ang="0">
                  <a:pos x="T0" y="T1"/>
                </a:cxn>
                <a:cxn ang="0">
                  <a:pos x="T2" y="T3"/>
                </a:cxn>
                <a:cxn ang="0">
                  <a:pos x="T4" y="T5"/>
                </a:cxn>
                <a:cxn ang="0">
                  <a:pos x="T6" y="T7"/>
                </a:cxn>
                <a:cxn ang="0">
                  <a:pos x="T8" y="T9"/>
                </a:cxn>
                <a:cxn ang="0">
                  <a:pos x="T10" y="T11"/>
                </a:cxn>
              </a:cxnLst>
              <a:rect l="0" t="0" r="r" b="b"/>
              <a:pathLst>
                <a:path w="250" h="204">
                  <a:moveTo>
                    <a:pt x="11" y="49"/>
                  </a:moveTo>
                  <a:cubicBezTo>
                    <a:pt x="25" y="11"/>
                    <a:pt x="73" y="0"/>
                    <a:pt x="103" y="27"/>
                  </a:cubicBezTo>
                  <a:cubicBezTo>
                    <a:pt x="136" y="58"/>
                    <a:pt x="187" y="105"/>
                    <a:pt x="211" y="135"/>
                  </a:cubicBezTo>
                  <a:cubicBezTo>
                    <a:pt x="250" y="180"/>
                    <a:pt x="199" y="204"/>
                    <a:pt x="179" y="196"/>
                  </a:cubicBezTo>
                  <a:cubicBezTo>
                    <a:pt x="117" y="171"/>
                    <a:pt x="0" y="117"/>
                    <a:pt x="10" y="49"/>
                  </a:cubicBezTo>
                  <a:cubicBezTo>
                    <a:pt x="10" y="49"/>
                    <a:pt x="11" y="49"/>
                    <a:pt x="11" y="49"/>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a:extLst>
                <a:ext uri="{FF2B5EF4-FFF2-40B4-BE49-F238E27FC236}">
                  <a16:creationId xmlns:a16="http://schemas.microsoft.com/office/drawing/2014/main" id="{53D9C9B8-8241-4452-98F4-6F4696E0228C}"/>
                </a:ext>
              </a:extLst>
            </p:cNvPr>
            <p:cNvSpPr>
              <a:spLocks/>
            </p:cNvSpPr>
            <p:nvPr/>
          </p:nvSpPr>
          <p:spPr bwMode="auto">
            <a:xfrm>
              <a:off x="5664200" y="3127375"/>
              <a:ext cx="809625" cy="1135063"/>
            </a:xfrm>
            <a:custGeom>
              <a:avLst/>
              <a:gdLst>
                <a:gd name="T0" fmla="*/ 138 w 141"/>
                <a:gd name="T1" fmla="*/ 142 h 198"/>
                <a:gd name="T2" fmla="*/ 136 w 141"/>
                <a:gd name="T3" fmla="*/ 150 h 198"/>
                <a:gd name="T4" fmla="*/ 134 w 141"/>
                <a:gd name="T5" fmla="*/ 170 h 198"/>
                <a:gd name="T6" fmla="*/ 128 w 141"/>
                <a:gd name="T7" fmla="*/ 178 h 198"/>
                <a:gd name="T8" fmla="*/ 125 w 141"/>
                <a:gd name="T9" fmla="*/ 179 h 198"/>
                <a:gd name="T10" fmla="*/ 115 w 141"/>
                <a:gd name="T11" fmla="*/ 178 h 198"/>
                <a:gd name="T12" fmla="*/ 109 w 141"/>
                <a:gd name="T13" fmla="*/ 198 h 198"/>
                <a:gd name="T14" fmla="*/ 108 w 141"/>
                <a:gd name="T15" fmla="*/ 197 h 198"/>
                <a:gd name="T16" fmla="*/ 71 w 141"/>
                <a:gd name="T17" fmla="*/ 188 h 198"/>
                <a:gd name="T18" fmla="*/ 71 w 141"/>
                <a:gd name="T19" fmla="*/ 188 h 198"/>
                <a:gd name="T20" fmla="*/ 70 w 141"/>
                <a:gd name="T21" fmla="*/ 188 h 198"/>
                <a:gd name="T22" fmla="*/ 25 w 141"/>
                <a:gd name="T23" fmla="*/ 186 h 198"/>
                <a:gd name="T24" fmla="*/ 26 w 141"/>
                <a:gd name="T25" fmla="*/ 157 h 198"/>
                <a:gd name="T26" fmla="*/ 19 w 141"/>
                <a:gd name="T27" fmla="*/ 125 h 198"/>
                <a:gd name="T28" fmla="*/ 9 w 141"/>
                <a:gd name="T29" fmla="*/ 99 h 198"/>
                <a:gd name="T30" fmla="*/ 0 w 141"/>
                <a:gd name="T31" fmla="*/ 72 h 198"/>
                <a:gd name="T32" fmla="*/ 34 w 141"/>
                <a:gd name="T33" fmla="*/ 18 h 198"/>
                <a:gd name="T34" fmla="*/ 57 w 141"/>
                <a:gd name="T35" fmla="*/ 7 h 198"/>
                <a:gd name="T36" fmla="*/ 76 w 141"/>
                <a:gd name="T37" fmla="*/ 0 h 198"/>
                <a:gd name="T38" fmla="*/ 92 w 141"/>
                <a:gd name="T39" fmla="*/ 9 h 198"/>
                <a:gd name="T40" fmla="*/ 112 w 141"/>
                <a:gd name="T41" fmla="*/ 11 h 198"/>
                <a:gd name="T42" fmla="*/ 124 w 141"/>
                <a:gd name="T43" fmla="*/ 24 h 198"/>
                <a:gd name="T44" fmla="*/ 134 w 141"/>
                <a:gd name="T45" fmla="*/ 37 h 198"/>
                <a:gd name="T46" fmla="*/ 134 w 141"/>
                <a:gd name="T47" fmla="*/ 38 h 198"/>
                <a:gd name="T48" fmla="*/ 134 w 141"/>
                <a:gd name="T49" fmla="*/ 38 h 198"/>
                <a:gd name="T50" fmla="*/ 133 w 141"/>
                <a:gd name="T51" fmla="*/ 39 h 198"/>
                <a:gd name="T52" fmla="*/ 132 w 141"/>
                <a:gd name="T53" fmla="*/ 41 h 198"/>
                <a:gd name="T54" fmla="*/ 131 w 141"/>
                <a:gd name="T55" fmla="*/ 42 h 198"/>
                <a:gd name="T56" fmla="*/ 130 w 141"/>
                <a:gd name="T57" fmla="*/ 42 h 198"/>
                <a:gd name="T58" fmla="*/ 129 w 141"/>
                <a:gd name="T59" fmla="*/ 43 h 198"/>
                <a:gd name="T60" fmla="*/ 129 w 141"/>
                <a:gd name="T61" fmla="*/ 43 h 198"/>
                <a:gd name="T62" fmla="*/ 138 w 141"/>
                <a:gd name="T63" fmla="*/ 90 h 198"/>
                <a:gd name="T64" fmla="*/ 139 w 141"/>
                <a:gd name="T65" fmla="*/ 113 h 198"/>
                <a:gd name="T66" fmla="*/ 138 w 141"/>
                <a:gd name="T67" fmla="*/ 142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1" h="198">
                  <a:moveTo>
                    <a:pt x="138" y="142"/>
                  </a:moveTo>
                  <a:cubicBezTo>
                    <a:pt x="138" y="145"/>
                    <a:pt x="137" y="147"/>
                    <a:pt x="136" y="150"/>
                  </a:cubicBezTo>
                  <a:cubicBezTo>
                    <a:pt x="136" y="151"/>
                    <a:pt x="135" y="166"/>
                    <a:pt x="134" y="170"/>
                  </a:cubicBezTo>
                  <a:cubicBezTo>
                    <a:pt x="134" y="172"/>
                    <a:pt x="132" y="177"/>
                    <a:pt x="128" y="178"/>
                  </a:cubicBezTo>
                  <a:cubicBezTo>
                    <a:pt x="127" y="179"/>
                    <a:pt x="126" y="179"/>
                    <a:pt x="125" y="179"/>
                  </a:cubicBezTo>
                  <a:cubicBezTo>
                    <a:pt x="118" y="178"/>
                    <a:pt x="115" y="178"/>
                    <a:pt x="115" y="178"/>
                  </a:cubicBezTo>
                  <a:cubicBezTo>
                    <a:pt x="115" y="178"/>
                    <a:pt x="108" y="189"/>
                    <a:pt x="109" y="198"/>
                  </a:cubicBezTo>
                  <a:cubicBezTo>
                    <a:pt x="109" y="198"/>
                    <a:pt x="109" y="197"/>
                    <a:pt x="108" y="197"/>
                  </a:cubicBezTo>
                  <a:cubicBezTo>
                    <a:pt x="106" y="195"/>
                    <a:pt x="91" y="191"/>
                    <a:pt x="71" y="188"/>
                  </a:cubicBezTo>
                  <a:cubicBezTo>
                    <a:pt x="71" y="188"/>
                    <a:pt x="71" y="188"/>
                    <a:pt x="71" y="188"/>
                  </a:cubicBezTo>
                  <a:cubicBezTo>
                    <a:pt x="71" y="188"/>
                    <a:pt x="70" y="188"/>
                    <a:pt x="70" y="188"/>
                  </a:cubicBezTo>
                  <a:cubicBezTo>
                    <a:pt x="57" y="186"/>
                    <a:pt x="41" y="185"/>
                    <a:pt x="25" y="186"/>
                  </a:cubicBezTo>
                  <a:cubicBezTo>
                    <a:pt x="25" y="186"/>
                    <a:pt x="27" y="173"/>
                    <a:pt x="26" y="157"/>
                  </a:cubicBezTo>
                  <a:cubicBezTo>
                    <a:pt x="25" y="147"/>
                    <a:pt x="23" y="135"/>
                    <a:pt x="19" y="125"/>
                  </a:cubicBezTo>
                  <a:cubicBezTo>
                    <a:pt x="15" y="116"/>
                    <a:pt x="12" y="107"/>
                    <a:pt x="9" y="99"/>
                  </a:cubicBezTo>
                  <a:cubicBezTo>
                    <a:pt x="4" y="84"/>
                    <a:pt x="0" y="73"/>
                    <a:pt x="0" y="72"/>
                  </a:cubicBezTo>
                  <a:cubicBezTo>
                    <a:pt x="0" y="71"/>
                    <a:pt x="4" y="33"/>
                    <a:pt x="34" y="18"/>
                  </a:cubicBezTo>
                  <a:cubicBezTo>
                    <a:pt x="34" y="18"/>
                    <a:pt x="49" y="6"/>
                    <a:pt x="57" y="7"/>
                  </a:cubicBezTo>
                  <a:cubicBezTo>
                    <a:pt x="66" y="8"/>
                    <a:pt x="72" y="0"/>
                    <a:pt x="76" y="0"/>
                  </a:cubicBezTo>
                  <a:cubicBezTo>
                    <a:pt x="80" y="0"/>
                    <a:pt x="85" y="7"/>
                    <a:pt x="92" y="9"/>
                  </a:cubicBezTo>
                  <a:cubicBezTo>
                    <a:pt x="100" y="12"/>
                    <a:pt x="107" y="7"/>
                    <a:pt x="112" y="11"/>
                  </a:cubicBezTo>
                  <a:cubicBezTo>
                    <a:pt x="116" y="14"/>
                    <a:pt x="121" y="24"/>
                    <a:pt x="124" y="24"/>
                  </a:cubicBezTo>
                  <a:cubicBezTo>
                    <a:pt x="127" y="24"/>
                    <a:pt x="136" y="31"/>
                    <a:pt x="134" y="37"/>
                  </a:cubicBezTo>
                  <a:cubicBezTo>
                    <a:pt x="134" y="38"/>
                    <a:pt x="134" y="38"/>
                    <a:pt x="134" y="38"/>
                  </a:cubicBezTo>
                  <a:cubicBezTo>
                    <a:pt x="134" y="38"/>
                    <a:pt x="134" y="38"/>
                    <a:pt x="134" y="38"/>
                  </a:cubicBezTo>
                  <a:cubicBezTo>
                    <a:pt x="134" y="39"/>
                    <a:pt x="134" y="39"/>
                    <a:pt x="133" y="39"/>
                  </a:cubicBezTo>
                  <a:cubicBezTo>
                    <a:pt x="133" y="40"/>
                    <a:pt x="133" y="40"/>
                    <a:pt x="132" y="41"/>
                  </a:cubicBezTo>
                  <a:cubicBezTo>
                    <a:pt x="132" y="41"/>
                    <a:pt x="131" y="41"/>
                    <a:pt x="131" y="42"/>
                  </a:cubicBezTo>
                  <a:cubicBezTo>
                    <a:pt x="131" y="42"/>
                    <a:pt x="130" y="42"/>
                    <a:pt x="130" y="42"/>
                  </a:cubicBezTo>
                  <a:cubicBezTo>
                    <a:pt x="130" y="43"/>
                    <a:pt x="130" y="43"/>
                    <a:pt x="129" y="43"/>
                  </a:cubicBezTo>
                  <a:cubicBezTo>
                    <a:pt x="129" y="43"/>
                    <a:pt x="129" y="43"/>
                    <a:pt x="129" y="43"/>
                  </a:cubicBezTo>
                  <a:cubicBezTo>
                    <a:pt x="129" y="43"/>
                    <a:pt x="139" y="82"/>
                    <a:pt x="138" y="90"/>
                  </a:cubicBezTo>
                  <a:cubicBezTo>
                    <a:pt x="138" y="97"/>
                    <a:pt x="137" y="106"/>
                    <a:pt x="139" y="113"/>
                  </a:cubicBezTo>
                  <a:cubicBezTo>
                    <a:pt x="141" y="118"/>
                    <a:pt x="141" y="129"/>
                    <a:pt x="138" y="142"/>
                  </a:cubicBezTo>
                  <a:close/>
                </a:path>
              </a:pathLst>
            </a:custGeom>
            <a:solidFill>
              <a:srgbClr val="F8F3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a:extLst>
                <a:ext uri="{FF2B5EF4-FFF2-40B4-BE49-F238E27FC236}">
                  <a16:creationId xmlns:a16="http://schemas.microsoft.com/office/drawing/2014/main" id="{104737AB-59A7-4247-842C-6F97799DA28F}"/>
                </a:ext>
              </a:extLst>
            </p:cNvPr>
            <p:cNvSpPr>
              <a:spLocks/>
            </p:cNvSpPr>
            <p:nvPr/>
          </p:nvSpPr>
          <p:spPr bwMode="auto">
            <a:xfrm>
              <a:off x="5664200" y="3127375"/>
              <a:ext cx="781050" cy="900113"/>
            </a:xfrm>
            <a:custGeom>
              <a:avLst/>
              <a:gdLst>
                <a:gd name="T0" fmla="*/ 134 w 136"/>
                <a:gd name="T1" fmla="*/ 37 h 157"/>
                <a:gd name="T2" fmla="*/ 134 w 136"/>
                <a:gd name="T3" fmla="*/ 38 h 157"/>
                <a:gd name="T4" fmla="*/ 134 w 136"/>
                <a:gd name="T5" fmla="*/ 38 h 157"/>
                <a:gd name="T6" fmla="*/ 133 w 136"/>
                <a:gd name="T7" fmla="*/ 39 h 157"/>
                <a:gd name="T8" fmla="*/ 132 w 136"/>
                <a:gd name="T9" fmla="*/ 41 h 157"/>
                <a:gd name="T10" fmla="*/ 129 w 136"/>
                <a:gd name="T11" fmla="*/ 43 h 157"/>
                <a:gd name="T12" fmla="*/ 129 w 136"/>
                <a:gd name="T13" fmla="*/ 43 h 157"/>
                <a:gd name="T14" fmla="*/ 127 w 136"/>
                <a:gd name="T15" fmla="*/ 79 h 157"/>
                <a:gd name="T16" fmla="*/ 97 w 136"/>
                <a:gd name="T17" fmla="*/ 111 h 157"/>
                <a:gd name="T18" fmla="*/ 85 w 136"/>
                <a:gd name="T19" fmla="*/ 140 h 157"/>
                <a:gd name="T20" fmla="*/ 85 w 136"/>
                <a:gd name="T21" fmla="*/ 157 h 157"/>
                <a:gd name="T22" fmla="*/ 26 w 136"/>
                <a:gd name="T23" fmla="*/ 157 h 157"/>
                <a:gd name="T24" fmla="*/ 19 w 136"/>
                <a:gd name="T25" fmla="*/ 125 h 157"/>
                <a:gd name="T26" fmla="*/ 9 w 136"/>
                <a:gd name="T27" fmla="*/ 99 h 157"/>
                <a:gd name="T28" fmla="*/ 0 w 136"/>
                <a:gd name="T29" fmla="*/ 72 h 157"/>
                <a:gd name="T30" fmla="*/ 34 w 136"/>
                <a:gd name="T31" fmla="*/ 18 h 157"/>
                <a:gd name="T32" fmla="*/ 57 w 136"/>
                <a:gd name="T33" fmla="*/ 7 h 157"/>
                <a:gd name="T34" fmla="*/ 76 w 136"/>
                <a:gd name="T35" fmla="*/ 0 h 157"/>
                <a:gd name="T36" fmla="*/ 92 w 136"/>
                <a:gd name="T37" fmla="*/ 9 h 157"/>
                <a:gd name="T38" fmla="*/ 112 w 136"/>
                <a:gd name="T39" fmla="*/ 11 h 157"/>
                <a:gd name="T40" fmla="*/ 124 w 136"/>
                <a:gd name="T41" fmla="*/ 24 h 157"/>
                <a:gd name="T42" fmla="*/ 134 w 136"/>
                <a:gd name="T43" fmla="*/ 3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157">
                  <a:moveTo>
                    <a:pt x="134" y="37"/>
                  </a:moveTo>
                  <a:cubicBezTo>
                    <a:pt x="134" y="38"/>
                    <a:pt x="134" y="38"/>
                    <a:pt x="134" y="38"/>
                  </a:cubicBezTo>
                  <a:cubicBezTo>
                    <a:pt x="134" y="38"/>
                    <a:pt x="134" y="38"/>
                    <a:pt x="134" y="38"/>
                  </a:cubicBezTo>
                  <a:cubicBezTo>
                    <a:pt x="134" y="39"/>
                    <a:pt x="134" y="39"/>
                    <a:pt x="133" y="39"/>
                  </a:cubicBezTo>
                  <a:cubicBezTo>
                    <a:pt x="133" y="40"/>
                    <a:pt x="133" y="40"/>
                    <a:pt x="132" y="41"/>
                  </a:cubicBezTo>
                  <a:cubicBezTo>
                    <a:pt x="131" y="42"/>
                    <a:pt x="130" y="43"/>
                    <a:pt x="129" y="43"/>
                  </a:cubicBezTo>
                  <a:cubicBezTo>
                    <a:pt x="129" y="43"/>
                    <a:pt x="129" y="43"/>
                    <a:pt x="129" y="43"/>
                  </a:cubicBezTo>
                  <a:cubicBezTo>
                    <a:pt x="127" y="79"/>
                    <a:pt x="127" y="79"/>
                    <a:pt x="127" y="79"/>
                  </a:cubicBezTo>
                  <a:cubicBezTo>
                    <a:pt x="97" y="111"/>
                    <a:pt x="97" y="111"/>
                    <a:pt x="97" y="111"/>
                  </a:cubicBezTo>
                  <a:cubicBezTo>
                    <a:pt x="89" y="119"/>
                    <a:pt x="85" y="129"/>
                    <a:pt x="85" y="140"/>
                  </a:cubicBezTo>
                  <a:cubicBezTo>
                    <a:pt x="85" y="157"/>
                    <a:pt x="85" y="157"/>
                    <a:pt x="85" y="157"/>
                  </a:cubicBezTo>
                  <a:cubicBezTo>
                    <a:pt x="26" y="157"/>
                    <a:pt x="26" y="157"/>
                    <a:pt x="26" y="157"/>
                  </a:cubicBezTo>
                  <a:cubicBezTo>
                    <a:pt x="25" y="147"/>
                    <a:pt x="23" y="135"/>
                    <a:pt x="19" y="125"/>
                  </a:cubicBezTo>
                  <a:cubicBezTo>
                    <a:pt x="15" y="116"/>
                    <a:pt x="12" y="107"/>
                    <a:pt x="9" y="99"/>
                  </a:cubicBezTo>
                  <a:cubicBezTo>
                    <a:pt x="4" y="84"/>
                    <a:pt x="0" y="73"/>
                    <a:pt x="0" y="72"/>
                  </a:cubicBezTo>
                  <a:cubicBezTo>
                    <a:pt x="0" y="71"/>
                    <a:pt x="4" y="33"/>
                    <a:pt x="34" y="18"/>
                  </a:cubicBezTo>
                  <a:cubicBezTo>
                    <a:pt x="34" y="18"/>
                    <a:pt x="49" y="6"/>
                    <a:pt x="57" y="7"/>
                  </a:cubicBezTo>
                  <a:cubicBezTo>
                    <a:pt x="66" y="8"/>
                    <a:pt x="72" y="0"/>
                    <a:pt x="76" y="0"/>
                  </a:cubicBezTo>
                  <a:cubicBezTo>
                    <a:pt x="80" y="0"/>
                    <a:pt x="85" y="7"/>
                    <a:pt x="92" y="9"/>
                  </a:cubicBezTo>
                  <a:cubicBezTo>
                    <a:pt x="100" y="12"/>
                    <a:pt x="107" y="7"/>
                    <a:pt x="112" y="11"/>
                  </a:cubicBezTo>
                  <a:cubicBezTo>
                    <a:pt x="116" y="14"/>
                    <a:pt x="121" y="24"/>
                    <a:pt x="124" y="24"/>
                  </a:cubicBezTo>
                  <a:cubicBezTo>
                    <a:pt x="127" y="24"/>
                    <a:pt x="136" y="31"/>
                    <a:pt x="134" y="37"/>
                  </a:cubicBezTo>
                  <a:close/>
                </a:path>
              </a:pathLst>
            </a:custGeom>
            <a:gradFill>
              <a:gsLst>
                <a:gs pos="75000">
                  <a:srgbClr val="F7BDBB"/>
                </a:gs>
                <a:gs pos="100000">
                  <a:srgbClr val="F7BDBB">
                    <a:alpha val="0"/>
                  </a:srgbClr>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14">
              <a:extLst>
                <a:ext uri="{FF2B5EF4-FFF2-40B4-BE49-F238E27FC236}">
                  <a16:creationId xmlns:a16="http://schemas.microsoft.com/office/drawing/2014/main" id="{A4EE508E-C139-4549-AD46-4E5E82F754BB}"/>
                </a:ext>
              </a:extLst>
            </p:cNvPr>
            <p:cNvSpPr>
              <a:spLocks/>
            </p:cNvSpPr>
            <p:nvPr/>
          </p:nvSpPr>
          <p:spPr bwMode="auto">
            <a:xfrm>
              <a:off x="5664200" y="3127375"/>
              <a:ext cx="781050" cy="566738"/>
            </a:xfrm>
            <a:custGeom>
              <a:avLst/>
              <a:gdLst>
                <a:gd name="T0" fmla="*/ 134 w 136"/>
                <a:gd name="T1" fmla="*/ 37 h 99"/>
                <a:gd name="T2" fmla="*/ 134 w 136"/>
                <a:gd name="T3" fmla="*/ 38 h 99"/>
                <a:gd name="T4" fmla="*/ 134 w 136"/>
                <a:gd name="T5" fmla="*/ 38 h 99"/>
                <a:gd name="T6" fmla="*/ 133 w 136"/>
                <a:gd name="T7" fmla="*/ 39 h 99"/>
                <a:gd name="T8" fmla="*/ 132 w 136"/>
                <a:gd name="T9" fmla="*/ 41 h 99"/>
                <a:gd name="T10" fmla="*/ 131 w 136"/>
                <a:gd name="T11" fmla="*/ 42 h 99"/>
                <a:gd name="T12" fmla="*/ 130 w 136"/>
                <a:gd name="T13" fmla="*/ 42 h 99"/>
                <a:gd name="T14" fmla="*/ 129 w 136"/>
                <a:gd name="T15" fmla="*/ 43 h 99"/>
                <a:gd name="T16" fmla="*/ 129 w 136"/>
                <a:gd name="T17" fmla="*/ 43 h 99"/>
                <a:gd name="T18" fmla="*/ 72 w 136"/>
                <a:gd name="T19" fmla="*/ 96 h 99"/>
                <a:gd name="T20" fmla="*/ 70 w 136"/>
                <a:gd name="T21" fmla="*/ 99 h 99"/>
                <a:gd name="T22" fmla="*/ 9 w 136"/>
                <a:gd name="T23" fmla="*/ 99 h 99"/>
                <a:gd name="T24" fmla="*/ 0 w 136"/>
                <a:gd name="T25" fmla="*/ 72 h 99"/>
                <a:gd name="T26" fmla="*/ 34 w 136"/>
                <a:gd name="T27" fmla="*/ 18 h 99"/>
                <a:gd name="T28" fmla="*/ 57 w 136"/>
                <a:gd name="T29" fmla="*/ 7 h 99"/>
                <a:gd name="T30" fmla="*/ 76 w 136"/>
                <a:gd name="T31" fmla="*/ 0 h 99"/>
                <a:gd name="T32" fmla="*/ 92 w 136"/>
                <a:gd name="T33" fmla="*/ 9 h 99"/>
                <a:gd name="T34" fmla="*/ 112 w 136"/>
                <a:gd name="T35" fmla="*/ 11 h 99"/>
                <a:gd name="T36" fmla="*/ 124 w 136"/>
                <a:gd name="T37" fmla="*/ 24 h 99"/>
                <a:gd name="T38" fmla="*/ 134 w 136"/>
                <a:gd name="T39"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99">
                  <a:moveTo>
                    <a:pt x="134" y="37"/>
                  </a:moveTo>
                  <a:cubicBezTo>
                    <a:pt x="134" y="38"/>
                    <a:pt x="134" y="38"/>
                    <a:pt x="134" y="38"/>
                  </a:cubicBezTo>
                  <a:cubicBezTo>
                    <a:pt x="134" y="38"/>
                    <a:pt x="134" y="38"/>
                    <a:pt x="134" y="38"/>
                  </a:cubicBezTo>
                  <a:cubicBezTo>
                    <a:pt x="134" y="39"/>
                    <a:pt x="134" y="39"/>
                    <a:pt x="133" y="39"/>
                  </a:cubicBezTo>
                  <a:cubicBezTo>
                    <a:pt x="133" y="40"/>
                    <a:pt x="133" y="40"/>
                    <a:pt x="132" y="41"/>
                  </a:cubicBezTo>
                  <a:cubicBezTo>
                    <a:pt x="132" y="41"/>
                    <a:pt x="131" y="41"/>
                    <a:pt x="131" y="42"/>
                  </a:cubicBezTo>
                  <a:cubicBezTo>
                    <a:pt x="131" y="42"/>
                    <a:pt x="130" y="42"/>
                    <a:pt x="130" y="42"/>
                  </a:cubicBezTo>
                  <a:cubicBezTo>
                    <a:pt x="130" y="43"/>
                    <a:pt x="130" y="43"/>
                    <a:pt x="129" y="43"/>
                  </a:cubicBezTo>
                  <a:cubicBezTo>
                    <a:pt x="129" y="43"/>
                    <a:pt x="129" y="43"/>
                    <a:pt x="129" y="43"/>
                  </a:cubicBezTo>
                  <a:cubicBezTo>
                    <a:pt x="124" y="45"/>
                    <a:pt x="107" y="51"/>
                    <a:pt x="72" y="96"/>
                  </a:cubicBezTo>
                  <a:cubicBezTo>
                    <a:pt x="72" y="97"/>
                    <a:pt x="71" y="98"/>
                    <a:pt x="70" y="99"/>
                  </a:cubicBezTo>
                  <a:cubicBezTo>
                    <a:pt x="9" y="99"/>
                    <a:pt x="9" y="99"/>
                    <a:pt x="9" y="99"/>
                  </a:cubicBezTo>
                  <a:cubicBezTo>
                    <a:pt x="4" y="84"/>
                    <a:pt x="0" y="73"/>
                    <a:pt x="0" y="72"/>
                  </a:cubicBezTo>
                  <a:cubicBezTo>
                    <a:pt x="0" y="71"/>
                    <a:pt x="4" y="33"/>
                    <a:pt x="34" y="18"/>
                  </a:cubicBezTo>
                  <a:cubicBezTo>
                    <a:pt x="34" y="18"/>
                    <a:pt x="49" y="6"/>
                    <a:pt x="57" y="7"/>
                  </a:cubicBezTo>
                  <a:cubicBezTo>
                    <a:pt x="66" y="8"/>
                    <a:pt x="72" y="0"/>
                    <a:pt x="76" y="0"/>
                  </a:cubicBezTo>
                  <a:cubicBezTo>
                    <a:pt x="80" y="0"/>
                    <a:pt x="85" y="7"/>
                    <a:pt x="92" y="9"/>
                  </a:cubicBezTo>
                  <a:cubicBezTo>
                    <a:pt x="100" y="12"/>
                    <a:pt x="107" y="7"/>
                    <a:pt x="112" y="11"/>
                  </a:cubicBezTo>
                  <a:cubicBezTo>
                    <a:pt x="116" y="14"/>
                    <a:pt x="121" y="24"/>
                    <a:pt x="124" y="24"/>
                  </a:cubicBezTo>
                  <a:cubicBezTo>
                    <a:pt x="127" y="24"/>
                    <a:pt x="136" y="31"/>
                    <a:pt x="134" y="37"/>
                  </a:cubicBezTo>
                  <a:close/>
                </a:path>
              </a:pathLst>
            </a:custGeom>
            <a:solidFill>
              <a:srgbClr val="FA9F9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15">
              <a:extLst>
                <a:ext uri="{FF2B5EF4-FFF2-40B4-BE49-F238E27FC236}">
                  <a16:creationId xmlns:a16="http://schemas.microsoft.com/office/drawing/2014/main" id="{59F122DD-9773-48CA-B36A-41383E8FF7A4}"/>
                </a:ext>
              </a:extLst>
            </p:cNvPr>
            <p:cNvSpPr>
              <a:spLocks/>
            </p:cNvSpPr>
            <p:nvPr/>
          </p:nvSpPr>
          <p:spPr bwMode="auto">
            <a:xfrm>
              <a:off x="6289675" y="3775075"/>
              <a:ext cx="68263" cy="92075"/>
            </a:xfrm>
            <a:custGeom>
              <a:avLst/>
              <a:gdLst>
                <a:gd name="T0" fmla="*/ 0 w 12"/>
                <a:gd name="T1" fmla="*/ 4 h 16"/>
                <a:gd name="T2" fmla="*/ 6 w 12"/>
                <a:gd name="T3" fmla="*/ 8 h 16"/>
                <a:gd name="T4" fmla="*/ 12 w 12"/>
                <a:gd name="T5" fmla="*/ 16 h 16"/>
                <a:gd name="T6" fmla="*/ 0 w 12"/>
                <a:gd name="T7" fmla="*/ 4 h 16"/>
              </a:gdLst>
              <a:ahLst/>
              <a:cxnLst>
                <a:cxn ang="0">
                  <a:pos x="T0" y="T1"/>
                </a:cxn>
                <a:cxn ang="0">
                  <a:pos x="T2" y="T3"/>
                </a:cxn>
                <a:cxn ang="0">
                  <a:pos x="T4" y="T5"/>
                </a:cxn>
                <a:cxn ang="0">
                  <a:pos x="T6" y="T7"/>
                </a:cxn>
              </a:cxnLst>
              <a:rect l="0" t="0" r="r" b="b"/>
              <a:pathLst>
                <a:path w="12" h="16">
                  <a:moveTo>
                    <a:pt x="0" y="4"/>
                  </a:moveTo>
                  <a:cubicBezTo>
                    <a:pt x="0" y="0"/>
                    <a:pt x="4" y="3"/>
                    <a:pt x="6" y="8"/>
                  </a:cubicBezTo>
                  <a:cubicBezTo>
                    <a:pt x="7" y="13"/>
                    <a:pt x="11" y="16"/>
                    <a:pt x="12" y="16"/>
                  </a:cubicBezTo>
                  <a:cubicBezTo>
                    <a:pt x="12" y="16"/>
                    <a:pt x="1" y="14"/>
                    <a:pt x="0" y="4"/>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a:extLst>
                <a:ext uri="{FF2B5EF4-FFF2-40B4-BE49-F238E27FC236}">
                  <a16:creationId xmlns:a16="http://schemas.microsoft.com/office/drawing/2014/main" id="{0FEF4D20-2077-46B3-889D-C3694814510E}"/>
                </a:ext>
              </a:extLst>
            </p:cNvPr>
            <p:cNvSpPr>
              <a:spLocks/>
            </p:cNvSpPr>
            <p:nvPr/>
          </p:nvSpPr>
          <p:spPr bwMode="auto">
            <a:xfrm>
              <a:off x="6324600" y="3792538"/>
              <a:ext cx="131763" cy="360363"/>
            </a:xfrm>
            <a:custGeom>
              <a:avLst/>
              <a:gdLst>
                <a:gd name="T0" fmla="*/ 23 w 23"/>
                <a:gd name="T1" fmla="*/ 26 h 63"/>
                <a:gd name="T2" fmla="*/ 21 w 23"/>
                <a:gd name="T3" fmla="*/ 34 h 63"/>
                <a:gd name="T4" fmla="*/ 19 w 23"/>
                <a:gd name="T5" fmla="*/ 54 h 63"/>
                <a:gd name="T6" fmla="*/ 13 w 23"/>
                <a:gd name="T7" fmla="*/ 62 h 63"/>
                <a:gd name="T8" fmla="*/ 10 w 23"/>
                <a:gd name="T9" fmla="*/ 63 h 63"/>
                <a:gd name="T10" fmla="*/ 0 w 23"/>
                <a:gd name="T11" fmla="*/ 62 h 63"/>
                <a:gd name="T12" fmla="*/ 5 w 23"/>
                <a:gd name="T13" fmla="*/ 0 h 63"/>
                <a:gd name="T14" fmla="*/ 13 w 23"/>
                <a:gd name="T15" fmla="*/ 1 h 63"/>
                <a:gd name="T16" fmla="*/ 23 w 23"/>
                <a:gd name="T17" fmla="*/ 2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3">
                  <a:moveTo>
                    <a:pt x="23" y="26"/>
                  </a:moveTo>
                  <a:cubicBezTo>
                    <a:pt x="23" y="29"/>
                    <a:pt x="22" y="31"/>
                    <a:pt x="21" y="34"/>
                  </a:cubicBezTo>
                  <a:cubicBezTo>
                    <a:pt x="21" y="35"/>
                    <a:pt x="20" y="50"/>
                    <a:pt x="19" y="54"/>
                  </a:cubicBezTo>
                  <a:cubicBezTo>
                    <a:pt x="19" y="56"/>
                    <a:pt x="17" y="61"/>
                    <a:pt x="13" y="62"/>
                  </a:cubicBezTo>
                  <a:cubicBezTo>
                    <a:pt x="12" y="63"/>
                    <a:pt x="11" y="63"/>
                    <a:pt x="10" y="63"/>
                  </a:cubicBezTo>
                  <a:cubicBezTo>
                    <a:pt x="3" y="62"/>
                    <a:pt x="0" y="62"/>
                    <a:pt x="0" y="62"/>
                  </a:cubicBezTo>
                  <a:cubicBezTo>
                    <a:pt x="0" y="62"/>
                    <a:pt x="8" y="22"/>
                    <a:pt x="5" y="0"/>
                  </a:cubicBezTo>
                  <a:cubicBezTo>
                    <a:pt x="13" y="1"/>
                    <a:pt x="13" y="1"/>
                    <a:pt x="13" y="1"/>
                  </a:cubicBezTo>
                  <a:cubicBezTo>
                    <a:pt x="13" y="1"/>
                    <a:pt x="17" y="19"/>
                    <a:pt x="23" y="26"/>
                  </a:cubicBezTo>
                  <a:close/>
                </a:path>
              </a:pathLst>
            </a:custGeom>
            <a:solidFill>
              <a:srgbClr val="FA9F9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17">
              <a:extLst>
                <a:ext uri="{FF2B5EF4-FFF2-40B4-BE49-F238E27FC236}">
                  <a16:creationId xmlns:a16="http://schemas.microsoft.com/office/drawing/2014/main" id="{3E67FC6E-679C-4B7D-9F05-FF6856EDEB60}"/>
                </a:ext>
              </a:extLst>
            </p:cNvPr>
            <p:cNvSpPr>
              <a:spLocks/>
            </p:cNvSpPr>
            <p:nvPr/>
          </p:nvSpPr>
          <p:spPr bwMode="auto">
            <a:xfrm>
              <a:off x="6324600" y="4010025"/>
              <a:ext cx="74613" cy="142875"/>
            </a:xfrm>
            <a:custGeom>
              <a:avLst/>
              <a:gdLst>
                <a:gd name="T0" fmla="*/ 13 w 13"/>
                <a:gd name="T1" fmla="*/ 24 h 25"/>
                <a:gd name="T2" fmla="*/ 10 w 13"/>
                <a:gd name="T3" fmla="*/ 25 h 25"/>
                <a:gd name="T4" fmla="*/ 0 w 13"/>
                <a:gd name="T5" fmla="*/ 24 h 25"/>
                <a:gd name="T6" fmla="*/ 4 w 13"/>
                <a:gd name="T7" fmla="*/ 0 h 25"/>
                <a:gd name="T8" fmla="*/ 13 w 13"/>
                <a:gd name="T9" fmla="*/ 24 h 25"/>
              </a:gdLst>
              <a:ahLst/>
              <a:cxnLst>
                <a:cxn ang="0">
                  <a:pos x="T0" y="T1"/>
                </a:cxn>
                <a:cxn ang="0">
                  <a:pos x="T2" y="T3"/>
                </a:cxn>
                <a:cxn ang="0">
                  <a:pos x="T4" y="T5"/>
                </a:cxn>
                <a:cxn ang="0">
                  <a:pos x="T6" y="T7"/>
                </a:cxn>
                <a:cxn ang="0">
                  <a:pos x="T8" y="T9"/>
                </a:cxn>
              </a:cxnLst>
              <a:rect l="0" t="0" r="r" b="b"/>
              <a:pathLst>
                <a:path w="13" h="25">
                  <a:moveTo>
                    <a:pt x="13" y="24"/>
                  </a:moveTo>
                  <a:cubicBezTo>
                    <a:pt x="12" y="25"/>
                    <a:pt x="11" y="25"/>
                    <a:pt x="10" y="25"/>
                  </a:cubicBezTo>
                  <a:cubicBezTo>
                    <a:pt x="3" y="24"/>
                    <a:pt x="0" y="24"/>
                    <a:pt x="0" y="24"/>
                  </a:cubicBezTo>
                  <a:cubicBezTo>
                    <a:pt x="4" y="0"/>
                    <a:pt x="4" y="0"/>
                    <a:pt x="4" y="0"/>
                  </a:cubicBezTo>
                  <a:cubicBezTo>
                    <a:pt x="4" y="9"/>
                    <a:pt x="9" y="18"/>
                    <a:pt x="13" y="24"/>
                  </a:cubicBezTo>
                  <a:close/>
                </a:path>
              </a:pathLst>
            </a:custGeom>
            <a:gradFill>
              <a:gsLst>
                <a:gs pos="0">
                  <a:srgbClr val="4BC3E2">
                    <a:alpha val="63000"/>
                  </a:srgbClr>
                </a:gs>
                <a:gs pos="51000">
                  <a:srgbClr val="4BC3E2">
                    <a:alpha val="0"/>
                  </a:srgbClr>
                </a:gs>
              </a:gsLst>
              <a:lin ang="16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18">
              <a:extLst>
                <a:ext uri="{FF2B5EF4-FFF2-40B4-BE49-F238E27FC236}">
                  <a16:creationId xmlns:a16="http://schemas.microsoft.com/office/drawing/2014/main" id="{3E28299F-82DC-4BAC-A5BB-7B5EA5A95BC3}"/>
                </a:ext>
              </a:extLst>
            </p:cNvPr>
            <p:cNvSpPr>
              <a:spLocks noEditPoints="1"/>
            </p:cNvSpPr>
            <p:nvPr/>
          </p:nvSpPr>
          <p:spPr bwMode="auto">
            <a:xfrm>
              <a:off x="4832350" y="3162300"/>
              <a:ext cx="1503363" cy="2624138"/>
            </a:xfrm>
            <a:custGeom>
              <a:avLst/>
              <a:gdLst>
                <a:gd name="T0" fmla="*/ 258 w 262"/>
                <a:gd name="T1" fmla="*/ 413 h 458"/>
                <a:gd name="T2" fmla="*/ 208 w 262"/>
                <a:gd name="T3" fmla="*/ 314 h 458"/>
                <a:gd name="T4" fmla="*/ 214 w 262"/>
                <a:gd name="T5" fmla="*/ 201 h 458"/>
                <a:gd name="T6" fmla="*/ 225 w 262"/>
                <a:gd name="T7" fmla="*/ 192 h 458"/>
                <a:gd name="T8" fmla="*/ 217 w 262"/>
                <a:gd name="T9" fmla="*/ 182 h 458"/>
                <a:gd name="T10" fmla="*/ 216 w 262"/>
                <a:gd name="T11" fmla="*/ 182 h 458"/>
                <a:gd name="T12" fmla="*/ 216 w 262"/>
                <a:gd name="T13" fmla="*/ 182 h 458"/>
                <a:gd name="T14" fmla="*/ 215 w 262"/>
                <a:gd name="T15" fmla="*/ 182 h 458"/>
                <a:gd name="T16" fmla="*/ 215 w 262"/>
                <a:gd name="T17" fmla="*/ 182 h 458"/>
                <a:gd name="T18" fmla="*/ 213 w 262"/>
                <a:gd name="T19" fmla="*/ 151 h 458"/>
                <a:gd name="T20" fmla="*/ 217 w 262"/>
                <a:gd name="T21" fmla="*/ 90 h 458"/>
                <a:gd name="T22" fmla="*/ 222 w 262"/>
                <a:gd name="T23" fmla="*/ 56 h 458"/>
                <a:gd name="T24" fmla="*/ 202 w 262"/>
                <a:gd name="T25" fmla="*/ 1 h 458"/>
                <a:gd name="T26" fmla="*/ 179 w 262"/>
                <a:gd name="T27" fmla="*/ 12 h 458"/>
                <a:gd name="T28" fmla="*/ 145 w 262"/>
                <a:gd name="T29" fmla="*/ 66 h 458"/>
                <a:gd name="T30" fmla="*/ 154 w 262"/>
                <a:gd name="T31" fmla="*/ 93 h 458"/>
                <a:gd name="T32" fmla="*/ 164 w 262"/>
                <a:gd name="T33" fmla="*/ 119 h 458"/>
                <a:gd name="T34" fmla="*/ 171 w 262"/>
                <a:gd name="T35" fmla="*/ 151 h 458"/>
                <a:gd name="T36" fmla="*/ 170 w 262"/>
                <a:gd name="T37" fmla="*/ 180 h 458"/>
                <a:gd name="T38" fmla="*/ 149 w 262"/>
                <a:gd name="T39" fmla="*/ 196 h 458"/>
                <a:gd name="T40" fmla="*/ 94 w 262"/>
                <a:gd name="T41" fmla="*/ 213 h 458"/>
                <a:gd name="T42" fmla="*/ 94 w 262"/>
                <a:gd name="T43" fmla="*/ 213 h 458"/>
                <a:gd name="T44" fmla="*/ 38 w 262"/>
                <a:gd name="T45" fmla="*/ 292 h 458"/>
                <a:gd name="T46" fmla="*/ 23 w 262"/>
                <a:gd name="T47" fmla="*/ 408 h 458"/>
                <a:gd name="T48" fmla="*/ 104 w 262"/>
                <a:gd name="T49" fmla="*/ 409 h 458"/>
                <a:gd name="T50" fmla="*/ 104 w 262"/>
                <a:gd name="T51" fmla="*/ 413 h 458"/>
                <a:gd name="T52" fmla="*/ 109 w 262"/>
                <a:gd name="T53" fmla="*/ 458 h 458"/>
                <a:gd name="T54" fmla="*/ 260 w 262"/>
                <a:gd name="T55" fmla="*/ 458 h 458"/>
                <a:gd name="T56" fmla="*/ 258 w 262"/>
                <a:gd name="T57" fmla="*/ 413 h 458"/>
                <a:gd name="T58" fmla="*/ 76 w 262"/>
                <a:gd name="T59" fmla="*/ 350 h 458"/>
                <a:gd name="T60" fmla="*/ 95 w 262"/>
                <a:gd name="T61" fmla="*/ 329 h 458"/>
                <a:gd name="T62" fmla="*/ 97 w 262"/>
                <a:gd name="T63" fmla="*/ 350 h 458"/>
                <a:gd name="T64" fmla="*/ 76 w 262"/>
                <a:gd name="T65" fmla="*/ 35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2" h="458">
                  <a:moveTo>
                    <a:pt x="258" y="413"/>
                  </a:moveTo>
                  <a:cubicBezTo>
                    <a:pt x="250" y="382"/>
                    <a:pt x="229" y="355"/>
                    <a:pt x="208" y="314"/>
                  </a:cubicBezTo>
                  <a:cubicBezTo>
                    <a:pt x="177" y="255"/>
                    <a:pt x="214" y="201"/>
                    <a:pt x="214" y="201"/>
                  </a:cubicBezTo>
                  <a:cubicBezTo>
                    <a:pt x="214" y="201"/>
                    <a:pt x="223" y="201"/>
                    <a:pt x="225" y="192"/>
                  </a:cubicBezTo>
                  <a:cubicBezTo>
                    <a:pt x="226" y="185"/>
                    <a:pt x="220" y="183"/>
                    <a:pt x="217" y="182"/>
                  </a:cubicBezTo>
                  <a:cubicBezTo>
                    <a:pt x="217" y="182"/>
                    <a:pt x="216" y="182"/>
                    <a:pt x="216" y="182"/>
                  </a:cubicBezTo>
                  <a:cubicBezTo>
                    <a:pt x="216" y="182"/>
                    <a:pt x="216" y="182"/>
                    <a:pt x="216" y="182"/>
                  </a:cubicBezTo>
                  <a:cubicBezTo>
                    <a:pt x="216" y="182"/>
                    <a:pt x="215" y="182"/>
                    <a:pt x="215" y="182"/>
                  </a:cubicBezTo>
                  <a:cubicBezTo>
                    <a:pt x="215" y="182"/>
                    <a:pt x="215" y="182"/>
                    <a:pt x="215" y="182"/>
                  </a:cubicBezTo>
                  <a:cubicBezTo>
                    <a:pt x="214" y="177"/>
                    <a:pt x="213" y="166"/>
                    <a:pt x="213" y="151"/>
                  </a:cubicBezTo>
                  <a:cubicBezTo>
                    <a:pt x="214" y="133"/>
                    <a:pt x="215" y="111"/>
                    <a:pt x="217" y="90"/>
                  </a:cubicBezTo>
                  <a:cubicBezTo>
                    <a:pt x="219" y="78"/>
                    <a:pt x="220" y="66"/>
                    <a:pt x="222" y="56"/>
                  </a:cubicBezTo>
                  <a:cubicBezTo>
                    <a:pt x="229" y="19"/>
                    <a:pt x="202" y="1"/>
                    <a:pt x="202" y="1"/>
                  </a:cubicBezTo>
                  <a:cubicBezTo>
                    <a:pt x="194" y="0"/>
                    <a:pt x="179" y="12"/>
                    <a:pt x="179" y="12"/>
                  </a:cubicBezTo>
                  <a:cubicBezTo>
                    <a:pt x="149" y="27"/>
                    <a:pt x="145" y="65"/>
                    <a:pt x="145" y="66"/>
                  </a:cubicBezTo>
                  <a:cubicBezTo>
                    <a:pt x="145" y="67"/>
                    <a:pt x="149" y="78"/>
                    <a:pt x="154" y="93"/>
                  </a:cubicBezTo>
                  <a:cubicBezTo>
                    <a:pt x="157" y="101"/>
                    <a:pt x="160" y="110"/>
                    <a:pt x="164" y="119"/>
                  </a:cubicBezTo>
                  <a:cubicBezTo>
                    <a:pt x="168" y="129"/>
                    <a:pt x="170" y="141"/>
                    <a:pt x="171" y="151"/>
                  </a:cubicBezTo>
                  <a:cubicBezTo>
                    <a:pt x="172" y="167"/>
                    <a:pt x="170" y="180"/>
                    <a:pt x="170" y="180"/>
                  </a:cubicBezTo>
                  <a:cubicBezTo>
                    <a:pt x="154" y="181"/>
                    <a:pt x="149" y="196"/>
                    <a:pt x="149" y="196"/>
                  </a:cubicBezTo>
                  <a:cubicBezTo>
                    <a:pt x="149" y="196"/>
                    <a:pt x="103" y="205"/>
                    <a:pt x="94" y="213"/>
                  </a:cubicBezTo>
                  <a:cubicBezTo>
                    <a:pt x="94" y="213"/>
                    <a:pt x="94" y="213"/>
                    <a:pt x="94" y="213"/>
                  </a:cubicBezTo>
                  <a:cubicBezTo>
                    <a:pt x="80" y="219"/>
                    <a:pt x="59" y="238"/>
                    <a:pt x="38" y="292"/>
                  </a:cubicBezTo>
                  <a:cubicBezTo>
                    <a:pt x="5" y="376"/>
                    <a:pt x="0" y="402"/>
                    <a:pt x="23" y="408"/>
                  </a:cubicBezTo>
                  <a:cubicBezTo>
                    <a:pt x="32" y="410"/>
                    <a:pt x="66" y="410"/>
                    <a:pt x="104" y="409"/>
                  </a:cubicBezTo>
                  <a:cubicBezTo>
                    <a:pt x="104" y="410"/>
                    <a:pt x="104" y="411"/>
                    <a:pt x="104" y="413"/>
                  </a:cubicBezTo>
                  <a:cubicBezTo>
                    <a:pt x="107" y="435"/>
                    <a:pt x="109" y="452"/>
                    <a:pt x="109" y="458"/>
                  </a:cubicBezTo>
                  <a:cubicBezTo>
                    <a:pt x="260" y="458"/>
                    <a:pt x="260" y="458"/>
                    <a:pt x="260" y="458"/>
                  </a:cubicBezTo>
                  <a:cubicBezTo>
                    <a:pt x="262" y="441"/>
                    <a:pt x="261" y="426"/>
                    <a:pt x="258" y="413"/>
                  </a:cubicBezTo>
                  <a:close/>
                  <a:moveTo>
                    <a:pt x="76" y="350"/>
                  </a:moveTo>
                  <a:cubicBezTo>
                    <a:pt x="76" y="350"/>
                    <a:pt x="85" y="341"/>
                    <a:pt x="95" y="329"/>
                  </a:cubicBezTo>
                  <a:cubicBezTo>
                    <a:pt x="96" y="336"/>
                    <a:pt x="97" y="343"/>
                    <a:pt x="97" y="350"/>
                  </a:cubicBezTo>
                  <a:cubicBezTo>
                    <a:pt x="85" y="350"/>
                    <a:pt x="76" y="350"/>
                    <a:pt x="76" y="350"/>
                  </a:cubicBezTo>
                  <a:close/>
                </a:path>
              </a:pathLst>
            </a:custGeom>
            <a:gradFill flip="none" rotWithShape="1">
              <a:gsLst>
                <a:gs pos="100000">
                  <a:srgbClr val="7289F2">
                    <a:alpha val="0"/>
                  </a:srgbClr>
                </a:gs>
                <a:gs pos="26000">
                  <a:srgbClr val="7289F2">
                    <a:alpha val="54000"/>
                  </a:srgbClr>
                </a:gs>
              </a:gsLst>
              <a:lin ang="7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 name="Freeform 19">
              <a:extLst>
                <a:ext uri="{FF2B5EF4-FFF2-40B4-BE49-F238E27FC236}">
                  <a16:creationId xmlns:a16="http://schemas.microsoft.com/office/drawing/2014/main" id="{1F1055DB-0FAF-42E9-A9D9-33EEEA5E5D53}"/>
                </a:ext>
              </a:extLst>
            </p:cNvPr>
            <p:cNvSpPr>
              <a:spLocks/>
            </p:cNvSpPr>
            <p:nvPr/>
          </p:nvSpPr>
          <p:spPr bwMode="auto">
            <a:xfrm>
              <a:off x="5192713" y="5167313"/>
              <a:ext cx="236538" cy="338138"/>
            </a:xfrm>
            <a:custGeom>
              <a:avLst/>
              <a:gdLst>
                <a:gd name="T0" fmla="*/ 13 w 41"/>
                <a:gd name="T1" fmla="*/ 0 h 59"/>
                <a:gd name="T2" fmla="*/ 41 w 41"/>
                <a:gd name="T3" fmla="*/ 59 h 59"/>
                <a:gd name="T4" fmla="*/ 34 w 41"/>
                <a:gd name="T5" fmla="*/ 0 h 59"/>
                <a:gd name="T6" fmla="*/ 13 w 41"/>
                <a:gd name="T7" fmla="*/ 0 h 59"/>
              </a:gdLst>
              <a:ahLst/>
              <a:cxnLst>
                <a:cxn ang="0">
                  <a:pos x="T0" y="T1"/>
                </a:cxn>
                <a:cxn ang="0">
                  <a:pos x="T2" y="T3"/>
                </a:cxn>
                <a:cxn ang="0">
                  <a:pos x="T4" y="T5"/>
                </a:cxn>
                <a:cxn ang="0">
                  <a:pos x="T6" y="T7"/>
                </a:cxn>
              </a:cxnLst>
              <a:rect l="0" t="0" r="r" b="b"/>
              <a:pathLst>
                <a:path w="41" h="59">
                  <a:moveTo>
                    <a:pt x="13" y="0"/>
                  </a:moveTo>
                  <a:cubicBezTo>
                    <a:pt x="13" y="0"/>
                    <a:pt x="0" y="45"/>
                    <a:pt x="41" y="59"/>
                  </a:cubicBezTo>
                  <a:cubicBezTo>
                    <a:pt x="34" y="0"/>
                    <a:pt x="34" y="0"/>
                    <a:pt x="34" y="0"/>
                  </a:cubicBezTo>
                  <a:lnTo>
                    <a:pt x="13" y="0"/>
                  </a:lnTo>
                  <a:close/>
                </a:path>
              </a:pathLst>
            </a:custGeom>
            <a:solidFill>
              <a:srgbClr val="829CF3">
                <a:alpha val="26000"/>
              </a:srgb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0" name="Freeform 20">
              <a:extLst>
                <a:ext uri="{FF2B5EF4-FFF2-40B4-BE49-F238E27FC236}">
                  <a16:creationId xmlns:a16="http://schemas.microsoft.com/office/drawing/2014/main" id="{33DD8503-AB72-4432-BEC9-FC4887059C26}"/>
                </a:ext>
              </a:extLst>
            </p:cNvPr>
            <p:cNvSpPr>
              <a:spLocks/>
            </p:cNvSpPr>
            <p:nvPr/>
          </p:nvSpPr>
          <p:spPr bwMode="auto">
            <a:xfrm>
              <a:off x="6191250" y="3625850"/>
              <a:ext cx="333375" cy="217488"/>
            </a:xfrm>
            <a:custGeom>
              <a:avLst/>
              <a:gdLst>
                <a:gd name="T0" fmla="*/ 57 w 58"/>
                <a:gd name="T1" fmla="*/ 4 h 38"/>
                <a:gd name="T2" fmla="*/ 57 w 58"/>
                <a:gd name="T3" fmla="*/ 8 h 38"/>
                <a:gd name="T4" fmla="*/ 53 w 58"/>
                <a:gd name="T5" fmla="*/ 18 h 38"/>
                <a:gd name="T6" fmla="*/ 47 w 58"/>
                <a:gd name="T7" fmla="*/ 24 h 38"/>
                <a:gd name="T8" fmla="*/ 46 w 58"/>
                <a:gd name="T9" fmla="*/ 22 h 38"/>
                <a:gd name="T10" fmla="*/ 47 w 58"/>
                <a:gd name="T11" fmla="*/ 21 h 38"/>
                <a:gd name="T12" fmla="*/ 53 w 58"/>
                <a:gd name="T13" fmla="*/ 8 h 38"/>
                <a:gd name="T14" fmla="*/ 46 w 58"/>
                <a:gd name="T15" fmla="*/ 11 h 38"/>
                <a:gd name="T16" fmla="*/ 17 w 58"/>
                <a:gd name="T17" fmla="*/ 23 h 38"/>
                <a:gd name="T18" fmla="*/ 5 w 58"/>
                <a:gd name="T19" fmla="*/ 37 h 38"/>
                <a:gd name="T20" fmla="*/ 0 w 58"/>
                <a:gd name="T21" fmla="*/ 35 h 38"/>
                <a:gd name="T22" fmla="*/ 15 w 58"/>
                <a:gd name="T23" fmla="*/ 20 h 38"/>
                <a:gd name="T24" fmla="*/ 46 w 58"/>
                <a:gd name="T25" fmla="*/ 7 h 38"/>
                <a:gd name="T26" fmla="*/ 52 w 58"/>
                <a:gd name="T27" fmla="*/ 4 h 38"/>
                <a:gd name="T28" fmla="*/ 46 w 58"/>
                <a:gd name="T29" fmla="*/ 2 h 38"/>
                <a:gd name="T30" fmla="*/ 46 w 58"/>
                <a:gd name="T31" fmla="*/ 0 h 38"/>
                <a:gd name="T32" fmla="*/ 53 w 58"/>
                <a:gd name="T33" fmla="*/ 1 h 38"/>
                <a:gd name="T34" fmla="*/ 57 w 58"/>
                <a:gd name="T35"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 h="38">
                  <a:moveTo>
                    <a:pt x="57" y="4"/>
                  </a:moveTo>
                  <a:cubicBezTo>
                    <a:pt x="57" y="8"/>
                    <a:pt x="57" y="8"/>
                    <a:pt x="57" y="8"/>
                  </a:cubicBezTo>
                  <a:cubicBezTo>
                    <a:pt x="57" y="8"/>
                    <a:pt x="56" y="12"/>
                    <a:pt x="53" y="18"/>
                  </a:cubicBezTo>
                  <a:cubicBezTo>
                    <a:pt x="51" y="23"/>
                    <a:pt x="48" y="24"/>
                    <a:pt x="47" y="24"/>
                  </a:cubicBezTo>
                  <a:cubicBezTo>
                    <a:pt x="46" y="23"/>
                    <a:pt x="46" y="22"/>
                    <a:pt x="46" y="22"/>
                  </a:cubicBezTo>
                  <a:cubicBezTo>
                    <a:pt x="47" y="21"/>
                    <a:pt x="47" y="21"/>
                    <a:pt x="47" y="21"/>
                  </a:cubicBezTo>
                  <a:cubicBezTo>
                    <a:pt x="54" y="20"/>
                    <a:pt x="53" y="8"/>
                    <a:pt x="53" y="8"/>
                  </a:cubicBezTo>
                  <a:cubicBezTo>
                    <a:pt x="46" y="11"/>
                    <a:pt x="46" y="11"/>
                    <a:pt x="46" y="11"/>
                  </a:cubicBezTo>
                  <a:cubicBezTo>
                    <a:pt x="17" y="23"/>
                    <a:pt x="17" y="23"/>
                    <a:pt x="17" y="23"/>
                  </a:cubicBezTo>
                  <a:cubicBezTo>
                    <a:pt x="17" y="23"/>
                    <a:pt x="7" y="35"/>
                    <a:pt x="5" y="37"/>
                  </a:cubicBezTo>
                  <a:cubicBezTo>
                    <a:pt x="3" y="38"/>
                    <a:pt x="0" y="38"/>
                    <a:pt x="0" y="35"/>
                  </a:cubicBezTo>
                  <a:cubicBezTo>
                    <a:pt x="0" y="33"/>
                    <a:pt x="15" y="20"/>
                    <a:pt x="15" y="20"/>
                  </a:cubicBezTo>
                  <a:cubicBezTo>
                    <a:pt x="46" y="7"/>
                    <a:pt x="46" y="7"/>
                    <a:pt x="46" y="7"/>
                  </a:cubicBezTo>
                  <a:cubicBezTo>
                    <a:pt x="52" y="4"/>
                    <a:pt x="52" y="4"/>
                    <a:pt x="52" y="4"/>
                  </a:cubicBezTo>
                  <a:cubicBezTo>
                    <a:pt x="46" y="2"/>
                    <a:pt x="46" y="2"/>
                    <a:pt x="46" y="2"/>
                  </a:cubicBezTo>
                  <a:cubicBezTo>
                    <a:pt x="46" y="2"/>
                    <a:pt x="46" y="1"/>
                    <a:pt x="46" y="0"/>
                  </a:cubicBezTo>
                  <a:cubicBezTo>
                    <a:pt x="48" y="0"/>
                    <a:pt x="50" y="1"/>
                    <a:pt x="53" y="1"/>
                  </a:cubicBezTo>
                  <a:cubicBezTo>
                    <a:pt x="58" y="2"/>
                    <a:pt x="57" y="4"/>
                    <a:pt x="57" y="4"/>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Shape 24">
              <a:extLst>
                <a:ext uri="{FF2B5EF4-FFF2-40B4-BE49-F238E27FC236}">
                  <a16:creationId xmlns:a16="http://schemas.microsoft.com/office/drawing/2014/main" id="{5734A953-9B6C-444B-B25F-6DF0B880B296}"/>
                </a:ext>
              </a:extLst>
            </p:cNvPr>
            <p:cNvSpPr/>
            <p:nvPr/>
          </p:nvSpPr>
          <p:spPr>
            <a:xfrm>
              <a:off x="6538394" y="3930239"/>
              <a:ext cx="104950" cy="82726"/>
            </a:xfrm>
            <a:custGeom>
              <a:avLst/>
              <a:gdLst>
                <a:gd name="connsiteX0" fmla="*/ 519 w 104950"/>
                <a:gd name="connsiteY0" fmla="*/ 1205 h 82726"/>
                <a:gd name="connsiteX1" fmla="*/ 64812 w 104950"/>
                <a:gd name="connsiteY1" fmla="*/ 36924 h 82726"/>
                <a:gd name="connsiteX2" fmla="*/ 102912 w 104950"/>
                <a:gd name="connsiteY2" fmla="*/ 82167 h 82726"/>
                <a:gd name="connsiteX3" fmla="*/ 519 w 104950"/>
                <a:gd name="connsiteY3" fmla="*/ 1205 h 82726"/>
              </a:gdLst>
              <a:ahLst/>
              <a:cxnLst>
                <a:cxn ang="0">
                  <a:pos x="connsiteX0" y="connsiteY0"/>
                </a:cxn>
                <a:cxn ang="0">
                  <a:pos x="connsiteX1" y="connsiteY1"/>
                </a:cxn>
                <a:cxn ang="0">
                  <a:pos x="connsiteX2" y="connsiteY2"/>
                </a:cxn>
                <a:cxn ang="0">
                  <a:pos x="connsiteX3" y="connsiteY3"/>
                </a:cxn>
              </a:cxnLst>
              <a:rect l="l" t="t" r="r" b="b"/>
              <a:pathLst>
                <a:path w="104950" h="82726">
                  <a:moveTo>
                    <a:pt x="519" y="1205"/>
                  </a:moveTo>
                  <a:cubicBezTo>
                    <a:pt x="-5831" y="-6335"/>
                    <a:pt x="47747" y="23430"/>
                    <a:pt x="64812" y="36924"/>
                  </a:cubicBezTo>
                  <a:cubicBezTo>
                    <a:pt x="81877" y="50418"/>
                    <a:pt x="113231" y="87723"/>
                    <a:pt x="102912" y="82167"/>
                  </a:cubicBezTo>
                  <a:cubicBezTo>
                    <a:pt x="92593" y="76611"/>
                    <a:pt x="6869" y="8745"/>
                    <a:pt x="519" y="1205"/>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0" name="Freeform: Shape 149">
              <a:extLst>
                <a:ext uri="{FF2B5EF4-FFF2-40B4-BE49-F238E27FC236}">
                  <a16:creationId xmlns:a16="http://schemas.microsoft.com/office/drawing/2014/main" id="{0981B24C-CD45-4505-87DD-EBA799A608A0}"/>
                </a:ext>
              </a:extLst>
            </p:cNvPr>
            <p:cNvSpPr/>
            <p:nvPr/>
          </p:nvSpPr>
          <p:spPr>
            <a:xfrm>
              <a:off x="6586362" y="3924595"/>
              <a:ext cx="104950" cy="82726"/>
            </a:xfrm>
            <a:custGeom>
              <a:avLst/>
              <a:gdLst>
                <a:gd name="connsiteX0" fmla="*/ 519 w 104950"/>
                <a:gd name="connsiteY0" fmla="*/ 1205 h 82726"/>
                <a:gd name="connsiteX1" fmla="*/ 64812 w 104950"/>
                <a:gd name="connsiteY1" fmla="*/ 36924 h 82726"/>
                <a:gd name="connsiteX2" fmla="*/ 102912 w 104950"/>
                <a:gd name="connsiteY2" fmla="*/ 82167 h 82726"/>
                <a:gd name="connsiteX3" fmla="*/ 519 w 104950"/>
                <a:gd name="connsiteY3" fmla="*/ 1205 h 82726"/>
              </a:gdLst>
              <a:ahLst/>
              <a:cxnLst>
                <a:cxn ang="0">
                  <a:pos x="connsiteX0" y="connsiteY0"/>
                </a:cxn>
                <a:cxn ang="0">
                  <a:pos x="connsiteX1" y="connsiteY1"/>
                </a:cxn>
                <a:cxn ang="0">
                  <a:pos x="connsiteX2" y="connsiteY2"/>
                </a:cxn>
                <a:cxn ang="0">
                  <a:pos x="connsiteX3" y="connsiteY3"/>
                </a:cxn>
              </a:cxnLst>
              <a:rect l="l" t="t" r="r" b="b"/>
              <a:pathLst>
                <a:path w="104950" h="82726">
                  <a:moveTo>
                    <a:pt x="519" y="1205"/>
                  </a:moveTo>
                  <a:cubicBezTo>
                    <a:pt x="-5831" y="-6335"/>
                    <a:pt x="47747" y="23430"/>
                    <a:pt x="64812" y="36924"/>
                  </a:cubicBezTo>
                  <a:cubicBezTo>
                    <a:pt x="81877" y="50418"/>
                    <a:pt x="113231" y="87723"/>
                    <a:pt x="102912" y="82167"/>
                  </a:cubicBezTo>
                  <a:cubicBezTo>
                    <a:pt x="92593" y="76611"/>
                    <a:pt x="6869" y="8745"/>
                    <a:pt x="519" y="1205"/>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Shape 25">
              <a:extLst>
                <a:ext uri="{FF2B5EF4-FFF2-40B4-BE49-F238E27FC236}">
                  <a16:creationId xmlns:a16="http://schemas.microsoft.com/office/drawing/2014/main" id="{95F849CF-BB96-4670-91B9-CF85441BB33B}"/>
                </a:ext>
              </a:extLst>
            </p:cNvPr>
            <p:cNvSpPr/>
            <p:nvPr/>
          </p:nvSpPr>
          <p:spPr>
            <a:xfrm>
              <a:off x="5832786" y="4279895"/>
              <a:ext cx="465015" cy="55559"/>
            </a:xfrm>
            <a:custGeom>
              <a:avLst/>
              <a:gdLst>
                <a:gd name="connsiteX0" fmla="*/ 456889 w 465015"/>
                <a:gd name="connsiteY0" fmla="*/ 50805 h 55559"/>
                <a:gd name="connsiteX1" fmla="*/ 2864 w 465015"/>
                <a:gd name="connsiteY1" fmla="*/ 5 h 55559"/>
                <a:gd name="connsiteX2" fmla="*/ 272739 w 465015"/>
                <a:gd name="connsiteY2" fmla="*/ 47630 h 55559"/>
                <a:gd name="connsiteX3" fmla="*/ 456889 w 465015"/>
                <a:gd name="connsiteY3" fmla="*/ 50805 h 55559"/>
              </a:gdLst>
              <a:ahLst/>
              <a:cxnLst>
                <a:cxn ang="0">
                  <a:pos x="connsiteX0" y="connsiteY0"/>
                </a:cxn>
                <a:cxn ang="0">
                  <a:pos x="connsiteX1" y="connsiteY1"/>
                </a:cxn>
                <a:cxn ang="0">
                  <a:pos x="connsiteX2" y="connsiteY2"/>
                </a:cxn>
                <a:cxn ang="0">
                  <a:pos x="connsiteX3" y="connsiteY3"/>
                </a:cxn>
              </a:cxnLst>
              <a:rect l="l" t="t" r="r" b="b"/>
              <a:pathLst>
                <a:path w="465015" h="55559">
                  <a:moveTo>
                    <a:pt x="456889" y="50805"/>
                  </a:moveTo>
                  <a:cubicBezTo>
                    <a:pt x="411910" y="42867"/>
                    <a:pt x="33556" y="534"/>
                    <a:pt x="2864" y="5"/>
                  </a:cubicBezTo>
                  <a:cubicBezTo>
                    <a:pt x="-27828" y="-524"/>
                    <a:pt x="196539" y="39163"/>
                    <a:pt x="272739" y="47630"/>
                  </a:cubicBezTo>
                  <a:cubicBezTo>
                    <a:pt x="348939" y="56097"/>
                    <a:pt x="501868" y="58743"/>
                    <a:pt x="456889" y="50805"/>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sp>
        <p:nvSpPr>
          <p:cNvPr id="52" name="Rectangle 51">
            <a:extLst>
              <a:ext uri="{FF2B5EF4-FFF2-40B4-BE49-F238E27FC236}">
                <a16:creationId xmlns:a16="http://schemas.microsoft.com/office/drawing/2014/main" id="{46969EBC-E8D3-4914-9A82-8E88F816E77E}"/>
              </a:ext>
            </a:extLst>
          </p:cNvPr>
          <p:cNvSpPr/>
          <p:nvPr/>
        </p:nvSpPr>
        <p:spPr>
          <a:xfrm>
            <a:off x="4297327" y="5850468"/>
            <a:ext cx="3597344" cy="369332"/>
          </a:xfrm>
          <a:prstGeom prst="rect">
            <a:avLst/>
          </a:prstGeom>
        </p:spPr>
        <p:txBody>
          <a:bodyPr wrap="square" lIns="0" tIns="0" rIns="0" bIns="0" anchor="t">
            <a:spAutoFit/>
          </a:bodyPr>
          <a:lstStyle/>
          <a:p>
            <a:pPr algn="ctr"/>
            <a:r>
              <a:rPr lang="en-US" sz="2400" b="1">
                <a:solidFill>
                  <a:srgbClr val="002060"/>
                </a:solidFill>
                <a:latin typeface="Segoe UI"/>
                <a:cs typeface="Segoe UI"/>
              </a:rPr>
              <a:t>Housing Prices</a:t>
            </a:r>
            <a:endParaRPr lang="en-US" sz="2400" dirty="0">
              <a:solidFill>
                <a:srgbClr val="002060"/>
              </a:solidFill>
            </a:endParaRPr>
          </a:p>
        </p:txBody>
      </p:sp>
      <p:grpSp>
        <p:nvGrpSpPr>
          <p:cNvPr id="28" name="Group 55" descr="This image is an icon of three connected human figures. ">
            <a:extLst>
              <a:ext uri="{FF2B5EF4-FFF2-40B4-BE49-F238E27FC236}">
                <a16:creationId xmlns:a16="http://schemas.microsoft.com/office/drawing/2014/main" id="{719390E1-63A6-3812-2333-1C2745E1C68F}"/>
              </a:ext>
            </a:extLst>
          </p:cNvPr>
          <p:cNvGrpSpPr/>
          <p:nvPr/>
        </p:nvGrpSpPr>
        <p:grpSpPr>
          <a:xfrm>
            <a:off x="5908967" y="2076996"/>
            <a:ext cx="182891" cy="157903"/>
            <a:chOff x="-23742650" y="-5770563"/>
            <a:chExt cx="3497276" cy="3019425"/>
          </a:xfrm>
          <a:solidFill>
            <a:schemeClr val="bg1">
              <a:lumMod val="50000"/>
            </a:schemeClr>
          </a:solidFill>
        </p:grpSpPr>
        <p:sp>
          <p:nvSpPr>
            <p:cNvPr id="3" name="Freeform 41">
              <a:extLst>
                <a:ext uri="{FF2B5EF4-FFF2-40B4-BE49-F238E27FC236}">
                  <a16:creationId xmlns:a16="http://schemas.microsoft.com/office/drawing/2014/main" id="{6A6ED0CF-BFB7-2CBF-8652-1451513AB0D0}"/>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1" name="Freeform 42">
              <a:extLst>
                <a:ext uri="{FF2B5EF4-FFF2-40B4-BE49-F238E27FC236}">
                  <a16:creationId xmlns:a16="http://schemas.microsoft.com/office/drawing/2014/main" id="{3721A690-A941-F30D-72E0-9837285E8254}"/>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3" name="Freeform 43">
              <a:extLst>
                <a:ext uri="{FF2B5EF4-FFF2-40B4-BE49-F238E27FC236}">
                  <a16:creationId xmlns:a16="http://schemas.microsoft.com/office/drawing/2014/main" id="{21358759-A584-C8C4-39E2-CC830F54801E}"/>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30" name="Graphic 3" descr="Mortgage outline">
            <a:extLst>
              <a:ext uri="{FF2B5EF4-FFF2-40B4-BE49-F238E27FC236}">
                <a16:creationId xmlns:a16="http://schemas.microsoft.com/office/drawing/2014/main" id="{D5E064C9-EED6-FDA1-94C6-6733C0CAF7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06908" y="2160953"/>
            <a:ext cx="342900" cy="300568"/>
          </a:xfrm>
          <a:prstGeom prst="rect">
            <a:avLst/>
          </a:prstGeom>
        </p:spPr>
      </p:pic>
      <p:pic>
        <p:nvPicPr>
          <p:cNvPr id="37" name="Graphic 4" descr="Mortgage outline">
            <a:extLst>
              <a:ext uri="{FF2B5EF4-FFF2-40B4-BE49-F238E27FC236}">
                <a16:creationId xmlns:a16="http://schemas.microsoft.com/office/drawing/2014/main" id="{5B28D50E-FC0D-F6F3-9814-B0557E94C9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31741" y="1727036"/>
            <a:ext cx="342900" cy="300568"/>
          </a:xfrm>
          <a:prstGeom prst="rect">
            <a:avLst/>
          </a:prstGeom>
        </p:spPr>
      </p:pic>
      <p:pic>
        <p:nvPicPr>
          <p:cNvPr id="46" name="Graphic 5" descr="Mortgage outline">
            <a:extLst>
              <a:ext uri="{FF2B5EF4-FFF2-40B4-BE49-F238E27FC236}">
                <a16:creationId xmlns:a16="http://schemas.microsoft.com/office/drawing/2014/main" id="{84505AF6-2DF8-3709-A16E-EAAC1F7D2B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67158" y="2160953"/>
            <a:ext cx="342900" cy="300568"/>
          </a:xfrm>
          <a:prstGeom prst="rect">
            <a:avLst/>
          </a:prstGeom>
        </p:spPr>
      </p:pic>
      <p:sp>
        <p:nvSpPr>
          <p:cNvPr id="144" name="Oval 26">
            <a:extLst>
              <a:ext uri="{FF2B5EF4-FFF2-40B4-BE49-F238E27FC236}">
                <a16:creationId xmlns:a16="http://schemas.microsoft.com/office/drawing/2014/main" id="{349B82E0-1CC1-E045-965A-E5EA07796747}"/>
              </a:ext>
            </a:extLst>
          </p:cNvPr>
          <p:cNvSpPr>
            <a:spLocks noChangeArrowheads="1"/>
          </p:cNvSpPr>
          <p:nvPr/>
        </p:nvSpPr>
        <p:spPr bwMode="auto">
          <a:xfrm>
            <a:off x="3522661" y="2496079"/>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145" name="Group 55" descr="This image is an icon of three connected human figures. ">
            <a:extLst>
              <a:ext uri="{FF2B5EF4-FFF2-40B4-BE49-F238E27FC236}">
                <a16:creationId xmlns:a16="http://schemas.microsoft.com/office/drawing/2014/main" id="{C2BD045D-C33D-6F37-ADD4-998C43A36F77}"/>
              </a:ext>
            </a:extLst>
          </p:cNvPr>
          <p:cNvGrpSpPr/>
          <p:nvPr/>
        </p:nvGrpSpPr>
        <p:grpSpPr>
          <a:xfrm>
            <a:off x="4067466" y="3029495"/>
            <a:ext cx="182891" cy="157903"/>
            <a:chOff x="-23742650" y="-5770563"/>
            <a:chExt cx="3497276" cy="3019425"/>
          </a:xfrm>
          <a:solidFill>
            <a:schemeClr val="bg1">
              <a:lumMod val="50000"/>
            </a:schemeClr>
          </a:solidFill>
        </p:grpSpPr>
        <p:sp>
          <p:nvSpPr>
            <p:cNvPr id="146" name="Freeform 41">
              <a:extLst>
                <a:ext uri="{FF2B5EF4-FFF2-40B4-BE49-F238E27FC236}">
                  <a16:creationId xmlns:a16="http://schemas.microsoft.com/office/drawing/2014/main" id="{64FDB267-9787-6D30-4A1B-02AB7E49DF2F}"/>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147" name="Freeform 42">
              <a:extLst>
                <a:ext uri="{FF2B5EF4-FFF2-40B4-BE49-F238E27FC236}">
                  <a16:creationId xmlns:a16="http://schemas.microsoft.com/office/drawing/2014/main" id="{EC860D62-3B3C-25DE-9C36-10E5CBD795B1}"/>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148" name="Freeform 43">
              <a:extLst>
                <a:ext uri="{FF2B5EF4-FFF2-40B4-BE49-F238E27FC236}">
                  <a16:creationId xmlns:a16="http://schemas.microsoft.com/office/drawing/2014/main" id="{908C310A-8753-1D3F-F902-71BE01A611DC}"/>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149" name="Graphic 3" descr="Mortgage outline">
            <a:extLst>
              <a:ext uri="{FF2B5EF4-FFF2-40B4-BE49-F238E27FC236}">
                <a16:creationId xmlns:a16="http://schemas.microsoft.com/office/drawing/2014/main" id="{1519FA95-CCF9-C31E-4A2D-4C1E966D6F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65407" y="3113452"/>
            <a:ext cx="342900" cy="300568"/>
          </a:xfrm>
          <a:prstGeom prst="rect">
            <a:avLst/>
          </a:prstGeom>
        </p:spPr>
      </p:pic>
      <p:pic>
        <p:nvPicPr>
          <p:cNvPr id="151" name="Graphic 4" descr="Mortgage outline">
            <a:extLst>
              <a:ext uri="{FF2B5EF4-FFF2-40B4-BE49-F238E27FC236}">
                <a16:creationId xmlns:a16="http://schemas.microsoft.com/office/drawing/2014/main" id="{15891DA7-2755-ECBB-E68F-9D07A04CC6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90240" y="2679535"/>
            <a:ext cx="342900" cy="300568"/>
          </a:xfrm>
          <a:prstGeom prst="rect">
            <a:avLst/>
          </a:prstGeom>
        </p:spPr>
      </p:pic>
      <p:pic>
        <p:nvPicPr>
          <p:cNvPr id="152" name="Graphic 5" descr="Mortgage outline">
            <a:extLst>
              <a:ext uri="{FF2B5EF4-FFF2-40B4-BE49-F238E27FC236}">
                <a16:creationId xmlns:a16="http://schemas.microsoft.com/office/drawing/2014/main" id="{DF488EED-A2F0-CA3B-A7AC-8D6666CC45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25657" y="3113452"/>
            <a:ext cx="342900" cy="300568"/>
          </a:xfrm>
          <a:prstGeom prst="rect">
            <a:avLst/>
          </a:prstGeom>
        </p:spPr>
      </p:pic>
      <p:sp>
        <p:nvSpPr>
          <p:cNvPr id="181" name="Oval 26">
            <a:extLst>
              <a:ext uri="{FF2B5EF4-FFF2-40B4-BE49-F238E27FC236}">
                <a16:creationId xmlns:a16="http://schemas.microsoft.com/office/drawing/2014/main" id="{D67E14C5-6454-CB00-AAC7-AB1714261075}"/>
              </a:ext>
            </a:extLst>
          </p:cNvPr>
          <p:cNvSpPr>
            <a:spLocks noChangeArrowheads="1"/>
          </p:cNvSpPr>
          <p:nvPr/>
        </p:nvSpPr>
        <p:spPr bwMode="auto">
          <a:xfrm>
            <a:off x="2750078" y="4295246"/>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182" name="Group 55" descr="This image is an icon of three connected human figures. ">
            <a:extLst>
              <a:ext uri="{FF2B5EF4-FFF2-40B4-BE49-F238E27FC236}">
                <a16:creationId xmlns:a16="http://schemas.microsoft.com/office/drawing/2014/main" id="{5D06F24F-587C-28CD-065F-1BACE7183276}"/>
              </a:ext>
            </a:extLst>
          </p:cNvPr>
          <p:cNvGrpSpPr/>
          <p:nvPr/>
        </p:nvGrpSpPr>
        <p:grpSpPr>
          <a:xfrm>
            <a:off x="3294883" y="4828662"/>
            <a:ext cx="182891" cy="157903"/>
            <a:chOff x="-23742650" y="-5770563"/>
            <a:chExt cx="3497276" cy="3019425"/>
          </a:xfrm>
          <a:solidFill>
            <a:schemeClr val="bg1">
              <a:lumMod val="50000"/>
            </a:schemeClr>
          </a:solidFill>
        </p:grpSpPr>
        <p:sp>
          <p:nvSpPr>
            <p:cNvPr id="183" name="Freeform 41">
              <a:extLst>
                <a:ext uri="{FF2B5EF4-FFF2-40B4-BE49-F238E27FC236}">
                  <a16:creationId xmlns:a16="http://schemas.microsoft.com/office/drawing/2014/main" id="{C592942F-AC7C-13D9-2225-1D653184E75B}"/>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184" name="Freeform 42">
              <a:extLst>
                <a:ext uri="{FF2B5EF4-FFF2-40B4-BE49-F238E27FC236}">
                  <a16:creationId xmlns:a16="http://schemas.microsoft.com/office/drawing/2014/main" id="{74D908A1-6403-450E-4BEF-FF20BDB7CA6E}"/>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185" name="Freeform 43">
              <a:extLst>
                <a:ext uri="{FF2B5EF4-FFF2-40B4-BE49-F238E27FC236}">
                  <a16:creationId xmlns:a16="http://schemas.microsoft.com/office/drawing/2014/main" id="{AC4A7F1C-CC8D-1C14-EFF0-B80434037954}"/>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186" name="Graphic 3" descr="Mortgage outline">
            <a:extLst>
              <a:ext uri="{FF2B5EF4-FFF2-40B4-BE49-F238E27FC236}">
                <a16:creationId xmlns:a16="http://schemas.microsoft.com/office/drawing/2014/main" id="{2B6C6273-1974-D265-1AC3-B83CB90CA6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2824" y="4912619"/>
            <a:ext cx="342900" cy="300568"/>
          </a:xfrm>
          <a:prstGeom prst="rect">
            <a:avLst/>
          </a:prstGeom>
        </p:spPr>
      </p:pic>
      <p:pic>
        <p:nvPicPr>
          <p:cNvPr id="187" name="Graphic 4" descr="Mortgage outline">
            <a:extLst>
              <a:ext uri="{FF2B5EF4-FFF2-40B4-BE49-F238E27FC236}">
                <a16:creationId xmlns:a16="http://schemas.microsoft.com/office/drawing/2014/main" id="{50CB19BA-CA4C-E890-E09A-8734514DD2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17657" y="4478702"/>
            <a:ext cx="342900" cy="300568"/>
          </a:xfrm>
          <a:prstGeom prst="rect">
            <a:avLst/>
          </a:prstGeom>
        </p:spPr>
      </p:pic>
      <p:pic>
        <p:nvPicPr>
          <p:cNvPr id="188" name="Graphic 5" descr="Mortgage outline">
            <a:extLst>
              <a:ext uri="{FF2B5EF4-FFF2-40B4-BE49-F238E27FC236}">
                <a16:creationId xmlns:a16="http://schemas.microsoft.com/office/drawing/2014/main" id="{4233E349-F015-06CB-EE88-3050F27549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53074" y="4912619"/>
            <a:ext cx="342900" cy="300568"/>
          </a:xfrm>
          <a:prstGeom prst="rect">
            <a:avLst/>
          </a:prstGeom>
        </p:spPr>
      </p:pic>
      <p:sp>
        <p:nvSpPr>
          <p:cNvPr id="189" name="Oval 26">
            <a:extLst>
              <a:ext uri="{FF2B5EF4-FFF2-40B4-BE49-F238E27FC236}">
                <a16:creationId xmlns:a16="http://schemas.microsoft.com/office/drawing/2014/main" id="{D8E30396-A7BB-C28B-EEE1-F2A64C671B5F}"/>
              </a:ext>
            </a:extLst>
          </p:cNvPr>
          <p:cNvSpPr>
            <a:spLocks noChangeArrowheads="1"/>
          </p:cNvSpPr>
          <p:nvPr/>
        </p:nvSpPr>
        <p:spPr bwMode="auto">
          <a:xfrm>
            <a:off x="7152744" y="2506663"/>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190" name="Group 55" descr="This image is an icon of three connected human figures. ">
            <a:extLst>
              <a:ext uri="{FF2B5EF4-FFF2-40B4-BE49-F238E27FC236}">
                <a16:creationId xmlns:a16="http://schemas.microsoft.com/office/drawing/2014/main" id="{707454DD-E77D-7CDA-2DD5-6AAFCA5582C6}"/>
              </a:ext>
            </a:extLst>
          </p:cNvPr>
          <p:cNvGrpSpPr/>
          <p:nvPr/>
        </p:nvGrpSpPr>
        <p:grpSpPr>
          <a:xfrm>
            <a:off x="7697550" y="3040079"/>
            <a:ext cx="182891" cy="157903"/>
            <a:chOff x="-23742650" y="-5770563"/>
            <a:chExt cx="3497276" cy="3019425"/>
          </a:xfrm>
          <a:solidFill>
            <a:schemeClr val="bg1">
              <a:lumMod val="50000"/>
            </a:schemeClr>
          </a:solidFill>
        </p:grpSpPr>
        <p:sp>
          <p:nvSpPr>
            <p:cNvPr id="228" name="Freeform 41">
              <a:extLst>
                <a:ext uri="{FF2B5EF4-FFF2-40B4-BE49-F238E27FC236}">
                  <a16:creationId xmlns:a16="http://schemas.microsoft.com/office/drawing/2014/main" id="{8CE721DA-2BD7-24EF-7621-B01FCA03B4B7}"/>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29" name="Freeform 42">
              <a:extLst>
                <a:ext uri="{FF2B5EF4-FFF2-40B4-BE49-F238E27FC236}">
                  <a16:creationId xmlns:a16="http://schemas.microsoft.com/office/drawing/2014/main" id="{F01DD33E-B047-0B65-F5FA-4A9FEF20B8EC}"/>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30" name="Freeform 43">
              <a:extLst>
                <a:ext uri="{FF2B5EF4-FFF2-40B4-BE49-F238E27FC236}">
                  <a16:creationId xmlns:a16="http://schemas.microsoft.com/office/drawing/2014/main" id="{9D6DCB2C-64D1-0E44-2E0E-643FA8DFEF29}"/>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231" name="Graphic 3" descr="Mortgage outline">
            <a:extLst>
              <a:ext uri="{FF2B5EF4-FFF2-40B4-BE49-F238E27FC236}">
                <a16:creationId xmlns:a16="http://schemas.microsoft.com/office/drawing/2014/main" id="{EAF985AD-B3E6-4F58-780B-781A7A1C84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95491" y="3124035"/>
            <a:ext cx="342900" cy="300568"/>
          </a:xfrm>
          <a:prstGeom prst="rect">
            <a:avLst/>
          </a:prstGeom>
        </p:spPr>
      </p:pic>
      <p:pic>
        <p:nvPicPr>
          <p:cNvPr id="232" name="Graphic 4" descr="Mortgage outline">
            <a:extLst>
              <a:ext uri="{FF2B5EF4-FFF2-40B4-BE49-F238E27FC236}">
                <a16:creationId xmlns:a16="http://schemas.microsoft.com/office/drawing/2014/main" id="{1A578B0B-46AE-649D-475F-22989AF5DD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0323" y="2690118"/>
            <a:ext cx="342900" cy="300568"/>
          </a:xfrm>
          <a:prstGeom prst="rect">
            <a:avLst/>
          </a:prstGeom>
        </p:spPr>
      </p:pic>
      <p:pic>
        <p:nvPicPr>
          <p:cNvPr id="233" name="Graphic 5" descr="Mortgage outline">
            <a:extLst>
              <a:ext uri="{FF2B5EF4-FFF2-40B4-BE49-F238E27FC236}">
                <a16:creationId xmlns:a16="http://schemas.microsoft.com/office/drawing/2014/main" id="{50E57A46-5667-95C5-8A02-114D1D23EC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55741" y="3124035"/>
            <a:ext cx="342900" cy="300568"/>
          </a:xfrm>
          <a:prstGeom prst="rect">
            <a:avLst/>
          </a:prstGeom>
        </p:spPr>
      </p:pic>
      <p:sp>
        <p:nvSpPr>
          <p:cNvPr id="234" name="Oval 26">
            <a:extLst>
              <a:ext uri="{FF2B5EF4-FFF2-40B4-BE49-F238E27FC236}">
                <a16:creationId xmlns:a16="http://schemas.microsoft.com/office/drawing/2014/main" id="{E8C26D55-B71C-7AB6-E72C-36ECB19238E2}"/>
              </a:ext>
            </a:extLst>
          </p:cNvPr>
          <p:cNvSpPr>
            <a:spLocks noChangeArrowheads="1"/>
          </p:cNvSpPr>
          <p:nvPr/>
        </p:nvSpPr>
        <p:spPr bwMode="auto">
          <a:xfrm>
            <a:off x="8094661" y="4401079"/>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235" name="Group 55" descr="This image is an icon of three connected human figures. ">
            <a:extLst>
              <a:ext uri="{FF2B5EF4-FFF2-40B4-BE49-F238E27FC236}">
                <a16:creationId xmlns:a16="http://schemas.microsoft.com/office/drawing/2014/main" id="{83AADD32-8BFD-D63E-2FE5-D89FE600F4D2}"/>
              </a:ext>
            </a:extLst>
          </p:cNvPr>
          <p:cNvGrpSpPr/>
          <p:nvPr/>
        </p:nvGrpSpPr>
        <p:grpSpPr>
          <a:xfrm>
            <a:off x="8639466" y="4934495"/>
            <a:ext cx="182891" cy="157903"/>
            <a:chOff x="-23742650" y="-5770563"/>
            <a:chExt cx="3497276" cy="3019425"/>
          </a:xfrm>
          <a:solidFill>
            <a:schemeClr val="bg1">
              <a:lumMod val="50000"/>
            </a:schemeClr>
          </a:solidFill>
        </p:grpSpPr>
        <p:sp>
          <p:nvSpPr>
            <p:cNvPr id="236" name="Freeform 41">
              <a:extLst>
                <a:ext uri="{FF2B5EF4-FFF2-40B4-BE49-F238E27FC236}">
                  <a16:creationId xmlns:a16="http://schemas.microsoft.com/office/drawing/2014/main" id="{7DA7D1B4-1206-E290-7177-40CA86F0557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37" name="Freeform 42">
              <a:extLst>
                <a:ext uri="{FF2B5EF4-FFF2-40B4-BE49-F238E27FC236}">
                  <a16:creationId xmlns:a16="http://schemas.microsoft.com/office/drawing/2014/main" id="{125EAFFD-6E63-9F57-BFA8-A6A9FD88CC8F}"/>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38" name="Freeform 43">
              <a:extLst>
                <a:ext uri="{FF2B5EF4-FFF2-40B4-BE49-F238E27FC236}">
                  <a16:creationId xmlns:a16="http://schemas.microsoft.com/office/drawing/2014/main" id="{432D8948-F361-CFA8-2537-12ECA9FED2D4}"/>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239" name="Graphic 3" descr="Mortgage outline">
            <a:extLst>
              <a:ext uri="{FF2B5EF4-FFF2-40B4-BE49-F238E27FC236}">
                <a16:creationId xmlns:a16="http://schemas.microsoft.com/office/drawing/2014/main" id="{5F3E609F-AE98-FA7B-73C5-EBB8D65D3A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37407" y="5018452"/>
            <a:ext cx="342900" cy="300568"/>
          </a:xfrm>
          <a:prstGeom prst="rect">
            <a:avLst/>
          </a:prstGeom>
        </p:spPr>
      </p:pic>
      <p:pic>
        <p:nvPicPr>
          <p:cNvPr id="240" name="Graphic 4" descr="Mortgage outline">
            <a:extLst>
              <a:ext uri="{FF2B5EF4-FFF2-40B4-BE49-F238E27FC236}">
                <a16:creationId xmlns:a16="http://schemas.microsoft.com/office/drawing/2014/main" id="{A8EC65A7-AEDA-5B55-AAAE-79F77AF90C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62240" y="4584535"/>
            <a:ext cx="342900" cy="300568"/>
          </a:xfrm>
          <a:prstGeom prst="rect">
            <a:avLst/>
          </a:prstGeom>
        </p:spPr>
      </p:pic>
      <p:pic>
        <p:nvPicPr>
          <p:cNvPr id="241" name="Graphic 5" descr="Mortgage outline">
            <a:extLst>
              <a:ext uri="{FF2B5EF4-FFF2-40B4-BE49-F238E27FC236}">
                <a16:creationId xmlns:a16="http://schemas.microsoft.com/office/drawing/2014/main" id="{EFC173BC-FE52-E009-B6E5-11BAFFD7AA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97657" y="5018452"/>
            <a:ext cx="342900" cy="300568"/>
          </a:xfrm>
          <a:prstGeom prst="rect">
            <a:avLst/>
          </a:prstGeom>
        </p:spPr>
      </p:pic>
      <p:sp>
        <p:nvSpPr>
          <p:cNvPr id="242" name="Rectangle 241">
            <a:extLst>
              <a:ext uri="{FF2B5EF4-FFF2-40B4-BE49-F238E27FC236}">
                <a16:creationId xmlns:a16="http://schemas.microsoft.com/office/drawing/2014/main" id="{20F6650B-1457-FB59-0615-9D26B18B88AE}"/>
              </a:ext>
            </a:extLst>
          </p:cNvPr>
          <p:cNvSpPr/>
          <p:nvPr/>
        </p:nvSpPr>
        <p:spPr>
          <a:xfrm>
            <a:off x="263137" y="4445145"/>
            <a:ext cx="2377770" cy="492443"/>
          </a:xfrm>
          <a:prstGeom prst="rect">
            <a:avLst/>
          </a:prstGeom>
        </p:spPr>
        <p:txBody>
          <a:bodyPr wrap="square" lIns="0" tIns="0" rIns="0" bIns="0" anchor="t">
            <a:spAutoFit/>
          </a:bodyPr>
          <a:lstStyle/>
          <a:p>
            <a:r>
              <a:rPr lang="en-US" sz="1600">
                <a:solidFill>
                  <a:srgbClr val="27251E"/>
                </a:solidFill>
                <a:ea typeface="+mn-lt"/>
                <a:cs typeface="+mn-lt"/>
              </a:rPr>
              <a:t>Combined data from BLS, Census, BEA, FHFA, and IRS.</a:t>
            </a:r>
            <a:endParaRPr lang="fr-FR" sz="1600">
              <a:ea typeface="+mn-lt"/>
              <a:cs typeface="+mn-lt"/>
            </a:endParaRPr>
          </a:p>
        </p:txBody>
      </p:sp>
      <p:sp>
        <p:nvSpPr>
          <p:cNvPr id="243" name="Rectangle 242">
            <a:extLst>
              <a:ext uri="{FF2B5EF4-FFF2-40B4-BE49-F238E27FC236}">
                <a16:creationId xmlns:a16="http://schemas.microsoft.com/office/drawing/2014/main" id="{BBF2787F-F109-10B7-DB8A-F981FD595E8A}"/>
              </a:ext>
            </a:extLst>
          </p:cNvPr>
          <p:cNvSpPr/>
          <p:nvPr/>
        </p:nvSpPr>
        <p:spPr>
          <a:xfrm>
            <a:off x="4792805" y="1037312"/>
            <a:ext cx="2377770" cy="1015663"/>
          </a:xfrm>
          <a:prstGeom prst="rect">
            <a:avLst/>
          </a:prstGeom>
        </p:spPr>
        <p:txBody>
          <a:bodyPr wrap="square" lIns="0" tIns="0" rIns="0" bIns="0" anchor="t">
            <a:spAutoFit/>
          </a:bodyPr>
          <a:lstStyle/>
          <a:p>
            <a:pPr algn="ctr"/>
            <a:r>
              <a:rPr lang="en-US" sz="1600">
                <a:solidFill>
                  <a:srgbClr val="27251E"/>
                </a:solidFill>
                <a:ea typeface="+mn-lt"/>
                <a:cs typeface="+mn-lt"/>
              </a:rPr>
              <a:t>Built a 50-state panel dataset from 2020 to 2024.</a:t>
            </a:r>
            <a:endParaRPr lang="fr-FR" sz="1600">
              <a:ea typeface="+mn-lt"/>
              <a:cs typeface="+mn-lt"/>
            </a:endParaRPr>
          </a:p>
          <a:p>
            <a:endParaRPr lang="en-US" sz="1600" dirty="0">
              <a:solidFill>
                <a:srgbClr val="27251E"/>
              </a:solidFill>
              <a:ea typeface="Calibri"/>
              <a:cs typeface="Calibri"/>
            </a:endParaRPr>
          </a:p>
          <a:p>
            <a:pPr algn="r"/>
            <a:endParaRPr lang="en-US">
              <a:ea typeface="Calibri" panose="020F0502020204030204"/>
              <a:cs typeface="Calibri" panose="020F0502020204030204"/>
            </a:endParaRPr>
          </a:p>
        </p:txBody>
      </p:sp>
      <p:sp>
        <p:nvSpPr>
          <p:cNvPr id="244" name="Rectangle 243">
            <a:extLst>
              <a:ext uri="{FF2B5EF4-FFF2-40B4-BE49-F238E27FC236}">
                <a16:creationId xmlns:a16="http://schemas.microsoft.com/office/drawing/2014/main" id="{68948AB2-B135-2EAA-5963-5E9CB50216CC}"/>
              </a:ext>
            </a:extLst>
          </p:cNvPr>
          <p:cNvSpPr/>
          <p:nvPr/>
        </p:nvSpPr>
        <p:spPr>
          <a:xfrm>
            <a:off x="9036720" y="2751810"/>
            <a:ext cx="2652936" cy="738664"/>
          </a:xfrm>
          <a:prstGeom prst="rect">
            <a:avLst/>
          </a:prstGeom>
        </p:spPr>
        <p:txBody>
          <a:bodyPr wrap="square" lIns="0" tIns="0" rIns="0" bIns="0" anchor="t">
            <a:spAutoFit/>
          </a:bodyPr>
          <a:lstStyle/>
          <a:p>
            <a:pPr algn="r"/>
            <a:r>
              <a:rPr lang="en-US" sz="1600">
                <a:solidFill>
                  <a:srgbClr val="27251E"/>
                </a:solidFill>
                <a:ea typeface="+mn-lt"/>
                <a:cs typeface="+mn-lt"/>
              </a:rPr>
              <a:t>Used Random Forest Regression as a comparison model.</a:t>
            </a:r>
            <a:endParaRPr lang="fr-FR" sz="1600">
              <a:ea typeface="+mn-lt"/>
              <a:cs typeface="+mn-lt"/>
            </a:endParaRPr>
          </a:p>
        </p:txBody>
      </p:sp>
      <p:sp>
        <p:nvSpPr>
          <p:cNvPr id="245" name="Rectangle 244">
            <a:extLst>
              <a:ext uri="{FF2B5EF4-FFF2-40B4-BE49-F238E27FC236}">
                <a16:creationId xmlns:a16="http://schemas.microsoft.com/office/drawing/2014/main" id="{35A9F17A-FDB8-8BBA-BC5A-EE3FD3C7BF22}"/>
              </a:ext>
            </a:extLst>
          </p:cNvPr>
          <p:cNvSpPr/>
          <p:nvPr/>
        </p:nvSpPr>
        <p:spPr>
          <a:xfrm>
            <a:off x="9608220" y="4476895"/>
            <a:ext cx="2377770" cy="738664"/>
          </a:xfrm>
          <a:prstGeom prst="rect">
            <a:avLst/>
          </a:prstGeom>
        </p:spPr>
        <p:txBody>
          <a:bodyPr wrap="square" lIns="0" tIns="0" rIns="0" bIns="0" anchor="t">
            <a:spAutoFit/>
          </a:bodyPr>
          <a:lstStyle/>
          <a:p>
            <a:pPr algn="r"/>
            <a:r>
              <a:rPr lang="en-US" sz="1600">
                <a:solidFill>
                  <a:srgbClr val="27251E"/>
                </a:solidFill>
                <a:ea typeface="+mn-lt"/>
                <a:cs typeface="+mn-lt"/>
              </a:rPr>
              <a:t>Migration was only available for the reduced 2021 to 2023 subset.</a:t>
            </a:r>
            <a:endParaRPr lang="en-US"/>
          </a:p>
        </p:txBody>
      </p:sp>
    </p:spTree>
    <p:extLst>
      <p:ext uri="{BB962C8B-B14F-4D97-AF65-F5344CB8AC3E}">
        <p14:creationId xmlns:p14="http://schemas.microsoft.com/office/powerpoint/2010/main" val="1869736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E084D-F519-3B69-E3F1-D37F3D9DEAE5}"/>
            </a:ext>
          </a:extLst>
        </p:cNvPr>
        <p:cNvGrpSpPr/>
        <p:nvPr/>
      </p:nvGrpSpPr>
      <p:grpSpPr>
        <a:xfrm>
          <a:off x="0" y="0"/>
          <a:ext cx="0" cy="0"/>
          <a:chOff x="0" y="0"/>
          <a:chExt cx="0" cy="0"/>
        </a:xfrm>
      </p:grpSpPr>
      <p:sp>
        <p:nvSpPr>
          <p:cNvPr id="68" name="Title 67" hidden="1">
            <a:extLst>
              <a:ext uri="{FF2B5EF4-FFF2-40B4-BE49-F238E27FC236}">
                <a16:creationId xmlns:a16="http://schemas.microsoft.com/office/drawing/2014/main" id="{1B694984-160A-2B70-387B-56BD8D523665}"/>
              </a:ext>
            </a:extLst>
          </p:cNvPr>
          <p:cNvSpPr>
            <a:spLocks noGrp="1"/>
          </p:cNvSpPr>
          <p:nvPr>
            <p:ph type="title"/>
          </p:nvPr>
        </p:nvSpPr>
        <p:spPr/>
        <p:txBody>
          <a:bodyPr/>
          <a:lstStyle/>
          <a:p>
            <a:r>
              <a:rPr lang="en-US" dirty="0"/>
              <a:t>Human resources slide 3</a:t>
            </a:r>
          </a:p>
        </p:txBody>
      </p:sp>
      <p:sp>
        <p:nvSpPr>
          <p:cNvPr id="123" name="Rectangle 122">
            <a:extLst>
              <a:ext uri="{FF2B5EF4-FFF2-40B4-BE49-F238E27FC236}">
                <a16:creationId xmlns:a16="http://schemas.microsoft.com/office/drawing/2014/main" id="{5254123B-43E0-4176-D611-BEBB5630A469}"/>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891B6CA6-39A8-9BF1-DBBC-BEE0B383A9BE}"/>
              </a:ext>
              <a:ext uri="{C183D7F6-B498-43B3-948B-1728B52AA6E4}">
                <adec:decorative xmlns:adec="http://schemas.microsoft.com/office/drawing/2017/decorative" val="1"/>
              </a:ext>
            </a:extLst>
          </p:cNvPr>
          <p:cNvSpPr/>
          <p:nvPr/>
        </p:nvSpPr>
        <p:spPr>
          <a:xfrm>
            <a:off x="-221796" y="5502466"/>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3C9744EF-0539-FCC0-1E79-0A414AE86528}"/>
              </a:ext>
            </a:extLst>
          </p:cNvPr>
          <p:cNvSpPr txBox="1"/>
          <p:nvPr/>
        </p:nvSpPr>
        <p:spPr>
          <a:xfrm>
            <a:off x="523908" y="1231908"/>
            <a:ext cx="3603287" cy="1005403"/>
          </a:xfrm>
          <a:prstGeom prst="rect">
            <a:avLst/>
          </a:prstGeom>
          <a:noFill/>
        </p:spPr>
        <p:txBody>
          <a:bodyPr wrap="square" lIns="0" tIns="0" rIns="0" bIns="0" rtlCol="0" anchor="t">
            <a:spAutoFit/>
          </a:bodyPr>
          <a:lstStyle/>
          <a:p>
            <a:r>
              <a:rPr lang="en-US" sz="3200" b="1">
                <a:solidFill>
                  <a:srgbClr val="1E3ADA"/>
                </a:solidFill>
              </a:rPr>
              <a:t>Result and Analysis 1</a:t>
            </a:r>
            <a:endParaRPr lang="fr-FR" sz="3200" b="1">
              <a:solidFill>
                <a:srgbClr val="000000"/>
              </a:solidFill>
              <a:ea typeface="Calibri" panose="020F0502020204030204"/>
              <a:cs typeface="Calibri" panose="020F0502020204030204"/>
            </a:endParaRPr>
          </a:p>
          <a:p>
            <a:pPr>
              <a:lnSpc>
                <a:spcPts val="4000"/>
              </a:lnSpc>
            </a:pPr>
            <a:endParaRPr lang="en-US" sz="4400" b="1" dirty="0">
              <a:solidFill>
                <a:srgbClr val="002060"/>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9DD5F47C-586E-F970-74F6-52EC387483B5}"/>
              </a:ext>
            </a:extLst>
          </p:cNvPr>
          <p:cNvSpPr/>
          <p:nvPr/>
        </p:nvSpPr>
        <p:spPr>
          <a:xfrm>
            <a:off x="523908" y="1982470"/>
            <a:ext cx="2879127" cy="3693319"/>
          </a:xfrm>
          <a:prstGeom prst="rect">
            <a:avLst/>
          </a:prstGeom>
        </p:spPr>
        <p:txBody>
          <a:bodyPr wrap="square" lIns="0" tIns="0" rIns="0" bIns="0" anchor="t">
            <a:spAutoFit/>
          </a:bodyPr>
          <a:lstStyle/>
          <a:p>
            <a:pPr>
              <a:buFont typeface="Arial"/>
              <a:buChar char="•"/>
            </a:pPr>
            <a:r>
              <a:rPr lang="en-US" sz="1600" dirty="0">
                <a:solidFill>
                  <a:srgbClr val="27251E"/>
                </a:solidFill>
                <a:ea typeface="+mn-lt"/>
                <a:cs typeface="+mn-lt"/>
              </a:rPr>
              <a:t>RPP was the strongest associated factor.</a:t>
            </a:r>
            <a:endParaRPr lang="fr-FR" sz="1600" dirty="0">
              <a:solidFill>
                <a:srgbClr val="000000"/>
              </a:solidFill>
              <a:ea typeface="+mn-lt"/>
              <a:cs typeface="+mn-lt"/>
            </a:endParaRPr>
          </a:p>
          <a:p>
            <a:pPr>
              <a:buFont typeface="Arial"/>
              <a:buChar char="•"/>
            </a:pPr>
            <a:r>
              <a:rPr lang="en-US" sz="1600" dirty="0">
                <a:solidFill>
                  <a:srgbClr val="27251E"/>
                </a:solidFill>
                <a:ea typeface="+mn-lt"/>
                <a:cs typeface="+mn-lt"/>
              </a:rPr>
              <a:t>Correlation with housing prices was about 0.56 to 0.60.</a:t>
            </a:r>
            <a:endParaRPr lang="fr-FR" sz="1600" dirty="0">
              <a:ea typeface="+mn-lt"/>
              <a:cs typeface="+mn-lt"/>
            </a:endParaRPr>
          </a:p>
          <a:p>
            <a:pPr>
              <a:buFont typeface="Arial"/>
              <a:buChar char="•"/>
            </a:pPr>
            <a:r>
              <a:rPr lang="en-US" sz="1600" dirty="0">
                <a:solidFill>
                  <a:srgbClr val="27251E"/>
                </a:solidFill>
                <a:ea typeface="+mn-lt"/>
                <a:cs typeface="+mn-lt"/>
              </a:rPr>
              <a:t>Higher-cost states generally had higher housing prices.</a:t>
            </a:r>
          </a:p>
          <a:p>
            <a:pPr>
              <a:buFont typeface="Arial"/>
              <a:buChar char="•"/>
            </a:pPr>
            <a:r>
              <a:rPr lang="en-US" sz="1600">
                <a:ea typeface="+mn-lt"/>
                <a:cs typeface="+mn-lt"/>
              </a:rPr>
              <a:t>COVID-19 likely accelerated housing demand through remote work and low interest rates.</a:t>
            </a:r>
          </a:p>
          <a:p>
            <a:pPr>
              <a:buFont typeface="Arial"/>
              <a:buChar char="•"/>
            </a:pPr>
            <a:r>
              <a:rPr lang="en-US" sz="1600" dirty="0">
                <a:solidFill>
                  <a:srgbClr val="27251E"/>
                </a:solidFill>
                <a:ea typeface="+mn-lt"/>
                <a:cs typeface="+mn-lt"/>
              </a:rPr>
              <a:t>Unemployment was negatively associated with housing prices.</a:t>
            </a:r>
            <a:endParaRPr lang="en-US" sz="1600" dirty="0">
              <a:ea typeface="+mn-lt"/>
              <a:cs typeface="+mn-lt"/>
            </a:endParaRPr>
          </a:p>
          <a:p>
            <a:pPr>
              <a:buFont typeface="Arial"/>
              <a:buChar char="•"/>
            </a:pPr>
            <a:r>
              <a:rPr lang="en-US" sz="1600" dirty="0">
                <a:solidFill>
                  <a:srgbClr val="27251E"/>
                </a:solidFill>
                <a:ea typeface="+mn-lt"/>
                <a:cs typeface="+mn-lt"/>
              </a:rPr>
              <a:t>Income growth had a positive relationship.</a:t>
            </a:r>
            <a:endParaRPr lang="en-US" sz="1600" dirty="0">
              <a:ea typeface="+mn-lt"/>
              <a:cs typeface="+mn-lt"/>
            </a:endParaRPr>
          </a:p>
          <a:p>
            <a:pPr>
              <a:buFont typeface="Arial"/>
              <a:buChar char="•"/>
            </a:pPr>
            <a:r>
              <a:rPr lang="en-US" sz="1600" dirty="0">
                <a:solidFill>
                  <a:srgbClr val="27251E"/>
                </a:solidFill>
                <a:ea typeface="+mn-lt"/>
                <a:cs typeface="+mn-lt"/>
              </a:rPr>
              <a:t>Population and migration were weaker predictors.</a:t>
            </a:r>
            <a:endParaRPr lang="en-US" sz="1600" dirty="0">
              <a:ea typeface="+mn-lt"/>
              <a:cs typeface="+mn-lt"/>
            </a:endParaRPr>
          </a:p>
        </p:txBody>
      </p:sp>
      <p:sp>
        <p:nvSpPr>
          <p:cNvPr id="4" name="Parallelogram 3">
            <a:extLst>
              <a:ext uri="{FF2B5EF4-FFF2-40B4-BE49-F238E27FC236}">
                <a16:creationId xmlns:a16="http://schemas.microsoft.com/office/drawing/2014/main" id="{DA98D134-50AA-12EA-1A7E-62AFFA501FEE}"/>
              </a:ext>
              <a:ext uri="{C183D7F6-B498-43B3-948B-1728B52AA6E4}">
                <adec:decorative xmlns:adec="http://schemas.microsoft.com/office/drawing/2017/decorative" val="1"/>
              </a:ext>
            </a:extLst>
          </p:cNvPr>
          <p:cNvSpPr/>
          <p:nvPr/>
        </p:nvSpPr>
        <p:spPr>
          <a:xfrm>
            <a:off x="4115474" y="2"/>
            <a:ext cx="3961053" cy="6857998"/>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 name="TextBox 13">
            <a:extLst>
              <a:ext uri="{FF2B5EF4-FFF2-40B4-BE49-F238E27FC236}">
                <a16:creationId xmlns:a16="http://schemas.microsoft.com/office/drawing/2014/main" id="{8CBA8335-87B1-394C-A628-AC4EBE9E5C93}"/>
              </a:ext>
            </a:extLst>
          </p:cNvPr>
          <p:cNvSpPr txBox="1"/>
          <p:nvPr/>
        </p:nvSpPr>
        <p:spPr>
          <a:xfrm>
            <a:off x="4492535" y="1052060"/>
            <a:ext cx="3258355" cy="492443"/>
          </a:xfrm>
          <a:prstGeom prst="rect">
            <a:avLst/>
          </a:prstGeom>
          <a:noFill/>
        </p:spPr>
        <p:txBody>
          <a:bodyPr wrap="square" lIns="0" tIns="0" rIns="0" bIns="0" rtlCol="0" anchor="t">
            <a:spAutoFit/>
          </a:bodyPr>
          <a:lstStyle/>
          <a:p>
            <a:pPr algn="ctr"/>
            <a:r>
              <a:rPr lang="en-US" sz="1600" b="1" dirty="0">
                <a:solidFill>
                  <a:schemeClr val="bg1"/>
                </a:solidFill>
                <a:latin typeface="Segoe UI"/>
                <a:ea typeface="+mn-lt"/>
                <a:cs typeface="Segoe UI"/>
              </a:rPr>
              <a:t>Unemployment Rate VS Housing Price </a:t>
            </a:r>
            <a:r>
              <a:rPr lang="en-US" sz="1600" b="1">
                <a:solidFill>
                  <a:schemeClr val="bg1"/>
                </a:solidFill>
                <a:latin typeface="Segoe UI"/>
                <a:ea typeface="+mn-lt"/>
                <a:cs typeface="Segoe UI"/>
              </a:rPr>
              <a:t>Index</a:t>
            </a:r>
            <a:endParaRPr lang="en-US" sz="1600" b="1" dirty="0" err="1">
              <a:solidFill>
                <a:schemeClr val="bg1"/>
              </a:solidFill>
              <a:latin typeface="Segoe UI"/>
              <a:ea typeface="Calibri"/>
              <a:cs typeface="Segoe UI"/>
            </a:endParaRPr>
          </a:p>
        </p:txBody>
      </p:sp>
      <p:grpSp>
        <p:nvGrpSpPr>
          <p:cNvPr id="93" name="Group 92">
            <a:extLst>
              <a:ext uri="{FF2B5EF4-FFF2-40B4-BE49-F238E27FC236}">
                <a16:creationId xmlns:a16="http://schemas.microsoft.com/office/drawing/2014/main" id="{220413E7-6EC9-82FC-011F-6064BD321A9E}"/>
              </a:ext>
              <a:ext uri="{C183D7F6-B498-43B3-948B-1728B52AA6E4}">
                <adec:decorative xmlns:adec="http://schemas.microsoft.com/office/drawing/2017/decorative" val="1"/>
              </a:ext>
            </a:extLst>
          </p:cNvPr>
          <p:cNvGrpSpPr/>
          <p:nvPr/>
        </p:nvGrpSpPr>
        <p:grpSpPr>
          <a:xfrm>
            <a:off x="8330412" y="1056245"/>
            <a:ext cx="3679052" cy="5031476"/>
            <a:chOff x="8346370" y="1056245"/>
            <a:chExt cx="3679052" cy="5031476"/>
          </a:xfrm>
        </p:grpSpPr>
        <p:sp>
          <p:nvSpPr>
            <p:cNvPr id="101" name="TextBox 100">
              <a:extLst>
                <a:ext uri="{FF2B5EF4-FFF2-40B4-BE49-F238E27FC236}">
                  <a16:creationId xmlns:a16="http://schemas.microsoft.com/office/drawing/2014/main" id="{CE66F0D0-B14C-1B2C-8CF6-A8DC1C706DFC}"/>
                </a:ext>
              </a:extLst>
            </p:cNvPr>
            <p:cNvSpPr txBox="1"/>
            <p:nvPr/>
          </p:nvSpPr>
          <p:spPr>
            <a:xfrm>
              <a:off x="8658076" y="1056245"/>
              <a:ext cx="3047138" cy="492443"/>
            </a:xfrm>
            <a:prstGeom prst="rect">
              <a:avLst/>
            </a:prstGeom>
            <a:noFill/>
          </p:spPr>
          <p:txBody>
            <a:bodyPr wrap="square" lIns="0" tIns="0" rIns="0" bIns="0" rtlCol="0" anchor="t">
              <a:spAutoFit/>
            </a:bodyPr>
            <a:lstStyle/>
            <a:p>
              <a:pPr algn="ctr"/>
              <a:r>
                <a:rPr lang="en-US" sz="1600" b="1">
                  <a:solidFill>
                    <a:srgbClr val="002060"/>
                  </a:solidFill>
                  <a:latin typeface="Segoe UI"/>
                  <a:cs typeface="Segoe UI"/>
                </a:rPr>
                <a:t>Income Change VS Housing Price Index</a:t>
              </a:r>
              <a:endParaRPr lang="en-US" sz="1600" b="1" dirty="0">
                <a:solidFill>
                  <a:srgbClr val="002060"/>
                </a:solidFill>
                <a:latin typeface="Segoe UI"/>
                <a:cs typeface="Segoe UI"/>
              </a:endParaRPr>
            </a:p>
          </p:txBody>
        </p:sp>
        <p:sp>
          <p:nvSpPr>
            <p:cNvPr id="107" name="Rectangle 106">
              <a:extLst>
                <a:ext uri="{FF2B5EF4-FFF2-40B4-BE49-F238E27FC236}">
                  <a16:creationId xmlns:a16="http://schemas.microsoft.com/office/drawing/2014/main" id="{2307716F-EC83-1E6E-B204-824D35A95371}"/>
                </a:ext>
              </a:extLst>
            </p:cNvPr>
            <p:cNvSpPr/>
            <p:nvPr/>
          </p:nvSpPr>
          <p:spPr>
            <a:xfrm>
              <a:off x="8346370" y="4610393"/>
              <a:ext cx="3679052" cy="1477328"/>
            </a:xfrm>
            <a:prstGeom prst="rect">
              <a:avLst/>
            </a:prstGeom>
          </p:spPr>
          <p:txBody>
            <a:bodyPr wrap="square" lIns="0" tIns="0" rIns="0" bIns="0" anchor="t">
              <a:spAutoFit/>
            </a:bodyPr>
            <a:lstStyle/>
            <a:p>
              <a:pPr algn="ctr"/>
              <a:r>
                <a:rPr lang="en-US" sz="1600" dirty="0">
                  <a:solidFill>
                    <a:srgbClr val="000000"/>
                  </a:solidFill>
                  <a:latin typeface="Calibri"/>
                  <a:ea typeface="Calibri"/>
                  <a:cs typeface="Calibri"/>
                </a:rPr>
                <a:t>Scatter plot of income changes versus housing price index. The upward trend line shows a positive relationship, indicating that higher housing prices are associated with higher income, even if the effect is moderate</a:t>
              </a:r>
              <a:endParaRPr lang="en-US" sz="1600">
                <a:latin typeface="Calibri"/>
                <a:ea typeface="Calibri"/>
                <a:cs typeface="Calibri"/>
              </a:endParaRPr>
            </a:p>
          </p:txBody>
        </p:sp>
        <p:cxnSp>
          <p:nvCxnSpPr>
            <p:cNvPr id="72" name="Straight Connector 71">
              <a:extLst>
                <a:ext uri="{FF2B5EF4-FFF2-40B4-BE49-F238E27FC236}">
                  <a16:creationId xmlns:a16="http://schemas.microsoft.com/office/drawing/2014/main" id="{88F219C8-6C1B-6D79-A9D9-22F2F07DFDAD}"/>
                </a:ext>
              </a:extLst>
            </p:cNvPr>
            <p:cNvCxnSpPr>
              <a:cxnSpLocks/>
            </p:cNvCxnSpPr>
            <p:nvPr/>
          </p:nvCxnSpPr>
          <p:spPr>
            <a:xfrm>
              <a:off x="8462691" y="4385043"/>
              <a:ext cx="299611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7" name="Rectangle 66">
            <a:extLst>
              <a:ext uri="{FF2B5EF4-FFF2-40B4-BE49-F238E27FC236}">
                <a16:creationId xmlns:a16="http://schemas.microsoft.com/office/drawing/2014/main" id="{8C6E070E-0E3B-D475-1DF3-36FB9CCB6CD9}"/>
              </a:ext>
            </a:extLst>
          </p:cNvPr>
          <p:cNvSpPr/>
          <p:nvPr/>
        </p:nvSpPr>
        <p:spPr>
          <a:xfrm>
            <a:off x="4431600" y="4610392"/>
            <a:ext cx="3348050" cy="1477328"/>
          </a:xfrm>
          <a:prstGeom prst="rect">
            <a:avLst/>
          </a:prstGeom>
          <a:ln>
            <a:solidFill>
              <a:schemeClr val="bg1"/>
            </a:solidFill>
          </a:ln>
        </p:spPr>
        <p:txBody>
          <a:bodyPr wrap="square" lIns="0" tIns="0" rIns="0" bIns="0" anchor="t">
            <a:spAutoFit/>
          </a:bodyPr>
          <a:lstStyle/>
          <a:p>
            <a:pPr algn="ctr"/>
            <a:r>
              <a:rPr lang="en-US" sz="1600" dirty="0">
                <a:solidFill>
                  <a:schemeClr val="bg1"/>
                </a:solidFill>
                <a:latin typeface="Calibri"/>
                <a:ea typeface="+mn-lt"/>
                <a:cs typeface="Calibri"/>
              </a:rPr>
              <a:t>Scatter plot of unemployment rate versus housing price index. The downward trend line indicates a negative relationship, suggesting that higher unemployment rates are associated with lower housing prices.</a:t>
            </a:r>
            <a:endParaRPr lang="en-US" dirty="0">
              <a:solidFill>
                <a:schemeClr val="bg1"/>
              </a:solidFill>
              <a:ea typeface="Calibri" panose="020F0502020204030204"/>
              <a:cs typeface="Calibri" panose="020F0502020204030204"/>
            </a:endParaRPr>
          </a:p>
        </p:txBody>
      </p:sp>
      <p:pic>
        <p:nvPicPr>
          <p:cNvPr id="7" name="Image 6" descr="Une image contenant texte, capture d’écran, ligne, diagramme&#10;&#10;Le contenu généré par l’IA peut être incorrect.">
            <a:extLst>
              <a:ext uri="{FF2B5EF4-FFF2-40B4-BE49-F238E27FC236}">
                <a16:creationId xmlns:a16="http://schemas.microsoft.com/office/drawing/2014/main" id="{93790480-65CA-76F5-ECA7-93806AE4819D}"/>
              </a:ext>
            </a:extLst>
          </p:cNvPr>
          <p:cNvPicPr>
            <a:picLocks noChangeAspect="1"/>
          </p:cNvPicPr>
          <p:nvPr/>
        </p:nvPicPr>
        <p:blipFill>
          <a:blip r:embed="rId3"/>
          <a:stretch>
            <a:fillRect/>
          </a:stretch>
        </p:blipFill>
        <p:spPr>
          <a:xfrm>
            <a:off x="4430510" y="1697161"/>
            <a:ext cx="3349706" cy="2542929"/>
          </a:xfrm>
          <a:prstGeom prst="rect">
            <a:avLst/>
          </a:prstGeom>
        </p:spPr>
      </p:pic>
      <p:pic>
        <p:nvPicPr>
          <p:cNvPr id="8" name="Image 7" descr="Une image contenant texte, capture d’écran, diagramme, ligne&#10;&#10;Le contenu généré par l’IA peut être incorrect.">
            <a:extLst>
              <a:ext uri="{FF2B5EF4-FFF2-40B4-BE49-F238E27FC236}">
                <a16:creationId xmlns:a16="http://schemas.microsoft.com/office/drawing/2014/main" id="{051215A9-6B3C-8FCA-0B0B-E72A78BF90F8}"/>
              </a:ext>
            </a:extLst>
          </p:cNvPr>
          <p:cNvPicPr>
            <a:picLocks noChangeAspect="1"/>
          </p:cNvPicPr>
          <p:nvPr/>
        </p:nvPicPr>
        <p:blipFill>
          <a:blip r:embed="rId4"/>
          <a:stretch>
            <a:fillRect/>
          </a:stretch>
        </p:blipFill>
        <p:spPr>
          <a:xfrm>
            <a:off x="8329246" y="1692274"/>
            <a:ext cx="3573584" cy="2535604"/>
          </a:xfrm>
          <a:prstGeom prst="rect">
            <a:avLst/>
          </a:prstGeom>
        </p:spPr>
      </p:pic>
    </p:spTree>
    <p:extLst>
      <p:ext uri="{BB962C8B-B14F-4D97-AF65-F5344CB8AC3E}">
        <p14:creationId xmlns:p14="http://schemas.microsoft.com/office/powerpoint/2010/main" val="2534545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2784E464-B64A-4614-9350-2C88DBD46AB5}"/>
              </a:ext>
            </a:extLst>
          </p:cNvPr>
          <p:cNvSpPr>
            <a:spLocks noGrp="1"/>
          </p:cNvSpPr>
          <p:nvPr>
            <p:ph type="title"/>
          </p:nvPr>
        </p:nvSpPr>
        <p:spPr/>
        <p:txBody>
          <a:bodyPr/>
          <a:lstStyle/>
          <a:p>
            <a:r>
              <a:rPr lang="en-US" dirty="0"/>
              <a:t>Human resources slide 5</a:t>
            </a:r>
          </a:p>
        </p:txBody>
      </p:sp>
      <p:cxnSp>
        <p:nvCxnSpPr>
          <p:cNvPr id="110" name="Straight Connector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Rounded Corners 117">
            <a:extLst>
              <a:ext uri="{FF2B5EF4-FFF2-40B4-BE49-F238E27FC236}">
                <a16:creationId xmlns:a16="http://schemas.microsoft.com/office/drawing/2014/main" id="{A21B85DB-181D-46E7-A9DF-F92B1DF032FD}"/>
              </a:ext>
              <a:ext uri="{C183D7F6-B498-43B3-948B-1728B52AA6E4}">
                <adec:decorative xmlns:adec="http://schemas.microsoft.com/office/drawing/2017/decorative" val="1"/>
              </a:ext>
            </a:extLst>
          </p:cNvPr>
          <p:cNvSpPr/>
          <p:nvPr/>
        </p:nvSpPr>
        <p:spPr>
          <a:xfrm>
            <a:off x="6529218" y="2798158"/>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TextBox 106">
            <a:extLst>
              <a:ext uri="{FF2B5EF4-FFF2-40B4-BE49-F238E27FC236}">
                <a16:creationId xmlns:a16="http://schemas.microsoft.com/office/drawing/2014/main" id="{54EA7ED5-6E34-4D47-91B6-F78F5F8B4C6E}"/>
              </a:ext>
            </a:extLst>
          </p:cNvPr>
          <p:cNvSpPr txBox="1"/>
          <p:nvPr/>
        </p:nvSpPr>
        <p:spPr>
          <a:xfrm>
            <a:off x="7176185" y="369663"/>
            <a:ext cx="3603287" cy="1025922"/>
          </a:xfrm>
          <a:prstGeom prst="rect">
            <a:avLst/>
          </a:prstGeom>
          <a:noFill/>
        </p:spPr>
        <p:txBody>
          <a:bodyPr wrap="square" lIns="0" tIns="0" rIns="0" bIns="0" rtlCol="0" anchor="t">
            <a:spAutoFit/>
          </a:bodyPr>
          <a:lstStyle/>
          <a:p>
            <a:pPr>
              <a:lnSpc>
                <a:spcPts val="4000"/>
              </a:lnSpc>
            </a:pPr>
            <a:r>
              <a:rPr lang="en-US" sz="4400" b="1" dirty="0">
                <a:solidFill>
                  <a:srgbClr val="002060"/>
                </a:solidFill>
                <a:latin typeface="Segoe UI"/>
                <a:cs typeface="Segoe UI"/>
              </a:rPr>
              <a:t>Result And </a:t>
            </a:r>
            <a:r>
              <a:rPr lang="en-US" sz="4400" b="1">
                <a:solidFill>
                  <a:srgbClr val="002060"/>
                </a:solidFill>
                <a:latin typeface="Segoe UI"/>
                <a:cs typeface="Segoe UI"/>
              </a:rPr>
              <a:t>Analysis 2</a:t>
            </a:r>
            <a:endParaRPr lang="en-US" sz="4400" b="1" dirty="0">
              <a:solidFill>
                <a:srgbClr val="002060"/>
              </a:solidFill>
              <a:latin typeface="Segoe UI" panose="020B0502040204020203" pitchFamily="34" charset="0"/>
              <a:cs typeface="Segoe UI" panose="020B0502040204020203" pitchFamily="34" charset="0"/>
            </a:endParaRPr>
          </a:p>
        </p:txBody>
      </p:sp>
      <p:pic>
        <p:nvPicPr>
          <p:cNvPr id="3" name="Image 2" descr="Une image contenant texte, capture d’écran, Police, nombre&#10;&#10;Le contenu généré par l’IA peut être incorrect.">
            <a:extLst>
              <a:ext uri="{FF2B5EF4-FFF2-40B4-BE49-F238E27FC236}">
                <a16:creationId xmlns:a16="http://schemas.microsoft.com/office/drawing/2014/main" id="{9F849EE5-53F1-E65D-E93A-17A32433876F}"/>
              </a:ext>
            </a:extLst>
          </p:cNvPr>
          <p:cNvPicPr>
            <a:picLocks noChangeAspect="1"/>
          </p:cNvPicPr>
          <p:nvPr/>
        </p:nvPicPr>
        <p:blipFill>
          <a:blip r:embed="rId3"/>
          <a:stretch>
            <a:fillRect/>
          </a:stretch>
        </p:blipFill>
        <p:spPr>
          <a:xfrm>
            <a:off x="505355" y="886884"/>
            <a:ext cx="5773208" cy="2681816"/>
          </a:xfrm>
          <a:prstGeom prst="rect">
            <a:avLst/>
          </a:prstGeom>
        </p:spPr>
      </p:pic>
      <p:sp>
        <p:nvSpPr>
          <p:cNvPr id="6" name="TextBox 68">
            <a:extLst>
              <a:ext uri="{FF2B5EF4-FFF2-40B4-BE49-F238E27FC236}">
                <a16:creationId xmlns:a16="http://schemas.microsoft.com/office/drawing/2014/main" id="{0DD2ED25-5548-F539-6234-63EE1A0707C7}"/>
              </a:ext>
            </a:extLst>
          </p:cNvPr>
          <p:cNvSpPr txBox="1"/>
          <p:nvPr/>
        </p:nvSpPr>
        <p:spPr>
          <a:xfrm>
            <a:off x="7235531" y="2033582"/>
            <a:ext cx="3499537" cy="2462213"/>
          </a:xfrm>
          <a:prstGeom prst="rect">
            <a:avLst/>
          </a:prstGeom>
        </p:spPr>
        <p:txBody>
          <a:bodyPr wrap="square" lIns="0" tIns="0" rIns="0" bIns="0" anchor="t">
            <a:spAutoFit/>
          </a:bodyPr>
          <a:lstStyle>
            <a:defPPr>
              <a:defRPr lang="en-US"/>
            </a:defPPr>
            <a:lvl1pPr>
              <a:defRPr sz="1600" i="1">
                <a:solidFill>
                  <a:srgbClr val="002060"/>
                </a:solidFill>
                <a:latin typeface="+mj-lt"/>
                <a:cs typeface="Segoe UI" panose="020B0502040204020203" pitchFamily="34" charset="0"/>
              </a:defRPr>
            </a:lvl1pPr>
          </a:lstStyle>
          <a:p>
            <a:pPr marL="285750" indent="-285750">
              <a:buFont typeface="Arial"/>
              <a:buChar char="•"/>
            </a:pPr>
            <a:r>
              <a:rPr lang="en-US" i="0">
                <a:solidFill>
                  <a:srgbClr val="27251E"/>
                </a:solidFill>
                <a:ea typeface="+mj-lt"/>
                <a:cs typeface="+mj-lt"/>
              </a:rPr>
              <a:t>Random Forest performed better on the full dataset.</a:t>
            </a:r>
            <a:endParaRPr lang="fr-FR">
              <a:solidFill>
                <a:srgbClr val="27251E"/>
              </a:solidFill>
              <a:ea typeface="+mj-lt"/>
              <a:cs typeface="+mj-lt"/>
            </a:endParaRPr>
          </a:p>
          <a:p>
            <a:pPr marL="285750" indent="-285750">
              <a:buFont typeface="Arial"/>
              <a:buChar char="•"/>
            </a:pPr>
            <a:r>
              <a:rPr lang="en-US" i="0">
                <a:solidFill>
                  <a:srgbClr val="27251E"/>
                </a:solidFill>
                <a:ea typeface="+mj-lt"/>
                <a:cs typeface="+mj-lt"/>
              </a:rPr>
              <a:t>It had lower RMSE and MAE and higher R-squared.</a:t>
            </a:r>
            <a:endParaRPr lang="en-US">
              <a:solidFill>
                <a:srgbClr val="27251E"/>
              </a:solidFill>
              <a:ea typeface="+mj-lt"/>
              <a:cs typeface="+mj-lt"/>
            </a:endParaRPr>
          </a:p>
          <a:p>
            <a:pPr marL="285750" indent="-285750">
              <a:buFont typeface="Arial"/>
              <a:buChar char="•"/>
            </a:pPr>
            <a:r>
              <a:rPr lang="en-US" i="0">
                <a:solidFill>
                  <a:srgbClr val="27251E"/>
                </a:solidFill>
                <a:ea typeface="+mj-lt"/>
                <a:cs typeface="+mj-lt"/>
              </a:rPr>
              <a:t>Multiple linear regression performed better on the smaller migration subset.</a:t>
            </a:r>
            <a:endParaRPr lang="en-US"/>
          </a:p>
          <a:p>
            <a:pPr marL="285750" indent="-285750">
              <a:buFont typeface="Arial"/>
              <a:buChar char="•"/>
            </a:pPr>
            <a:r>
              <a:rPr lang="en-US" i="0">
                <a:solidFill>
                  <a:srgbClr val="27251E"/>
                </a:solidFill>
                <a:ea typeface="+mj-lt"/>
                <a:cs typeface="+mj-lt"/>
              </a:rPr>
              <a:t>Model performance depended on sample size and structure.</a:t>
            </a:r>
            <a:endParaRPr lang="en-US">
              <a:solidFill>
                <a:srgbClr val="27251E"/>
              </a:solidFill>
              <a:ea typeface="+mj-lt"/>
              <a:cs typeface="+mj-lt"/>
            </a:endParaRPr>
          </a:p>
          <a:p>
            <a:pPr marL="285750" indent="-285750">
              <a:buFont typeface="Arial"/>
              <a:buChar char="•"/>
            </a:pPr>
            <a:r>
              <a:rPr lang="en-US" i="0">
                <a:solidFill>
                  <a:srgbClr val="27251E"/>
                </a:solidFill>
                <a:ea typeface="+mj-lt"/>
                <a:cs typeface="+mj-lt"/>
              </a:rPr>
              <a:t>No single model was best in every case.</a:t>
            </a:r>
            <a:endParaRPr lang="en-US">
              <a:solidFill>
                <a:srgbClr val="27251E"/>
              </a:solidFill>
              <a:ea typeface="+mj-lt"/>
              <a:cs typeface="+mj-lt"/>
            </a:endParaRPr>
          </a:p>
        </p:txBody>
      </p:sp>
    </p:spTree>
    <p:extLst>
      <p:ext uri="{BB962C8B-B14F-4D97-AF65-F5344CB8AC3E}">
        <p14:creationId xmlns:p14="http://schemas.microsoft.com/office/powerpoint/2010/main" val="3740025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itle 97" hidden="1">
            <a:extLst>
              <a:ext uri="{FF2B5EF4-FFF2-40B4-BE49-F238E27FC236}">
                <a16:creationId xmlns:a16="http://schemas.microsoft.com/office/drawing/2014/main" id="{D69146DD-53CC-4FD6-9456-3F49560FC114}"/>
              </a:ext>
            </a:extLst>
          </p:cNvPr>
          <p:cNvSpPr>
            <a:spLocks noGrp="1"/>
          </p:cNvSpPr>
          <p:nvPr>
            <p:ph type="title"/>
          </p:nvPr>
        </p:nvSpPr>
        <p:spPr/>
        <p:txBody>
          <a:bodyPr/>
          <a:lstStyle/>
          <a:p>
            <a:r>
              <a:rPr lang="en-US" dirty="0"/>
              <a:t>Human resources slide 9</a:t>
            </a:r>
          </a:p>
        </p:txBody>
      </p:sp>
      <p:sp>
        <p:nvSpPr>
          <p:cNvPr id="87" name="Rectangle: Rounded Corners 86">
            <a:extLst>
              <a:ext uri="{FF2B5EF4-FFF2-40B4-BE49-F238E27FC236}">
                <a16:creationId xmlns:a16="http://schemas.microsoft.com/office/drawing/2014/main" id="{A8111457-D9DC-4BEB-BBB9-82FD4783D0EE}"/>
              </a:ext>
              <a:ext uri="{C183D7F6-B498-43B3-948B-1728B52AA6E4}">
                <adec:decorative xmlns:adec="http://schemas.microsoft.com/office/drawing/2017/decorative" val="1"/>
              </a:ext>
            </a:extLst>
          </p:cNvPr>
          <p:cNvSpPr/>
          <p:nvPr/>
        </p:nvSpPr>
        <p:spPr>
          <a:xfrm>
            <a:off x="-221796" y="160637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EFA5AF66-F428-4EBE-A3A8-9F827101F023}"/>
              </a:ext>
            </a:extLst>
          </p:cNvPr>
          <p:cNvSpPr txBox="1"/>
          <p:nvPr/>
        </p:nvSpPr>
        <p:spPr>
          <a:xfrm>
            <a:off x="726781" y="273553"/>
            <a:ext cx="4118571" cy="512961"/>
          </a:xfrm>
          <a:prstGeom prst="rect">
            <a:avLst/>
          </a:prstGeom>
          <a:noFill/>
        </p:spPr>
        <p:txBody>
          <a:bodyPr wrap="square" lIns="0" tIns="0" rIns="0" bIns="0" rtlCol="0" anchor="t">
            <a:noAutofit/>
          </a:bodyPr>
          <a:lstStyle>
            <a:defPPr>
              <a:defRPr lang="en-US"/>
            </a:defPPr>
            <a:lvl1pPr>
              <a:lnSpc>
                <a:spcPts val="4000"/>
              </a:lnSpc>
              <a:defRPr sz="3600" b="1">
                <a:solidFill>
                  <a:srgbClr val="002060"/>
                </a:solidFill>
                <a:latin typeface="Segoe UI" panose="020B0502040204020203" pitchFamily="34" charset="0"/>
                <a:cs typeface="Segoe UI" panose="020B0502040204020203" pitchFamily="34" charset="0"/>
              </a:defRPr>
            </a:lvl1pPr>
          </a:lstStyle>
          <a:p>
            <a:r>
              <a:rPr lang="en-US">
                <a:latin typeface="Segoe UI"/>
                <a:cs typeface="Segoe UI"/>
              </a:rPr>
              <a:t>Choropleth</a:t>
            </a:r>
            <a:r>
              <a:rPr lang="en-US" dirty="0">
                <a:latin typeface="Segoe UI"/>
                <a:cs typeface="Segoe UI"/>
              </a:rPr>
              <a:t> Map</a:t>
            </a:r>
            <a:endParaRPr lang="en-US" dirty="0"/>
          </a:p>
        </p:txBody>
      </p:sp>
      <p:sp>
        <p:nvSpPr>
          <p:cNvPr id="69" name="TextBox 68">
            <a:extLst>
              <a:ext uri="{FF2B5EF4-FFF2-40B4-BE49-F238E27FC236}">
                <a16:creationId xmlns:a16="http://schemas.microsoft.com/office/drawing/2014/main" id="{4A424134-52BB-4183-A9FC-3CBBA75DCD28}"/>
              </a:ext>
            </a:extLst>
          </p:cNvPr>
          <p:cNvSpPr txBox="1"/>
          <p:nvPr/>
        </p:nvSpPr>
        <p:spPr>
          <a:xfrm>
            <a:off x="843197" y="1229249"/>
            <a:ext cx="3499537" cy="1477328"/>
          </a:xfrm>
          <a:prstGeom prst="rect">
            <a:avLst/>
          </a:prstGeom>
        </p:spPr>
        <p:txBody>
          <a:bodyPr wrap="square" lIns="0" tIns="0" rIns="0" bIns="0" anchor="t">
            <a:spAutoFit/>
          </a:bodyPr>
          <a:lstStyle>
            <a:defPPr>
              <a:defRPr lang="en-US"/>
            </a:defPPr>
            <a:lvl1pPr>
              <a:defRPr sz="1600" i="1">
                <a:solidFill>
                  <a:srgbClr val="002060"/>
                </a:solidFill>
                <a:latin typeface="+mj-lt"/>
                <a:cs typeface="Segoe UI" panose="020B0502040204020203" pitchFamily="34" charset="0"/>
              </a:defRPr>
            </a:lvl1pPr>
          </a:lstStyle>
          <a:p>
            <a:r>
              <a:rPr lang="en-US" i="0" dirty="0">
                <a:solidFill>
                  <a:srgbClr val="000000"/>
                </a:solidFill>
                <a:latin typeface="Calibri"/>
                <a:ea typeface="Calibri"/>
                <a:cs typeface="Calibri"/>
              </a:rPr>
              <a:t>Choropleth map of housing price index across U.S. states. Darker shades indicate higher housing price levels, highlighting regional disparities, with higher concentrations in coastal and economically strong states</a:t>
            </a:r>
            <a:r>
              <a:rPr lang="en-US" b="1" i="0" dirty="0">
                <a:solidFill>
                  <a:srgbClr val="000000"/>
                </a:solidFill>
                <a:latin typeface="Calibri"/>
                <a:ea typeface="Calibri"/>
                <a:cs typeface="Calibri"/>
              </a:rPr>
              <a:t>.</a:t>
            </a:r>
            <a:endParaRPr lang="en-US" dirty="0">
              <a:latin typeface="Calibri"/>
              <a:ea typeface="Calibri"/>
              <a:cs typeface="Calibri"/>
            </a:endParaRPr>
          </a:p>
        </p:txBody>
      </p:sp>
      <p:grpSp>
        <p:nvGrpSpPr>
          <p:cNvPr id="94" name="Group 93" descr="This image is of an abstract shape. ">
            <a:extLst>
              <a:ext uri="{FF2B5EF4-FFF2-40B4-BE49-F238E27FC236}">
                <a16:creationId xmlns:a16="http://schemas.microsoft.com/office/drawing/2014/main" id="{06C5D049-85D7-4673-9E2C-A2DF6A4D5048}"/>
              </a:ext>
            </a:extLst>
          </p:cNvPr>
          <p:cNvGrpSpPr/>
          <p:nvPr/>
        </p:nvGrpSpPr>
        <p:grpSpPr>
          <a:xfrm rot="15309759">
            <a:off x="9026813" y="4622835"/>
            <a:ext cx="4736736" cy="6407275"/>
            <a:chOff x="4855953" y="-2833465"/>
            <a:chExt cx="8948964" cy="12105059"/>
          </a:xfrm>
        </p:grpSpPr>
        <p:sp>
          <p:nvSpPr>
            <p:cNvPr id="95" name="Freeform 10">
              <a:extLst>
                <a:ext uri="{FF2B5EF4-FFF2-40B4-BE49-F238E27FC236}">
                  <a16:creationId xmlns:a16="http://schemas.microsoft.com/office/drawing/2014/main" id="{495773B3-D6CE-453B-96D1-E95DF6122C37}"/>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Freeform 11">
              <a:extLst>
                <a:ext uri="{FF2B5EF4-FFF2-40B4-BE49-F238E27FC236}">
                  <a16:creationId xmlns:a16="http://schemas.microsoft.com/office/drawing/2014/main" id="{49D9CCDB-CAB7-4554-8B96-AF649D96074D}"/>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Freeform 12">
              <a:extLst>
                <a:ext uri="{FF2B5EF4-FFF2-40B4-BE49-F238E27FC236}">
                  <a16:creationId xmlns:a16="http://schemas.microsoft.com/office/drawing/2014/main" id="{15844E15-7463-4C39-9A45-B2A35B7FD5CD}"/>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pic>
        <p:nvPicPr>
          <p:cNvPr id="86" name="Image 85" descr="Une image contenant texte, carte, atlas, capture d’écran&#10;&#10;Le contenu généré par l’IA peut être incorrect.">
            <a:extLst>
              <a:ext uri="{FF2B5EF4-FFF2-40B4-BE49-F238E27FC236}">
                <a16:creationId xmlns:a16="http://schemas.microsoft.com/office/drawing/2014/main" id="{F52A663D-D2CB-C2C7-029D-02CF7DF92F82}"/>
              </a:ext>
            </a:extLst>
          </p:cNvPr>
          <p:cNvPicPr>
            <a:picLocks noChangeAspect="1"/>
          </p:cNvPicPr>
          <p:nvPr/>
        </p:nvPicPr>
        <p:blipFill>
          <a:blip r:embed="rId3"/>
          <a:stretch>
            <a:fillRect/>
          </a:stretch>
        </p:blipFill>
        <p:spPr>
          <a:xfrm>
            <a:off x="5179483" y="376238"/>
            <a:ext cx="6034616" cy="4613274"/>
          </a:xfrm>
          <a:prstGeom prst="rect">
            <a:avLst/>
          </a:prstGeom>
        </p:spPr>
      </p:pic>
    </p:spTree>
    <p:extLst>
      <p:ext uri="{BB962C8B-B14F-4D97-AF65-F5344CB8AC3E}">
        <p14:creationId xmlns:p14="http://schemas.microsoft.com/office/powerpoint/2010/main" val="353220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hidden="1">
            <a:extLst>
              <a:ext uri="{FF2B5EF4-FFF2-40B4-BE49-F238E27FC236}">
                <a16:creationId xmlns:a16="http://schemas.microsoft.com/office/drawing/2014/main" id="{24922840-A8AD-427F-889C-2B79CACC872F}"/>
              </a:ext>
            </a:extLst>
          </p:cNvPr>
          <p:cNvSpPr>
            <a:spLocks noGrp="1"/>
          </p:cNvSpPr>
          <p:nvPr>
            <p:ph type="title"/>
          </p:nvPr>
        </p:nvSpPr>
        <p:spPr/>
        <p:txBody>
          <a:bodyPr/>
          <a:lstStyle/>
          <a:p>
            <a:r>
              <a:rPr lang="en-US" dirty="0"/>
              <a:t>Human resources slide 10</a:t>
            </a:r>
          </a:p>
        </p:txBody>
      </p:sp>
      <p:sp>
        <p:nvSpPr>
          <p:cNvPr id="3" name="TextBox 2">
            <a:extLst>
              <a:ext uri="{FF2B5EF4-FFF2-40B4-BE49-F238E27FC236}">
                <a16:creationId xmlns:a16="http://schemas.microsoft.com/office/drawing/2014/main" id="{9436B850-15F2-41BC-A54E-6E0F332F011D}"/>
              </a:ext>
            </a:extLst>
          </p:cNvPr>
          <p:cNvSpPr txBox="1"/>
          <p:nvPr/>
        </p:nvSpPr>
        <p:spPr>
          <a:xfrm>
            <a:off x="256942" y="1039616"/>
            <a:ext cx="4845708" cy="2492990"/>
          </a:xfrm>
          <a:prstGeom prst="rect">
            <a:avLst/>
          </a:prstGeom>
          <a:noFill/>
        </p:spPr>
        <p:txBody>
          <a:bodyPr wrap="square" lIns="0" tIns="0" rIns="0" bIns="0" rtlCol="0" anchor="t">
            <a:spAutoFit/>
          </a:bodyPr>
          <a:lstStyle/>
          <a:p>
            <a:r>
              <a:rPr lang="en-US" sz="5400" b="1" dirty="0">
                <a:solidFill>
                  <a:srgbClr val="002060"/>
                </a:solidFill>
                <a:latin typeface="Segoe UI"/>
                <a:cs typeface="Segoe UI"/>
              </a:rPr>
              <a:t>Conclusion And </a:t>
            </a:r>
            <a:r>
              <a:rPr lang="en-US" sz="5400" b="1">
                <a:solidFill>
                  <a:srgbClr val="002060"/>
                </a:solidFill>
                <a:latin typeface="Segoe UI"/>
                <a:cs typeface="Segoe UI"/>
              </a:rPr>
              <a:t>future Work</a:t>
            </a:r>
            <a:endParaRPr lang="en-US" sz="5400" b="1" dirty="0">
              <a:solidFill>
                <a:srgbClr val="002060"/>
              </a:solidFill>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A9B74FAF-1757-48A8-BBFB-722E8E1D6FA4}"/>
              </a:ext>
            </a:extLst>
          </p:cNvPr>
          <p:cNvSpPr/>
          <p:nvPr/>
        </p:nvSpPr>
        <p:spPr>
          <a:xfrm>
            <a:off x="256942" y="3696813"/>
            <a:ext cx="5049611" cy="2462213"/>
          </a:xfrm>
          <a:prstGeom prst="rect">
            <a:avLst/>
          </a:prstGeom>
        </p:spPr>
        <p:txBody>
          <a:bodyPr wrap="square" lIns="0" tIns="0" rIns="0" bIns="0" anchor="t">
            <a:spAutoFit/>
          </a:bodyPr>
          <a:lstStyle/>
          <a:p>
            <a:pPr marL="285750" indent="-285750">
              <a:buFont typeface="Arial"/>
              <a:buChar char="•"/>
            </a:pPr>
            <a:r>
              <a:rPr lang="en-US" sz="1600">
                <a:solidFill>
                  <a:srgbClr val="27251E"/>
                </a:solidFill>
                <a:ea typeface="+mn-lt"/>
                <a:cs typeface="+mn-lt"/>
              </a:rPr>
              <a:t>Housing prices are best explained by multiple economic factors.</a:t>
            </a:r>
            <a:endParaRPr lang="fr-FR" sz="1600">
              <a:ea typeface="Calibri"/>
              <a:cs typeface="Calibri"/>
            </a:endParaRPr>
          </a:p>
          <a:p>
            <a:pPr marL="285750" indent="-285750">
              <a:buFont typeface="Arial"/>
              <a:buChar char="•"/>
            </a:pPr>
            <a:r>
              <a:rPr lang="en-US" sz="1600">
                <a:solidFill>
                  <a:srgbClr val="27251E"/>
                </a:solidFill>
                <a:ea typeface="+mn-lt"/>
                <a:cs typeface="+mn-lt"/>
              </a:rPr>
              <a:t>RPP was the clearest and strongest signal.</a:t>
            </a:r>
            <a:endParaRPr lang="en-US" sz="1600">
              <a:ea typeface="Calibri"/>
              <a:cs typeface="Calibri"/>
            </a:endParaRPr>
          </a:p>
          <a:p>
            <a:pPr marL="285750" indent="-285750">
              <a:buFont typeface="Arial"/>
              <a:buChar char="•"/>
            </a:pPr>
            <a:r>
              <a:rPr lang="en-US" sz="1600">
                <a:solidFill>
                  <a:srgbClr val="27251E"/>
                </a:solidFill>
                <a:ea typeface="+mn-lt"/>
                <a:cs typeface="+mn-lt"/>
              </a:rPr>
              <a:t>Income growth and unemployment also mattered.</a:t>
            </a:r>
            <a:endParaRPr lang="en-US" sz="1600">
              <a:ea typeface="Calibri"/>
              <a:cs typeface="Calibri"/>
            </a:endParaRPr>
          </a:p>
          <a:p>
            <a:pPr marL="285750" indent="-285750">
              <a:buFont typeface="Arial"/>
              <a:buChar char="•"/>
            </a:pPr>
            <a:r>
              <a:rPr lang="en-US" sz="1600">
                <a:solidFill>
                  <a:srgbClr val="27251E"/>
                </a:solidFill>
                <a:ea typeface="+mn-lt"/>
                <a:cs typeface="+mn-lt"/>
              </a:rPr>
              <a:t>Migration was limited by data coverage.</a:t>
            </a:r>
            <a:endParaRPr lang="en-US" sz="1600">
              <a:ea typeface="Calibri"/>
              <a:cs typeface="Calibri"/>
            </a:endParaRPr>
          </a:p>
          <a:p>
            <a:pPr marL="285750" indent="-285750">
              <a:buFont typeface="Arial"/>
              <a:buChar char="•"/>
            </a:pPr>
            <a:r>
              <a:rPr lang="en-US" sz="1600">
                <a:solidFill>
                  <a:srgbClr val="27251E"/>
                </a:solidFill>
                <a:ea typeface="+mn-lt"/>
                <a:cs typeface="+mn-lt"/>
              </a:rPr>
              <a:t>Future work: add housing stock, interest rates, and mortgage availability.</a:t>
            </a:r>
            <a:endParaRPr lang="en-US" sz="1600">
              <a:ea typeface="Calibri"/>
              <a:cs typeface="Calibri"/>
            </a:endParaRPr>
          </a:p>
          <a:p>
            <a:pPr marL="285750" indent="-285750">
              <a:buFont typeface="Arial"/>
              <a:buChar char="•"/>
            </a:pPr>
            <a:r>
              <a:rPr lang="en-US" sz="1600">
                <a:solidFill>
                  <a:srgbClr val="27251E"/>
                </a:solidFill>
                <a:ea typeface="+mn-lt"/>
                <a:cs typeface="+mn-lt"/>
              </a:rPr>
              <a:t>Future work: use city/county data, fixed effects, or gradient boosting.</a:t>
            </a:r>
          </a:p>
          <a:p>
            <a:endParaRPr lang="en-US" sz="1600" dirty="0">
              <a:solidFill>
                <a:srgbClr val="000000"/>
              </a:solidFill>
              <a:latin typeface="+mj-lt"/>
              <a:ea typeface="Calibri Light"/>
              <a:cs typeface="Calibri Light"/>
            </a:endParaRPr>
          </a:p>
        </p:txBody>
      </p:sp>
      <p:grpSp>
        <p:nvGrpSpPr>
          <p:cNvPr id="23" name="Group 22" descr="This image is of an abstract shape. ">
            <a:extLst>
              <a:ext uri="{FF2B5EF4-FFF2-40B4-BE49-F238E27FC236}">
                <a16:creationId xmlns:a16="http://schemas.microsoft.com/office/drawing/2014/main" id="{C5C1EC81-7459-4B76-B0C8-CF221BB21A2F}"/>
              </a:ext>
            </a:extLst>
          </p:cNvPr>
          <p:cNvGrpSpPr/>
          <p:nvPr/>
        </p:nvGrpSpPr>
        <p:grpSpPr>
          <a:xfrm>
            <a:off x="4855953" y="-2833465"/>
            <a:ext cx="8948964" cy="12105059"/>
            <a:chOff x="4855953" y="-2833465"/>
            <a:chExt cx="8948964" cy="12105059"/>
          </a:xfrm>
        </p:grpSpPr>
        <p:sp>
          <p:nvSpPr>
            <p:cNvPr id="20" name="Freeform 10">
              <a:extLst>
                <a:ext uri="{FF2B5EF4-FFF2-40B4-BE49-F238E27FC236}">
                  <a16:creationId xmlns:a16="http://schemas.microsoft.com/office/drawing/2014/main" id="{6067105C-8C4E-4F4D-AF25-4E9E7FEE0199}"/>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1">
              <a:extLst>
                <a:ext uri="{FF2B5EF4-FFF2-40B4-BE49-F238E27FC236}">
                  <a16:creationId xmlns:a16="http://schemas.microsoft.com/office/drawing/2014/main" id="{70B75532-3E3F-4E79-89ED-8E7671BB9C68}"/>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2">
              <a:extLst>
                <a:ext uri="{FF2B5EF4-FFF2-40B4-BE49-F238E27FC236}">
                  <a16:creationId xmlns:a16="http://schemas.microsoft.com/office/drawing/2014/main" id="{517F7404-4FD2-4A56-9BC1-55945A2E0042}"/>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8" name="Group 55" descr="This image is an icon of three connected human figures. ">
            <a:extLst>
              <a:ext uri="{FF2B5EF4-FFF2-40B4-BE49-F238E27FC236}">
                <a16:creationId xmlns:a16="http://schemas.microsoft.com/office/drawing/2014/main" id="{620C5CAB-A1A1-111B-8779-0D83308FB051}"/>
              </a:ext>
            </a:extLst>
          </p:cNvPr>
          <p:cNvGrpSpPr/>
          <p:nvPr/>
        </p:nvGrpSpPr>
        <p:grpSpPr>
          <a:xfrm>
            <a:off x="638467" y="521246"/>
            <a:ext cx="182891" cy="157903"/>
            <a:chOff x="-23742650" y="-5770563"/>
            <a:chExt cx="3497276" cy="3019425"/>
          </a:xfrm>
          <a:solidFill>
            <a:schemeClr val="bg1">
              <a:lumMod val="50000"/>
            </a:schemeClr>
          </a:solidFill>
        </p:grpSpPr>
        <p:sp>
          <p:nvSpPr>
            <p:cNvPr id="15" name="Freeform 41">
              <a:extLst>
                <a:ext uri="{FF2B5EF4-FFF2-40B4-BE49-F238E27FC236}">
                  <a16:creationId xmlns:a16="http://schemas.microsoft.com/office/drawing/2014/main" id="{6F2F0821-F4E0-7A40-623A-AEF504F0CB54}"/>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6" name="Freeform 42">
              <a:extLst>
                <a:ext uri="{FF2B5EF4-FFF2-40B4-BE49-F238E27FC236}">
                  <a16:creationId xmlns:a16="http://schemas.microsoft.com/office/drawing/2014/main" id="{7E35ACDE-B465-C4E7-5B20-E392A7DA4B6A}"/>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 name="Freeform 43">
              <a:extLst>
                <a:ext uri="{FF2B5EF4-FFF2-40B4-BE49-F238E27FC236}">
                  <a16:creationId xmlns:a16="http://schemas.microsoft.com/office/drawing/2014/main" id="{6E162A99-DA7C-EEE9-BE69-5B1DDA40DC95}"/>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pic>
        <p:nvPicPr>
          <p:cNvPr id="30" name="Graphic 3" descr="Mortgage outline">
            <a:extLst>
              <a:ext uri="{FF2B5EF4-FFF2-40B4-BE49-F238E27FC236}">
                <a16:creationId xmlns:a16="http://schemas.microsoft.com/office/drawing/2014/main" id="{4879464E-4BBC-CD84-EE57-A39366BB8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6408" y="605203"/>
            <a:ext cx="342900" cy="300568"/>
          </a:xfrm>
          <a:prstGeom prst="rect">
            <a:avLst/>
          </a:prstGeom>
        </p:spPr>
      </p:pic>
      <p:pic>
        <p:nvPicPr>
          <p:cNvPr id="32" name="Graphic 4" descr="Mortgage outline">
            <a:extLst>
              <a:ext uri="{FF2B5EF4-FFF2-40B4-BE49-F238E27FC236}">
                <a16:creationId xmlns:a16="http://schemas.microsoft.com/office/drawing/2014/main" id="{59D396DD-8526-912E-A8E5-EE291F4157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241" y="171286"/>
            <a:ext cx="342900" cy="300568"/>
          </a:xfrm>
          <a:prstGeom prst="rect">
            <a:avLst/>
          </a:prstGeom>
        </p:spPr>
      </p:pic>
      <p:pic>
        <p:nvPicPr>
          <p:cNvPr id="34" name="Graphic 5" descr="Mortgage outline">
            <a:extLst>
              <a:ext uri="{FF2B5EF4-FFF2-40B4-BE49-F238E27FC236}">
                <a16:creationId xmlns:a16="http://schemas.microsoft.com/office/drawing/2014/main" id="{88CEA383-A1E5-7FC3-C6BD-C5B25708F5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658" y="605203"/>
            <a:ext cx="342900" cy="300568"/>
          </a:xfrm>
          <a:prstGeom prst="rect">
            <a:avLst/>
          </a:prstGeom>
        </p:spPr>
      </p:pic>
    </p:spTree>
    <p:extLst>
      <p:ext uri="{BB962C8B-B14F-4D97-AF65-F5344CB8AC3E}">
        <p14:creationId xmlns:p14="http://schemas.microsoft.com/office/powerpoint/2010/main" val="2352568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1336A-6367-93D3-8CCF-9D60ADF79B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D9D030-0B54-A680-8E13-12935A5172A9}"/>
              </a:ext>
            </a:extLst>
          </p:cNvPr>
          <p:cNvSpPr txBox="1"/>
          <p:nvPr/>
        </p:nvSpPr>
        <p:spPr>
          <a:xfrm>
            <a:off x="1183821" y="738390"/>
            <a:ext cx="4845708" cy="492443"/>
          </a:xfrm>
          <a:prstGeom prst="rect">
            <a:avLst/>
          </a:prstGeom>
          <a:noFill/>
        </p:spPr>
        <p:txBody>
          <a:bodyPr wrap="square" lIns="0" tIns="0" rIns="0" bIns="0" rtlCol="0" anchor="t">
            <a:spAutoFit/>
          </a:bodyPr>
          <a:lstStyle/>
          <a:p>
            <a:r>
              <a:rPr lang="en-US" sz="3200" b="1">
                <a:solidFill>
                  <a:srgbClr val="1E3ADA"/>
                </a:solidFill>
                <a:ea typeface="Calibri"/>
                <a:cs typeface="Calibri"/>
              </a:rPr>
              <a:t>References</a:t>
            </a:r>
            <a:endParaRPr lang="en-US" sz="3200" b="1" dirty="0">
              <a:solidFill>
                <a:srgbClr val="1E3ADA"/>
              </a:solidFill>
              <a:ea typeface="Calibri"/>
              <a:cs typeface="Calibri"/>
            </a:endParaRPr>
          </a:p>
        </p:txBody>
      </p:sp>
      <p:cxnSp>
        <p:nvCxnSpPr>
          <p:cNvPr id="4" name="Straight Connector 3">
            <a:extLst>
              <a:ext uri="{FF2B5EF4-FFF2-40B4-BE49-F238E27FC236}">
                <a16:creationId xmlns:a16="http://schemas.microsoft.com/office/drawing/2014/main" id="{A8668D26-D9D5-C30F-8076-CE6C84870E1E}"/>
              </a:ext>
              <a:ext uri="{C183D7F6-B498-43B3-948B-1728B52AA6E4}">
                <adec:decorative xmlns:adec="http://schemas.microsoft.com/office/drawing/2017/decorative" val="1"/>
              </a:ext>
            </a:extLst>
          </p:cNvPr>
          <p:cNvCxnSpPr/>
          <p:nvPr/>
        </p:nvCxnSpPr>
        <p:spPr>
          <a:xfrm>
            <a:off x="681614" y="39077"/>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95E2ABDD-3885-6DC5-5FCE-CFFD0DBA696F}"/>
              </a:ext>
              <a:ext uri="{C183D7F6-B498-43B3-948B-1728B52AA6E4}">
                <adec:decorative xmlns:adec="http://schemas.microsoft.com/office/drawing/2017/decorative" val="1"/>
              </a:ext>
            </a:extLst>
          </p:cNvPr>
          <p:cNvGrpSpPr/>
          <p:nvPr/>
        </p:nvGrpSpPr>
        <p:grpSpPr>
          <a:xfrm>
            <a:off x="518433" y="1793078"/>
            <a:ext cx="4201583" cy="3506904"/>
            <a:chOff x="518433" y="1808466"/>
            <a:chExt cx="4201583" cy="3506904"/>
          </a:xfrm>
        </p:grpSpPr>
        <p:grpSp>
          <p:nvGrpSpPr>
            <p:cNvPr id="21" name="Group 20">
              <a:extLst>
                <a:ext uri="{FF2B5EF4-FFF2-40B4-BE49-F238E27FC236}">
                  <a16:creationId xmlns:a16="http://schemas.microsoft.com/office/drawing/2014/main" id="{EA3DEB9A-CF1D-B013-BA65-720A855E7D0F}"/>
                </a:ext>
              </a:extLst>
            </p:cNvPr>
            <p:cNvGrpSpPr/>
            <p:nvPr/>
          </p:nvGrpSpPr>
          <p:grpSpPr>
            <a:xfrm>
              <a:off x="518433" y="1808466"/>
              <a:ext cx="4201583" cy="246221"/>
              <a:chOff x="518433" y="1967543"/>
              <a:chExt cx="4201583" cy="246221"/>
            </a:xfrm>
          </p:grpSpPr>
          <p:sp>
            <p:nvSpPr>
              <p:cNvPr id="6" name="Rectangle: Rounded Corners 5">
                <a:extLst>
                  <a:ext uri="{FF2B5EF4-FFF2-40B4-BE49-F238E27FC236}">
                    <a16:creationId xmlns:a16="http://schemas.microsoft.com/office/drawing/2014/main" id="{6AA74763-2B1F-C9A5-0DC4-6645F67CF78B}"/>
                  </a:ext>
                </a:extLst>
              </p:cNvPr>
              <p:cNvSpPr/>
              <p:nvPr/>
            </p:nvSpPr>
            <p:spPr>
              <a:xfrm>
                <a:off x="518433" y="198119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2EACF2A-4B7E-7B51-AF0D-4A25737B9DE5}"/>
                  </a:ext>
                </a:extLst>
              </p:cNvPr>
              <p:cNvSpPr/>
              <p:nvPr/>
            </p:nvSpPr>
            <p:spPr>
              <a:xfrm>
                <a:off x="1183821" y="1967543"/>
                <a:ext cx="3536195" cy="246221"/>
              </a:xfrm>
              <a:prstGeom prst="rect">
                <a:avLst/>
              </a:prstGeom>
            </p:spPr>
            <p:txBody>
              <a:bodyPr wrap="square" lIns="0" tIns="0" rIns="0" bIns="0" anchor="t">
                <a:spAutoFit/>
              </a:bodyPr>
              <a:lstStyle/>
              <a:p>
                <a:r>
                  <a:rPr lang="en-US" sz="1600">
                    <a:solidFill>
                      <a:srgbClr val="27251E"/>
                    </a:solidFill>
                    <a:ea typeface="+mn-lt"/>
                    <a:cs typeface="+mn-lt"/>
                  </a:rPr>
                  <a:t>U.S. Census Bureau.</a:t>
                </a:r>
                <a:endParaRPr lang="fr-FR" sz="1600">
                  <a:ea typeface="+mn-lt"/>
                  <a:cs typeface="+mn-lt"/>
                </a:endParaRPr>
              </a:p>
            </p:txBody>
          </p:sp>
        </p:grpSp>
        <p:grpSp>
          <p:nvGrpSpPr>
            <p:cNvPr id="20" name="Group 19">
              <a:extLst>
                <a:ext uri="{FF2B5EF4-FFF2-40B4-BE49-F238E27FC236}">
                  <a16:creationId xmlns:a16="http://schemas.microsoft.com/office/drawing/2014/main" id="{F66073F7-BE62-6992-E6E7-447405A89E35}"/>
                </a:ext>
              </a:extLst>
            </p:cNvPr>
            <p:cNvGrpSpPr/>
            <p:nvPr/>
          </p:nvGrpSpPr>
          <p:grpSpPr>
            <a:xfrm>
              <a:off x="518433" y="2902416"/>
              <a:ext cx="4201583" cy="246221"/>
              <a:chOff x="518433" y="2844554"/>
              <a:chExt cx="4201583" cy="246221"/>
            </a:xfrm>
          </p:grpSpPr>
          <p:sp>
            <p:nvSpPr>
              <p:cNvPr id="9" name="Rectangle: Rounded Corners 8">
                <a:extLst>
                  <a:ext uri="{FF2B5EF4-FFF2-40B4-BE49-F238E27FC236}">
                    <a16:creationId xmlns:a16="http://schemas.microsoft.com/office/drawing/2014/main" id="{71515EDC-FD33-BA3E-5D65-603BD0810299}"/>
                  </a:ext>
                </a:extLst>
              </p:cNvPr>
              <p:cNvSpPr/>
              <p:nvPr/>
            </p:nvSpPr>
            <p:spPr>
              <a:xfrm>
                <a:off x="518433" y="2847627"/>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F4397DB-34C9-C34E-EE29-E1A882F8641A}"/>
                  </a:ext>
                </a:extLst>
              </p:cNvPr>
              <p:cNvSpPr/>
              <p:nvPr/>
            </p:nvSpPr>
            <p:spPr>
              <a:xfrm>
                <a:off x="1183821" y="2844554"/>
                <a:ext cx="3536195" cy="246221"/>
              </a:xfrm>
              <a:prstGeom prst="rect">
                <a:avLst/>
              </a:prstGeom>
            </p:spPr>
            <p:txBody>
              <a:bodyPr wrap="square" lIns="0" tIns="0" rIns="0" bIns="0" anchor="t">
                <a:spAutoFit/>
              </a:bodyPr>
              <a:lstStyle/>
              <a:p>
                <a:r>
                  <a:rPr lang="en-US" sz="1600">
                    <a:solidFill>
                      <a:srgbClr val="27251E"/>
                    </a:solidFill>
                    <a:ea typeface="+mn-lt"/>
                    <a:cs typeface="+mn-lt"/>
                  </a:rPr>
                  <a:t>Bureau of Labor Statistics.</a:t>
                </a:r>
                <a:endParaRPr lang="fr-FR" sz="1600">
                  <a:ea typeface="Calibri" panose="020F0502020204030204"/>
                  <a:cs typeface="Calibri" panose="020F0502020204030204"/>
                </a:endParaRPr>
              </a:p>
            </p:txBody>
          </p:sp>
        </p:grpSp>
        <p:grpSp>
          <p:nvGrpSpPr>
            <p:cNvPr id="19" name="Group 18">
              <a:extLst>
                <a:ext uri="{FF2B5EF4-FFF2-40B4-BE49-F238E27FC236}">
                  <a16:creationId xmlns:a16="http://schemas.microsoft.com/office/drawing/2014/main" id="{014C67D3-EAD2-7902-F848-83A2D72099AE}"/>
                </a:ext>
              </a:extLst>
            </p:cNvPr>
            <p:cNvGrpSpPr/>
            <p:nvPr/>
          </p:nvGrpSpPr>
          <p:grpSpPr>
            <a:xfrm>
              <a:off x="518433" y="3975200"/>
              <a:ext cx="4201583" cy="246221"/>
              <a:chOff x="518433" y="3714324"/>
              <a:chExt cx="4201583" cy="246221"/>
            </a:xfrm>
          </p:grpSpPr>
          <p:sp>
            <p:nvSpPr>
              <p:cNvPr id="11" name="Rectangle: Rounded Corners 10">
                <a:extLst>
                  <a:ext uri="{FF2B5EF4-FFF2-40B4-BE49-F238E27FC236}">
                    <a16:creationId xmlns:a16="http://schemas.microsoft.com/office/drawing/2014/main" id="{3CB1D53B-B75D-385D-FE4F-E809802EEA8F}"/>
                  </a:ext>
                </a:extLst>
              </p:cNvPr>
              <p:cNvSpPr/>
              <p:nvPr/>
            </p:nvSpPr>
            <p:spPr>
              <a:xfrm>
                <a:off x="518433" y="372798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9A0A262-1DD4-C03F-7307-54C96B39C80F}"/>
                  </a:ext>
                </a:extLst>
              </p:cNvPr>
              <p:cNvSpPr/>
              <p:nvPr/>
            </p:nvSpPr>
            <p:spPr>
              <a:xfrm>
                <a:off x="1183821" y="3714324"/>
                <a:ext cx="3536195" cy="246221"/>
              </a:xfrm>
              <a:prstGeom prst="rect">
                <a:avLst/>
              </a:prstGeom>
            </p:spPr>
            <p:txBody>
              <a:bodyPr wrap="square" lIns="0" tIns="0" rIns="0" bIns="0" anchor="t">
                <a:spAutoFit/>
              </a:bodyPr>
              <a:lstStyle/>
              <a:p>
                <a:r>
                  <a:rPr lang="en-US" sz="1600">
                    <a:solidFill>
                      <a:srgbClr val="27251E"/>
                    </a:solidFill>
                    <a:ea typeface="+mn-lt"/>
                    <a:cs typeface="+mn-lt"/>
                  </a:rPr>
                  <a:t>Federal Housing Finance Agency.</a:t>
                </a:r>
                <a:endParaRPr lang="fr-FR" sz="1600">
                  <a:ea typeface="+mn-lt"/>
                  <a:cs typeface="+mn-lt"/>
                </a:endParaRPr>
              </a:p>
            </p:txBody>
          </p:sp>
        </p:grpSp>
        <p:grpSp>
          <p:nvGrpSpPr>
            <p:cNvPr id="18" name="Group 17">
              <a:extLst>
                <a:ext uri="{FF2B5EF4-FFF2-40B4-BE49-F238E27FC236}">
                  <a16:creationId xmlns:a16="http://schemas.microsoft.com/office/drawing/2014/main" id="{FA05BCC1-A08C-C9CB-BBFB-51B5FC8B5271}"/>
                </a:ext>
              </a:extLst>
            </p:cNvPr>
            <p:cNvGrpSpPr/>
            <p:nvPr/>
          </p:nvGrpSpPr>
          <p:grpSpPr>
            <a:xfrm>
              <a:off x="518433" y="5069149"/>
              <a:ext cx="4201583" cy="246221"/>
              <a:chOff x="518433" y="4605260"/>
              <a:chExt cx="4201583" cy="246221"/>
            </a:xfrm>
          </p:grpSpPr>
          <p:sp>
            <p:nvSpPr>
              <p:cNvPr id="13" name="Rectangle: Rounded Corners 12">
                <a:extLst>
                  <a:ext uri="{FF2B5EF4-FFF2-40B4-BE49-F238E27FC236}">
                    <a16:creationId xmlns:a16="http://schemas.microsoft.com/office/drawing/2014/main" id="{B36ED260-6B6B-BDE1-78B5-BAC89F22BAA3}"/>
                  </a:ext>
                </a:extLst>
              </p:cNvPr>
              <p:cNvSpPr/>
              <p:nvPr/>
            </p:nvSpPr>
            <p:spPr>
              <a:xfrm>
                <a:off x="518433" y="4608333"/>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C567300-6D54-4E37-445D-1E1A80F817DE}"/>
                  </a:ext>
                </a:extLst>
              </p:cNvPr>
              <p:cNvSpPr/>
              <p:nvPr/>
            </p:nvSpPr>
            <p:spPr>
              <a:xfrm>
                <a:off x="1183821" y="4605260"/>
                <a:ext cx="3536195" cy="246221"/>
              </a:xfrm>
              <a:prstGeom prst="rect">
                <a:avLst/>
              </a:prstGeom>
            </p:spPr>
            <p:txBody>
              <a:bodyPr wrap="square" lIns="0" tIns="0" rIns="0" bIns="0" anchor="t">
                <a:spAutoFit/>
              </a:bodyPr>
              <a:lstStyle/>
              <a:p>
                <a:r>
                  <a:rPr lang="en-US" sz="1600">
                    <a:solidFill>
                      <a:srgbClr val="27251E"/>
                    </a:solidFill>
                    <a:ea typeface="+mn-lt"/>
                    <a:cs typeface="+mn-lt"/>
                  </a:rPr>
                  <a:t>Bureau of Economic Analysis.</a:t>
                </a:r>
                <a:endParaRPr lang="fr-FR" sz="1600">
                  <a:ea typeface="Calibri" panose="020F0502020204030204"/>
                  <a:cs typeface="Calibri" panose="020F0502020204030204"/>
                </a:endParaRPr>
              </a:p>
            </p:txBody>
          </p:sp>
        </p:grpSp>
      </p:grpSp>
      <p:grpSp>
        <p:nvGrpSpPr>
          <p:cNvPr id="62" name="Group 61" descr="This image is a woman's hand writing on a piece of paper. ">
            <a:extLst>
              <a:ext uri="{FF2B5EF4-FFF2-40B4-BE49-F238E27FC236}">
                <a16:creationId xmlns:a16="http://schemas.microsoft.com/office/drawing/2014/main" id="{7EAC3772-D131-970B-830C-3BFA4E2F7319}"/>
              </a:ext>
            </a:extLst>
          </p:cNvPr>
          <p:cNvGrpSpPr/>
          <p:nvPr/>
        </p:nvGrpSpPr>
        <p:grpSpPr>
          <a:xfrm>
            <a:off x="4482071" y="-508000"/>
            <a:ext cx="8739666" cy="8346238"/>
            <a:chOff x="4597682" y="-439156"/>
            <a:chExt cx="7594320" cy="7252450"/>
          </a:xfrm>
        </p:grpSpPr>
        <p:sp>
          <p:nvSpPr>
            <p:cNvPr id="45" name="Freeform 22">
              <a:extLst>
                <a:ext uri="{FF2B5EF4-FFF2-40B4-BE49-F238E27FC236}">
                  <a16:creationId xmlns:a16="http://schemas.microsoft.com/office/drawing/2014/main" id="{77DA5303-4F54-1C7E-C63C-6845CAE98268}"/>
                </a:ext>
              </a:extLst>
            </p:cNvPr>
            <p:cNvSpPr>
              <a:spLocks/>
            </p:cNvSpPr>
            <p:nvPr/>
          </p:nvSpPr>
          <p:spPr bwMode="auto">
            <a:xfrm>
              <a:off x="4597682" y="-6899"/>
              <a:ext cx="7594319" cy="6820193"/>
            </a:xfrm>
            <a:custGeom>
              <a:avLst/>
              <a:gdLst>
                <a:gd name="T0" fmla="*/ 2254 w 2254"/>
                <a:gd name="T1" fmla="*/ 0 h 2026"/>
                <a:gd name="T2" fmla="*/ 2254 w 2254"/>
                <a:gd name="T3" fmla="*/ 2026 h 2026"/>
                <a:gd name="T4" fmla="*/ 2091 w 2254"/>
                <a:gd name="T5" fmla="*/ 1927 h 2026"/>
                <a:gd name="T6" fmla="*/ 1829 w 2254"/>
                <a:gd name="T7" fmla="*/ 1867 h 2026"/>
                <a:gd name="T8" fmla="*/ 1784 w 2254"/>
                <a:gd name="T9" fmla="*/ 1860 h 2026"/>
                <a:gd name="T10" fmla="*/ 1025 w 2254"/>
                <a:gd name="T11" fmla="*/ 1812 h 2026"/>
                <a:gd name="T12" fmla="*/ 330 w 2254"/>
                <a:gd name="T13" fmla="*/ 1005 h 2026"/>
                <a:gd name="T14" fmla="*/ 662 w 2254"/>
                <a:gd name="T15" fmla="*/ 430 h 2026"/>
                <a:gd name="T16" fmla="*/ 770 w 2254"/>
                <a:gd name="T17" fmla="*/ 0 h 2026"/>
                <a:gd name="T18" fmla="*/ 2254 w 2254"/>
                <a:gd name="T19" fmla="*/ 0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4" h="2026">
                  <a:moveTo>
                    <a:pt x="2254" y="0"/>
                  </a:moveTo>
                  <a:cubicBezTo>
                    <a:pt x="2254" y="2026"/>
                    <a:pt x="2254" y="2026"/>
                    <a:pt x="2254" y="2026"/>
                  </a:cubicBezTo>
                  <a:cubicBezTo>
                    <a:pt x="2243" y="2005"/>
                    <a:pt x="2206" y="1966"/>
                    <a:pt x="2091" y="1927"/>
                  </a:cubicBezTo>
                  <a:cubicBezTo>
                    <a:pt x="2029" y="1906"/>
                    <a:pt x="1944" y="1885"/>
                    <a:pt x="1829" y="1867"/>
                  </a:cubicBezTo>
                  <a:cubicBezTo>
                    <a:pt x="1814" y="1865"/>
                    <a:pt x="1800" y="1862"/>
                    <a:pt x="1784" y="1860"/>
                  </a:cubicBezTo>
                  <a:cubicBezTo>
                    <a:pt x="1606" y="1835"/>
                    <a:pt x="1361" y="1816"/>
                    <a:pt x="1025" y="1812"/>
                  </a:cubicBezTo>
                  <a:cubicBezTo>
                    <a:pt x="0" y="1800"/>
                    <a:pt x="66" y="1196"/>
                    <a:pt x="330" y="1005"/>
                  </a:cubicBezTo>
                  <a:cubicBezTo>
                    <a:pt x="580" y="825"/>
                    <a:pt x="686" y="680"/>
                    <a:pt x="662" y="430"/>
                  </a:cubicBezTo>
                  <a:cubicBezTo>
                    <a:pt x="638" y="181"/>
                    <a:pt x="770" y="0"/>
                    <a:pt x="770" y="0"/>
                  </a:cubicBezTo>
                  <a:lnTo>
                    <a:pt x="2254" y="0"/>
                  </a:lnTo>
                  <a:close/>
                </a:path>
              </a:pathLst>
            </a:custGeom>
            <a:gradFill>
              <a:gsLst>
                <a:gs pos="0">
                  <a:srgbClr val="7CEFD8"/>
                </a:gs>
                <a:gs pos="55000">
                  <a:srgbClr val="6672E4"/>
                </a:gs>
                <a:gs pos="100000">
                  <a:srgbClr val="882BE5"/>
                </a:gs>
              </a:gsLst>
              <a:lin ang="4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23">
              <a:extLst>
                <a:ext uri="{FF2B5EF4-FFF2-40B4-BE49-F238E27FC236}">
                  <a16:creationId xmlns:a16="http://schemas.microsoft.com/office/drawing/2014/main" id="{BD406EDA-CF48-46EB-B7A0-FA7DA34AE7BC}"/>
                </a:ext>
              </a:extLst>
            </p:cNvPr>
            <p:cNvSpPr>
              <a:spLocks/>
            </p:cNvSpPr>
            <p:nvPr/>
          </p:nvSpPr>
          <p:spPr bwMode="auto">
            <a:xfrm>
              <a:off x="7013242" y="1441003"/>
              <a:ext cx="4110752" cy="3954852"/>
            </a:xfrm>
            <a:custGeom>
              <a:avLst/>
              <a:gdLst>
                <a:gd name="T0" fmla="*/ 0 w 2294"/>
                <a:gd name="T1" fmla="*/ 221 h 2207"/>
                <a:gd name="T2" fmla="*/ 1809 w 2294"/>
                <a:gd name="T3" fmla="*/ 0 h 2207"/>
                <a:gd name="T4" fmla="*/ 2294 w 2294"/>
                <a:gd name="T5" fmla="*/ 1957 h 2207"/>
                <a:gd name="T6" fmla="*/ 432 w 2294"/>
                <a:gd name="T7" fmla="*/ 2207 h 2207"/>
                <a:gd name="T8" fmla="*/ 0 w 2294"/>
                <a:gd name="T9" fmla="*/ 221 h 2207"/>
              </a:gdLst>
              <a:ahLst/>
              <a:cxnLst>
                <a:cxn ang="0">
                  <a:pos x="T0" y="T1"/>
                </a:cxn>
                <a:cxn ang="0">
                  <a:pos x="T2" y="T3"/>
                </a:cxn>
                <a:cxn ang="0">
                  <a:pos x="T4" y="T5"/>
                </a:cxn>
                <a:cxn ang="0">
                  <a:pos x="T6" y="T7"/>
                </a:cxn>
                <a:cxn ang="0">
                  <a:pos x="T8" y="T9"/>
                </a:cxn>
              </a:cxnLst>
              <a:rect l="0" t="0" r="r" b="b"/>
              <a:pathLst>
                <a:path w="2294" h="2207">
                  <a:moveTo>
                    <a:pt x="0" y="221"/>
                  </a:moveTo>
                  <a:lnTo>
                    <a:pt x="1809" y="0"/>
                  </a:lnTo>
                  <a:lnTo>
                    <a:pt x="2294" y="1957"/>
                  </a:lnTo>
                  <a:lnTo>
                    <a:pt x="432" y="2207"/>
                  </a:lnTo>
                  <a:lnTo>
                    <a:pt x="0" y="221"/>
                  </a:lnTo>
                  <a:close/>
                </a:path>
              </a:pathLst>
            </a:custGeom>
            <a:solidFill>
              <a:srgbClr val="C8F4F7"/>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24">
              <a:extLst>
                <a:ext uri="{FF2B5EF4-FFF2-40B4-BE49-F238E27FC236}">
                  <a16:creationId xmlns:a16="http://schemas.microsoft.com/office/drawing/2014/main" id="{F734C004-833D-2688-4DD3-93877DA1DE87}"/>
                </a:ext>
              </a:extLst>
            </p:cNvPr>
            <p:cNvSpPr>
              <a:spLocks/>
            </p:cNvSpPr>
            <p:nvPr/>
          </p:nvSpPr>
          <p:spPr bwMode="auto">
            <a:xfrm>
              <a:off x="7676266" y="1441003"/>
              <a:ext cx="2981818" cy="1632475"/>
            </a:xfrm>
            <a:custGeom>
              <a:avLst/>
              <a:gdLst>
                <a:gd name="T0" fmla="*/ 0 w 1664"/>
                <a:gd name="T1" fmla="*/ 736 h 911"/>
                <a:gd name="T2" fmla="*/ 1664 w 1664"/>
                <a:gd name="T3" fmla="*/ 911 h 911"/>
                <a:gd name="T4" fmla="*/ 1439 w 1664"/>
                <a:gd name="T5" fmla="*/ 0 h 911"/>
                <a:gd name="T6" fmla="*/ 399 w 1664"/>
                <a:gd name="T7" fmla="*/ 127 h 911"/>
                <a:gd name="T8" fmla="*/ 0 w 1664"/>
                <a:gd name="T9" fmla="*/ 736 h 911"/>
              </a:gdLst>
              <a:ahLst/>
              <a:cxnLst>
                <a:cxn ang="0">
                  <a:pos x="T0" y="T1"/>
                </a:cxn>
                <a:cxn ang="0">
                  <a:pos x="T2" y="T3"/>
                </a:cxn>
                <a:cxn ang="0">
                  <a:pos x="T4" y="T5"/>
                </a:cxn>
                <a:cxn ang="0">
                  <a:pos x="T6" y="T7"/>
                </a:cxn>
                <a:cxn ang="0">
                  <a:pos x="T8" y="T9"/>
                </a:cxn>
              </a:cxnLst>
              <a:rect l="0" t="0" r="r" b="b"/>
              <a:pathLst>
                <a:path w="1664" h="911">
                  <a:moveTo>
                    <a:pt x="0" y="736"/>
                  </a:moveTo>
                  <a:lnTo>
                    <a:pt x="1664" y="911"/>
                  </a:lnTo>
                  <a:lnTo>
                    <a:pt x="1439" y="0"/>
                  </a:lnTo>
                  <a:lnTo>
                    <a:pt x="399" y="127"/>
                  </a:lnTo>
                  <a:lnTo>
                    <a:pt x="0" y="736"/>
                  </a:lnTo>
                  <a:close/>
                </a:path>
              </a:pathLst>
            </a:custGeom>
            <a:solidFill>
              <a:srgbClr val="7CE4E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25">
              <a:extLst>
                <a:ext uri="{FF2B5EF4-FFF2-40B4-BE49-F238E27FC236}">
                  <a16:creationId xmlns:a16="http://schemas.microsoft.com/office/drawing/2014/main" id="{1FDAE217-4118-4E63-A646-18025F73DCE0}"/>
                </a:ext>
              </a:extLst>
            </p:cNvPr>
            <p:cNvSpPr>
              <a:spLocks/>
            </p:cNvSpPr>
            <p:nvPr/>
          </p:nvSpPr>
          <p:spPr bwMode="auto">
            <a:xfrm>
              <a:off x="8108129" y="1426667"/>
              <a:ext cx="1347553" cy="593139"/>
            </a:xfrm>
            <a:custGeom>
              <a:avLst/>
              <a:gdLst>
                <a:gd name="T0" fmla="*/ 752 w 752"/>
                <a:gd name="T1" fmla="*/ 0 h 331"/>
                <a:gd name="T2" fmla="*/ 275 w 752"/>
                <a:gd name="T3" fmla="*/ 72 h 331"/>
                <a:gd name="T4" fmla="*/ 0 w 752"/>
                <a:gd name="T5" fmla="*/ 331 h 331"/>
                <a:gd name="T6" fmla="*/ 752 w 752"/>
                <a:gd name="T7" fmla="*/ 130 h 331"/>
                <a:gd name="T8" fmla="*/ 752 w 752"/>
                <a:gd name="T9" fmla="*/ 0 h 331"/>
              </a:gdLst>
              <a:ahLst/>
              <a:cxnLst>
                <a:cxn ang="0">
                  <a:pos x="T0" y="T1"/>
                </a:cxn>
                <a:cxn ang="0">
                  <a:pos x="T2" y="T3"/>
                </a:cxn>
                <a:cxn ang="0">
                  <a:pos x="T4" y="T5"/>
                </a:cxn>
                <a:cxn ang="0">
                  <a:pos x="T6" y="T7"/>
                </a:cxn>
                <a:cxn ang="0">
                  <a:pos x="T8" y="T9"/>
                </a:cxn>
              </a:cxnLst>
              <a:rect l="0" t="0" r="r" b="b"/>
              <a:pathLst>
                <a:path w="752" h="331">
                  <a:moveTo>
                    <a:pt x="752" y="0"/>
                  </a:moveTo>
                  <a:lnTo>
                    <a:pt x="275" y="72"/>
                  </a:lnTo>
                  <a:lnTo>
                    <a:pt x="0" y="331"/>
                  </a:lnTo>
                  <a:lnTo>
                    <a:pt x="752" y="130"/>
                  </a:lnTo>
                  <a:lnTo>
                    <a:pt x="752" y="0"/>
                  </a:lnTo>
                  <a:close/>
                </a:path>
              </a:pathLst>
            </a:custGeom>
            <a:solidFill>
              <a:srgbClr val="ADA4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6">
              <a:extLst>
                <a:ext uri="{FF2B5EF4-FFF2-40B4-BE49-F238E27FC236}">
                  <a16:creationId xmlns:a16="http://schemas.microsoft.com/office/drawing/2014/main" id="{D0A1B981-DC1D-2C82-762C-3EA2E77BEF99}"/>
                </a:ext>
              </a:extLst>
            </p:cNvPr>
            <p:cNvSpPr>
              <a:spLocks/>
            </p:cNvSpPr>
            <p:nvPr/>
          </p:nvSpPr>
          <p:spPr bwMode="auto">
            <a:xfrm>
              <a:off x="7955812" y="1828066"/>
              <a:ext cx="546548" cy="456950"/>
            </a:xfrm>
            <a:custGeom>
              <a:avLst/>
              <a:gdLst>
                <a:gd name="T0" fmla="*/ 162 w 162"/>
                <a:gd name="T1" fmla="*/ 66 h 136"/>
                <a:gd name="T2" fmla="*/ 87 w 162"/>
                <a:gd name="T3" fmla="*/ 130 h 136"/>
                <a:gd name="T4" fmla="*/ 36 w 162"/>
                <a:gd name="T5" fmla="*/ 124 h 136"/>
                <a:gd name="T6" fmla="*/ 0 w 162"/>
                <a:gd name="T7" fmla="*/ 103 h 136"/>
                <a:gd name="T8" fmla="*/ 103 w 162"/>
                <a:gd name="T9" fmla="*/ 0 h 136"/>
                <a:gd name="T10" fmla="*/ 148 w 162"/>
                <a:gd name="T11" fmla="*/ 50 h 136"/>
                <a:gd name="T12" fmla="*/ 162 w 162"/>
                <a:gd name="T13" fmla="*/ 66 h 136"/>
              </a:gdLst>
              <a:ahLst/>
              <a:cxnLst>
                <a:cxn ang="0">
                  <a:pos x="T0" y="T1"/>
                </a:cxn>
                <a:cxn ang="0">
                  <a:pos x="T2" y="T3"/>
                </a:cxn>
                <a:cxn ang="0">
                  <a:pos x="T4" y="T5"/>
                </a:cxn>
                <a:cxn ang="0">
                  <a:pos x="T6" y="T7"/>
                </a:cxn>
                <a:cxn ang="0">
                  <a:pos x="T8" y="T9"/>
                </a:cxn>
                <a:cxn ang="0">
                  <a:pos x="T10" y="T11"/>
                </a:cxn>
                <a:cxn ang="0">
                  <a:pos x="T12" y="T13"/>
                </a:cxn>
              </a:cxnLst>
              <a:rect l="0" t="0" r="r" b="b"/>
              <a:pathLst>
                <a:path w="162" h="136">
                  <a:moveTo>
                    <a:pt x="162" y="66"/>
                  </a:moveTo>
                  <a:cubicBezTo>
                    <a:pt x="162" y="66"/>
                    <a:pt x="119" y="116"/>
                    <a:pt x="87" y="130"/>
                  </a:cubicBezTo>
                  <a:cubicBezTo>
                    <a:pt x="72" y="136"/>
                    <a:pt x="53" y="131"/>
                    <a:pt x="36" y="124"/>
                  </a:cubicBezTo>
                  <a:cubicBezTo>
                    <a:pt x="16" y="115"/>
                    <a:pt x="0" y="103"/>
                    <a:pt x="0" y="103"/>
                  </a:cubicBezTo>
                  <a:cubicBezTo>
                    <a:pt x="103" y="0"/>
                    <a:pt x="103" y="0"/>
                    <a:pt x="103" y="0"/>
                  </a:cubicBezTo>
                  <a:cubicBezTo>
                    <a:pt x="148" y="50"/>
                    <a:pt x="148" y="50"/>
                    <a:pt x="148" y="50"/>
                  </a:cubicBezTo>
                  <a:lnTo>
                    <a:pt x="162" y="66"/>
                  </a:lnTo>
                  <a:close/>
                </a:path>
              </a:pathLst>
            </a:custGeom>
            <a:solidFill>
              <a:srgbClr val="D8C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7">
              <a:extLst>
                <a:ext uri="{FF2B5EF4-FFF2-40B4-BE49-F238E27FC236}">
                  <a16:creationId xmlns:a16="http://schemas.microsoft.com/office/drawing/2014/main" id="{A8DE19C0-352D-3850-B21C-B8B2C1CD2205}"/>
                </a:ext>
              </a:extLst>
            </p:cNvPr>
            <p:cNvSpPr>
              <a:spLocks/>
            </p:cNvSpPr>
            <p:nvPr/>
          </p:nvSpPr>
          <p:spPr bwMode="auto">
            <a:xfrm>
              <a:off x="8077665" y="1996510"/>
              <a:ext cx="424695" cy="288506"/>
            </a:xfrm>
            <a:custGeom>
              <a:avLst/>
              <a:gdLst>
                <a:gd name="T0" fmla="*/ 126 w 126"/>
                <a:gd name="T1" fmla="*/ 16 h 86"/>
                <a:gd name="T2" fmla="*/ 51 w 126"/>
                <a:gd name="T3" fmla="*/ 80 h 86"/>
                <a:gd name="T4" fmla="*/ 0 w 126"/>
                <a:gd name="T5" fmla="*/ 74 h 86"/>
                <a:gd name="T6" fmla="*/ 6 w 126"/>
                <a:gd name="T7" fmla="*/ 61 h 86"/>
                <a:gd name="T8" fmla="*/ 112 w 126"/>
                <a:gd name="T9" fmla="*/ 0 h 86"/>
                <a:gd name="T10" fmla="*/ 126 w 126"/>
                <a:gd name="T11" fmla="*/ 16 h 86"/>
              </a:gdLst>
              <a:ahLst/>
              <a:cxnLst>
                <a:cxn ang="0">
                  <a:pos x="T0" y="T1"/>
                </a:cxn>
                <a:cxn ang="0">
                  <a:pos x="T2" y="T3"/>
                </a:cxn>
                <a:cxn ang="0">
                  <a:pos x="T4" y="T5"/>
                </a:cxn>
                <a:cxn ang="0">
                  <a:pos x="T6" y="T7"/>
                </a:cxn>
                <a:cxn ang="0">
                  <a:pos x="T8" y="T9"/>
                </a:cxn>
                <a:cxn ang="0">
                  <a:pos x="T10" y="T11"/>
                </a:cxn>
              </a:cxnLst>
              <a:rect l="0" t="0" r="r" b="b"/>
              <a:pathLst>
                <a:path w="126" h="86">
                  <a:moveTo>
                    <a:pt x="126" y="16"/>
                  </a:moveTo>
                  <a:cubicBezTo>
                    <a:pt x="126" y="16"/>
                    <a:pt x="83" y="66"/>
                    <a:pt x="51" y="80"/>
                  </a:cubicBezTo>
                  <a:cubicBezTo>
                    <a:pt x="36" y="86"/>
                    <a:pt x="17" y="81"/>
                    <a:pt x="0" y="74"/>
                  </a:cubicBezTo>
                  <a:cubicBezTo>
                    <a:pt x="2" y="70"/>
                    <a:pt x="3" y="65"/>
                    <a:pt x="6" y="61"/>
                  </a:cubicBezTo>
                  <a:cubicBezTo>
                    <a:pt x="6" y="61"/>
                    <a:pt x="54" y="25"/>
                    <a:pt x="112" y="0"/>
                  </a:cubicBezTo>
                  <a:lnTo>
                    <a:pt x="126"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28">
              <a:extLst>
                <a:ext uri="{FF2B5EF4-FFF2-40B4-BE49-F238E27FC236}">
                  <a16:creationId xmlns:a16="http://schemas.microsoft.com/office/drawing/2014/main" id="{226CDC5C-A5CA-0DEE-A439-F3F68A605003}"/>
                </a:ext>
              </a:extLst>
            </p:cNvPr>
            <p:cNvSpPr>
              <a:spLocks/>
            </p:cNvSpPr>
            <p:nvPr/>
          </p:nvSpPr>
          <p:spPr bwMode="auto">
            <a:xfrm>
              <a:off x="11804938" y="-14067"/>
              <a:ext cx="387063" cy="7168"/>
            </a:xfrm>
            <a:custGeom>
              <a:avLst/>
              <a:gdLst>
                <a:gd name="T0" fmla="*/ 115 w 115"/>
                <a:gd name="T1" fmla="*/ 2 h 2"/>
                <a:gd name="T2" fmla="*/ 0 w 115"/>
                <a:gd name="T3" fmla="*/ 2 h 2"/>
                <a:gd name="T4" fmla="*/ 115 w 115"/>
                <a:gd name="T5" fmla="*/ 2 h 2"/>
              </a:gdLst>
              <a:ahLst/>
              <a:cxnLst>
                <a:cxn ang="0">
                  <a:pos x="T0" y="T1"/>
                </a:cxn>
                <a:cxn ang="0">
                  <a:pos x="T2" y="T3"/>
                </a:cxn>
                <a:cxn ang="0">
                  <a:pos x="T4" y="T5"/>
                </a:cxn>
              </a:cxnLst>
              <a:rect l="0" t="0" r="r" b="b"/>
              <a:pathLst>
                <a:path w="115" h="2">
                  <a:moveTo>
                    <a:pt x="115" y="2"/>
                  </a:moveTo>
                  <a:cubicBezTo>
                    <a:pt x="0" y="2"/>
                    <a:pt x="0" y="2"/>
                    <a:pt x="0" y="2"/>
                  </a:cubicBezTo>
                  <a:cubicBezTo>
                    <a:pt x="73" y="0"/>
                    <a:pt x="115" y="2"/>
                    <a:pt x="115" y="2"/>
                  </a:cubicBezTo>
                  <a:close/>
                </a:path>
              </a:pathLst>
            </a:custGeom>
            <a:solidFill>
              <a:srgbClr val="190E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60" name="Group 59">
              <a:extLst>
                <a:ext uri="{FF2B5EF4-FFF2-40B4-BE49-F238E27FC236}">
                  <a16:creationId xmlns:a16="http://schemas.microsoft.com/office/drawing/2014/main" id="{84B0886C-2F20-FFA8-5AC4-ED0A64109505}"/>
                </a:ext>
              </a:extLst>
            </p:cNvPr>
            <p:cNvGrpSpPr/>
            <p:nvPr/>
          </p:nvGrpSpPr>
          <p:grpSpPr>
            <a:xfrm>
              <a:off x="7676266" y="528897"/>
              <a:ext cx="1904852" cy="2230988"/>
              <a:chOff x="7676266" y="528897"/>
              <a:chExt cx="1904852" cy="2230988"/>
            </a:xfrm>
            <a:gradFill>
              <a:gsLst>
                <a:gs pos="0">
                  <a:srgbClr val="03002F"/>
                </a:gs>
                <a:gs pos="100000">
                  <a:srgbClr val="F870FF"/>
                </a:gs>
              </a:gsLst>
              <a:lin ang="19800000" scaled="0"/>
            </a:gradFill>
          </p:grpSpPr>
          <p:sp>
            <p:nvSpPr>
              <p:cNvPr id="52" name="Freeform 29">
                <a:extLst>
                  <a:ext uri="{FF2B5EF4-FFF2-40B4-BE49-F238E27FC236}">
                    <a16:creationId xmlns:a16="http://schemas.microsoft.com/office/drawing/2014/main" id="{4D5E9FC6-3025-5A48-0E44-2B34A1368408}"/>
                  </a:ext>
                </a:extLst>
              </p:cNvPr>
              <p:cNvSpPr>
                <a:spLocks/>
              </p:cNvSpPr>
              <p:nvPr/>
            </p:nvSpPr>
            <p:spPr bwMode="auto">
              <a:xfrm>
                <a:off x="7676266" y="2195418"/>
                <a:ext cx="589555" cy="564467"/>
              </a:xfrm>
              <a:custGeom>
                <a:avLst/>
                <a:gdLst>
                  <a:gd name="T0" fmla="*/ 138 w 175"/>
                  <a:gd name="T1" fmla="*/ 16 h 168"/>
                  <a:gd name="T2" fmla="*/ 175 w 175"/>
                  <a:gd name="T3" fmla="*/ 32 h 168"/>
                  <a:gd name="T4" fmla="*/ 167 w 175"/>
                  <a:gd name="T5" fmla="*/ 40 h 168"/>
                  <a:gd name="T6" fmla="*/ 109 w 175"/>
                  <a:gd name="T7" fmla="*/ 105 h 168"/>
                  <a:gd name="T8" fmla="*/ 109 w 175"/>
                  <a:gd name="T9" fmla="*/ 105 h 168"/>
                  <a:gd name="T10" fmla="*/ 84 w 175"/>
                  <a:gd name="T11" fmla="*/ 133 h 168"/>
                  <a:gd name="T12" fmla="*/ 0 w 175"/>
                  <a:gd name="T13" fmla="*/ 168 h 168"/>
                  <a:gd name="T14" fmla="*/ 32 w 175"/>
                  <a:gd name="T15" fmla="*/ 83 h 168"/>
                  <a:gd name="T16" fmla="*/ 48 w 175"/>
                  <a:gd name="T17" fmla="*/ 63 h 168"/>
                  <a:gd name="T18" fmla="*/ 65 w 175"/>
                  <a:gd name="T19" fmla="*/ 42 h 168"/>
                  <a:gd name="T20" fmla="*/ 99 w 175"/>
                  <a:gd name="T21" fmla="*/ 0 h 168"/>
                  <a:gd name="T22" fmla="*/ 103 w 175"/>
                  <a:gd name="T23" fmla="*/ 1 h 168"/>
                  <a:gd name="T24" fmla="*/ 108 w 175"/>
                  <a:gd name="T25" fmla="*/ 3 h 168"/>
                  <a:gd name="T26" fmla="*/ 113 w 175"/>
                  <a:gd name="T27" fmla="*/ 6 h 168"/>
                  <a:gd name="T28" fmla="*/ 115 w 175"/>
                  <a:gd name="T29" fmla="*/ 6 h 168"/>
                  <a:gd name="T30" fmla="*/ 115 w 175"/>
                  <a:gd name="T31" fmla="*/ 6 h 168"/>
                  <a:gd name="T32" fmla="*/ 115 w 175"/>
                  <a:gd name="T33" fmla="*/ 6 h 168"/>
                  <a:gd name="T34" fmla="*/ 131 w 175"/>
                  <a:gd name="T35" fmla="*/ 13 h 168"/>
                  <a:gd name="T36" fmla="*/ 136 w 175"/>
                  <a:gd name="T37" fmla="*/ 15 h 168"/>
                  <a:gd name="T38" fmla="*/ 138 w 175"/>
                  <a:gd name="T39" fmla="*/ 1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5" h="168">
                    <a:moveTo>
                      <a:pt x="138" y="16"/>
                    </a:moveTo>
                    <a:cubicBezTo>
                      <a:pt x="150" y="21"/>
                      <a:pt x="162" y="27"/>
                      <a:pt x="175" y="32"/>
                    </a:cubicBezTo>
                    <a:cubicBezTo>
                      <a:pt x="167" y="40"/>
                      <a:pt x="167" y="40"/>
                      <a:pt x="167" y="40"/>
                    </a:cubicBezTo>
                    <a:cubicBezTo>
                      <a:pt x="109" y="105"/>
                      <a:pt x="109" y="105"/>
                      <a:pt x="109" y="105"/>
                    </a:cubicBezTo>
                    <a:cubicBezTo>
                      <a:pt x="109" y="105"/>
                      <a:pt x="109" y="105"/>
                      <a:pt x="109" y="105"/>
                    </a:cubicBezTo>
                    <a:cubicBezTo>
                      <a:pt x="84" y="133"/>
                      <a:pt x="84" y="133"/>
                      <a:pt x="84" y="133"/>
                    </a:cubicBezTo>
                    <a:cubicBezTo>
                      <a:pt x="0" y="168"/>
                      <a:pt x="0" y="168"/>
                      <a:pt x="0" y="168"/>
                    </a:cubicBezTo>
                    <a:cubicBezTo>
                      <a:pt x="32" y="83"/>
                      <a:pt x="32" y="83"/>
                      <a:pt x="32" y="83"/>
                    </a:cubicBezTo>
                    <a:cubicBezTo>
                      <a:pt x="48" y="63"/>
                      <a:pt x="48" y="63"/>
                      <a:pt x="48" y="63"/>
                    </a:cubicBezTo>
                    <a:cubicBezTo>
                      <a:pt x="65" y="42"/>
                      <a:pt x="65" y="42"/>
                      <a:pt x="65" y="42"/>
                    </a:cubicBezTo>
                    <a:cubicBezTo>
                      <a:pt x="99" y="0"/>
                      <a:pt x="99" y="0"/>
                      <a:pt x="99" y="0"/>
                    </a:cubicBezTo>
                    <a:cubicBezTo>
                      <a:pt x="100" y="0"/>
                      <a:pt x="101" y="1"/>
                      <a:pt x="103" y="1"/>
                    </a:cubicBezTo>
                    <a:cubicBezTo>
                      <a:pt x="104" y="2"/>
                      <a:pt x="106" y="3"/>
                      <a:pt x="108" y="3"/>
                    </a:cubicBezTo>
                    <a:cubicBezTo>
                      <a:pt x="110" y="4"/>
                      <a:pt x="112" y="5"/>
                      <a:pt x="113" y="6"/>
                    </a:cubicBezTo>
                    <a:cubicBezTo>
                      <a:pt x="114" y="6"/>
                      <a:pt x="114" y="6"/>
                      <a:pt x="115" y="6"/>
                    </a:cubicBezTo>
                    <a:cubicBezTo>
                      <a:pt x="115" y="6"/>
                      <a:pt x="115" y="6"/>
                      <a:pt x="115" y="6"/>
                    </a:cubicBezTo>
                    <a:cubicBezTo>
                      <a:pt x="115" y="6"/>
                      <a:pt x="115" y="6"/>
                      <a:pt x="115" y="6"/>
                    </a:cubicBezTo>
                    <a:cubicBezTo>
                      <a:pt x="120" y="8"/>
                      <a:pt x="126" y="11"/>
                      <a:pt x="131" y="13"/>
                    </a:cubicBezTo>
                    <a:cubicBezTo>
                      <a:pt x="133" y="14"/>
                      <a:pt x="134" y="15"/>
                      <a:pt x="136" y="15"/>
                    </a:cubicBezTo>
                    <a:cubicBezTo>
                      <a:pt x="137" y="16"/>
                      <a:pt x="137" y="16"/>
                      <a:pt x="13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0">
                <a:extLst>
                  <a:ext uri="{FF2B5EF4-FFF2-40B4-BE49-F238E27FC236}">
                    <a16:creationId xmlns:a16="http://schemas.microsoft.com/office/drawing/2014/main" id="{05A774D0-96A0-CC3D-565E-6DAAF9628E1F}"/>
                  </a:ext>
                </a:extLst>
              </p:cNvPr>
              <p:cNvSpPr>
                <a:spLocks/>
              </p:cNvSpPr>
              <p:nvPr/>
            </p:nvSpPr>
            <p:spPr bwMode="auto">
              <a:xfrm>
                <a:off x="8009570" y="528897"/>
                <a:ext cx="1571548" cy="1774039"/>
              </a:xfrm>
              <a:custGeom>
                <a:avLst/>
                <a:gdLst>
                  <a:gd name="T0" fmla="*/ 454 w 466"/>
                  <a:gd name="T1" fmla="*/ 77 h 527"/>
                  <a:gd name="T2" fmla="*/ 450 w 466"/>
                  <a:gd name="T3" fmla="*/ 81 h 527"/>
                  <a:gd name="T4" fmla="*/ 241 w 466"/>
                  <a:gd name="T5" fmla="*/ 334 h 527"/>
                  <a:gd name="T6" fmla="*/ 228 w 466"/>
                  <a:gd name="T7" fmla="*/ 350 h 527"/>
                  <a:gd name="T8" fmla="*/ 184 w 466"/>
                  <a:gd name="T9" fmla="*/ 403 h 527"/>
                  <a:gd name="T10" fmla="*/ 162 w 466"/>
                  <a:gd name="T11" fmla="*/ 429 h 527"/>
                  <a:gd name="T12" fmla="*/ 134 w 466"/>
                  <a:gd name="T13" fmla="*/ 461 h 527"/>
                  <a:gd name="T14" fmla="*/ 76 w 466"/>
                  <a:gd name="T15" fmla="*/ 527 h 527"/>
                  <a:gd name="T16" fmla="*/ 39 w 466"/>
                  <a:gd name="T17" fmla="*/ 511 h 527"/>
                  <a:gd name="T18" fmla="*/ 37 w 466"/>
                  <a:gd name="T19" fmla="*/ 510 h 527"/>
                  <a:gd name="T20" fmla="*/ 32 w 466"/>
                  <a:gd name="T21" fmla="*/ 508 h 527"/>
                  <a:gd name="T22" fmla="*/ 16 w 466"/>
                  <a:gd name="T23" fmla="*/ 501 h 527"/>
                  <a:gd name="T24" fmla="*/ 16 w 466"/>
                  <a:gd name="T25" fmla="*/ 501 h 527"/>
                  <a:gd name="T26" fmla="*/ 16 w 466"/>
                  <a:gd name="T27" fmla="*/ 501 h 527"/>
                  <a:gd name="T28" fmla="*/ 14 w 466"/>
                  <a:gd name="T29" fmla="*/ 501 h 527"/>
                  <a:gd name="T30" fmla="*/ 9 w 466"/>
                  <a:gd name="T31" fmla="*/ 498 h 527"/>
                  <a:gd name="T32" fmla="*/ 4 w 466"/>
                  <a:gd name="T33" fmla="*/ 496 h 527"/>
                  <a:gd name="T34" fmla="*/ 0 w 466"/>
                  <a:gd name="T35" fmla="*/ 495 h 527"/>
                  <a:gd name="T36" fmla="*/ 378 w 466"/>
                  <a:gd name="T37" fmla="*/ 24 h 527"/>
                  <a:gd name="T38" fmla="*/ 443 w 466"/>
                  <a:gd name="T39" fmla="*/ 16 h 527"/>
                  <a:gd name="T40" fmla="*/ 454 w 466"/>
                  <a:gd name="T41" fmla="*/ 7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6" h="527">
                    <a:moveTo>
                      <a:pt x="454" y="77"/>
                    </a:moveTo>
                    <a:cubicBezTo>
                      <a:pt x="453" y="78"/>
                      <a:pt x="452" y="80"/>
                      <a:pt x="450" y="81"/>
                    </a:cubicBezTo>
                    <a:cubicBezTo>
                      <a:pt x="241" y="334"/>
                      <a:pt x="241" y="334"/>
                      <a:pt x="241" y="334"/>
                    </a:cubicBezTo>
                    <a:cubicBezTo>
                      <a:pt x="228" y="350"/>
                      <a:pt x="228" y="350"/>
                      <a:pt x="228" y="350"/>
                    </a:cubicBezTo>
                    <a:cubicBezTo>
                      <a:pt x="184" y="403"/>
                      <a:pt x="184" y="403"/>
                      <a:pt x="184" y="403"/>
                    </a:cubicBezTo>
                    <a:cubicBezTo>
                      <a:pt x="162" y="429"/>
                      <a:pt x="162" y="429"/>
                      <a:pt x="162" y="429"/>
                    </a:cubicBezTo>
                    <a:cubicBezTo>
                      <a:pt x="134" y="461"/>
                      <a:pt x="134" y="461"/>
                      <a:pt x="134" y="461"/>
                    </a:cubicBezTo>
                    <a:cubicBezTo>
                      <a:pt x="76" y="527"/>
                      <a:pt x="76" y="527"/>
                      <a:pt x="76" y="527"/>
                    </a:cubicBezTo>
                    <a:cubicBezTo>
                      <a:pt x="63" y="522"/>
                      <a:pt x="51" y="516"/>
                      <a:pt x="39" y="511"/>
                    </a:cubicBezTo>
                    <a:cubicBezTo>
                      <a:pt x="38" y="511"/>
                      <a:pt x="38" y="511"/>
                      <a:pt x="37" y="510"/>
                    </a:cubicBezTo>
                    <a:cubicBezTo>
                      <a:pt x="35" y="510"/>
                      <a:pt x="34" y="509"/>
                      <a:pt x="32" y="508"/>
                    </a:cubicBezTo>
                    <a:cubicBezTo>
                      <a:pt x="27" y="506"/>
                      <a:pt x="21" y="503"/>
                      <a:pt x="16" y="501"/>
                    </a:cubicBezTo>
                    <a:cubicBezTo>
                      <a:pt x="16" y="501"/>
                      <a:pt x="16" y="501"/>
                      <a:pt x="16" y="501"/>
                    </a:cubicBezTo>
                    <a:cubicBezTo>
                      <a:pt x="16" y="501"/>
                      <a:pt x="16" y="501"/>
                      <a:pt x="16" y="501"/>
                    </a:cubicBezTo>
                    <a:cubicBezTo>
                      <a:pt x="15" y="501"/>
                      <a:pt x="15" y="501"/>
                      <a:pt x="14" y="501"/>
                    </a:cubicBezTo>
                    <a:cubicBezTo>
                      <a:pt x="13" y="500"/>
                      <a:pt x="11" y="499"/>
                      <a:pt x="9" y="498"/>
                    </a:cubicBezTo>
                    <a:cubicBezTo>
                      <a:pt x="7" y="498"/>
                      <a:pt x="5" y="497"/>
                      <a:pt x="4" y="496"/>
                    </a:cubicBezTo>
                    <a:cubicBezTo>
                      <a:pt x="2" y="496"/>
                      <a:pt x="1" y="495"/>
                      <a:pt x="0" y="495"/>
                    </a:cubicBezTo>
                    <a:cubicBezTo>
                      <a:pt x="378" y="24"/>
                      <a:pt x="378" y="24"/>
                      <a:pt x="378" y="24"/>
                    </a:cubicBezTo>
                    <a:cubicBezTo>
                      <a:pt x="394" y="4"/>
                      <a:pt x="423" y="0"/>
                      <a:pt x="443" y="16"/>
                    </a:cubicBezTo>
                    <a:cubicBezTo>
                      <a:pt x="462" y="31"/>
                      <a:pt x="466" y="57"/>
                      <a:pt x="45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4" name="Freeform 31">
              <a:extLst>
                <a:ext uri="{FF2B5EF4-FFF2-40B4-BE49-F238E27FC236}">
                  <a16:creationId xmlns:a16="http://schemas.microsoft.com/office/drawing/2014/main" id="{D2FFACCC-B5A1-129B-1633-34CC68E0513B}"/>
                </a:ext>
              </a:extLst>
            </p:cNvPr>
            <p:cNvSpPr>
              <a:spLocks/>
            </p:cNvSpPr>
            <p:nvPr/>
          </p:nvSpPr>
          <p:spPr bwMode="auto">
            <a:xfrm>
              <a:off x="7609964" y="1441003"/>
              <a:ext cx="4582038" cy="5372291"/>
            </a:xfrm>
            <a:custGeom>
              <a:avLst/>
              <a:gdLst>
                <a:gd name="T0" fmla="*/ 1360 w 1360"/>
                <a:gd name="T1" fmla="*/ 1596 h 1596"/>
                <a:gd name="T2" fmla="*/ 935 w 1360"/>
                <a:gd name="T3" fmla="*/ 1437 h 1596"/>
                <a:gd name="T4" fmla="*/ 823 w 1360"/>
                <a:gd name="T5" fmla="*/ 1072 h 1596"/>
                <a:gd name="T6" fmla="*/ 756 w 1360"/>
                <a:gd name="T7" fmla="*/ 634 h 1596"/>
                <a:gd name="T8" fmla="*/ 753 w 1360"/>
                <a:gd name="T9" fmla="*/ 624 h 1596"/>
                <a:gd name="T10" fmla="*/ 750 w 1360"/>
                <a:gd name="T11" fmla="*/ 616 h 1596"/>
                <a:gd name="T12" fmla="*/ 737 w 1360"/>
                <a:gd name="T13" fmla="*/ 587 h 1596"/>
                <a:gd name="T14" fmla="*/ 729 w 1360"/>
                <a:gd name="T15" fmla="*/ 577 h 1596"/>
                <a:gd name="T16" fmla="*/ 722 w 1360"/>
                <a:gd name="T17" fmla="*/ 571 h 1596"/>
                <a:gd name="T18" fmla="*/ 718 w 1360"/>
                <a:gd name="T19" fmla="*/ 568 h 1596"/>
                <a:gd name="T20" fmla="*/ 699 w 1360"/>
                <a:gd name="T21" fmla="*/ 559 h 1596"/>
                <a:gd name="T22" fmla="*/ 694 w 1360"/>
                <a:gd name="T23" fmla="*/ 557 h 1596"/>
                <a:gd name="T24" fmla="*/ 667 w 1360"/>
                <a:gd name="T25" fmla="*/ 551 h 1596"/>
                <a:gd name="T26" fmla="*/ 637 w 1360"/>
                <a:gd name="T27" fmla="*/ 546 h 1596"/>
                <a:gd name="T28" fmla="*/ 612 w 1360"/>
                <a:gd name="T29" fmla="*/ 542 h 1596"/>
                <a:gd name="T30" fmla="*/ 597 w 1360"/>
                <a:gd name="T31" fmla="*/ 539 h 1596"/>
                <a:gd name="T32" fmla="*/ 554 w 1360"/>
                <a:gd name="T33" fmla="*/ 532 h 1596"/>
                <a:gd name="T34" fmla="*/ 495 w 1360"/>
                <a:gd name="T35" fmla="*/ 522 h 1596"/>
                <a:gd name="T36" fmla="*/ 469 w 1360"/>
                <a:gd name="T37" fmla="*/ 516 h 1596"/>
                <a:gd name="T38" fmla="*/ 447 w 1360"/>
                <a:gd name="T39" fmla="*/ 512 h 1596"/>
                <a:gd name="T40" fmla="*/ 421 w 1360"/>
                <a:gd name="T41" fmla="*/ 506 h 1596"/>
                <a:gd name="T42" fmla="*/ 402 w 1360"/>
                <a:gd name="T43" fmla="*/ 500 h 1596"/>
                <a:gd name="T44" fmla="*/ 382 w 1360"/>
                <a:gd name="T45" fmla="*/ 495 h 1596"/>
                <a:gd name="T46" fmla="*/ 367 w 1360"/>
                <a:gd name="T47" fmla="*/ 490 h 1596"/>
                <a:gd name="T48" fmla="*/ 355 w 1360"/>
                <a:gd name="T49" fmla="*/ 485 h 1596"/>
                <a:gd name="T50" fmla="*/ 332 w 1360"/>
                <a:gd name="T51" fmla="*/ 476 h 1596"/>
                <a:gd name="T52" fmla="*/ 290 w 1360"/>
                <a:gd name="T53" fmla="*/ 452 h 1596"/>
                <a:gd name="T54" fmla="*/ 280 w 1360"/>
                <a:gd name="T55" fmla="*/ 444 h 1596"/>
                <a:gd name="T56" fmla="*/ 264 w 1360"/>
                <a:gd name="T57" fmla="*/ 429 h 1596"/>
                <a:gd name="T58" fmla="*/ 252 w 1360"/>
                <a:gd name="T59" fmla="*/ 419 h 1596"/>
                <a:gd name="T60" fmla="*/ 241 w 1360"/>
                <a:gd name="T61" fmla="*/ 410 h 1596"/>
                <a:gd name="T62" fmla="*/ 129 w 1360"/>
                <a:gd name="T63" fmla="*/ 329 h 1596"/>
                <a:gd name="T64" fmla="*/ 106 w 1360"/>
                <a:gd name="T65" fmla="*/ 313 h 1596"/>
                <a:gd name="T66" fmla="*/ 68 w 1360"/>
                <a:gd name="T67" fmla="*/ 287 h 1596"/>
                <a:gd name="T68" fmla="*/ 33 w 1360"/>
                <a:gd name="T69" fmla="*/ 221 h 1596"/>
                <a:gd name="T70" fmla="*/ 73 w 1360"/>
                <a:gd name="T71" fmla="*/ 213 h 1596"/>
                <a:gd name="T72" fmla="*/ 79 w 1360"/>
                <a:gd name="T73" fmla="*/ 213 h 1596"/>
                <a:gd name="T74" fmla="*/ 87 w 1360"/>
                <a:gd name="T75" fmla="*/ 214 h 1596"/>
                <a:gd name="T76" fmla="*/ 119 w 1360"/>
                <a:gd name="T77" fmla="*/ 224 h 1596"/>
                <a:gd name="T78" fmla="*/ 128 w 1360"/>
                <a:gd name="T79" fmla="*/ 227 h 1596"/>
                <a:gd name="T80" fmla="*/ 135 w 1360"/>
                <a:gd name="T81" fmla="*/ 230 h 1596"/>
                <a:gd name="T82" fmla="*/ 151 w 1360"/>
                <a:gd name="T83" fmla="*/ 237 h 1596"/>
                <a:gd name="T84" fmla="*/ 158 w 1360"/>
                <a:gd name="T85" fmla="*/ 240 h 1596"/>
                <a:gd name="T86" fmla="*/ 197 w 1360"/>
                <a:gd name="T87" fmla="*/ 257 h 1596"/>
                <a:gd name="T88" fmla="*/ 412 w 1360"/>
                <a:gd name="T89" fmla="*/ 273 h 1596"/>
                <a:gd name="T90" fmla="*/ 461 w 1360"/>
                <a:gd name="T91" fmla="*/ 189 h 1596"/>
                <a:gd name="T92" fmla="*/ 460 w 1360"/>
                <a:gd name="T93" fmla="*/ 185 h 1596"/>
                <a:gd name="T94" fmla="*/ 460 w 1360"/>
                <a:gd name="T95" fmla="*/ 181 h 1596"/>
                <a:gd name="T96" fmla="*/ 457 w 1360"/>
                <a:gd name="T97" fmla="*/ 176 h 1596"/>
                <a:gd name="T98" fmla="*/ 455 w 1360"/>
                <a:gd name="T99" fmla="*/ 172 h 1596"/>
                <a:gd name="T100" fmla="*/ 451 w 1360"/>
                <a:gd name="T101" fmla="*/ 168 h 1596"/>
                <a:gd name="T102" fmla="*/ 444 w 1360"/>
                <a:gd name="T103" fmla="*/ 164 h 1596"/>
                <a:gd name="T104" fmla="*/ 423 w 1360"/>
                <a:gd name="T105" fmla="*/ 160 h 1596"/>
                <a:gd name="T106" fmla="*/ 281 w 1360"/>
                <a:gd name="T107" fmla="*/ 158 h 1596"/>
                <a:gd name="T108" fmla="*/ 347 w 1360"/>
                <a:gd name="T109" fmla="*/ 79 h 1596"/>
                <a:gd name="T110" fmla="*/ 420 w 1360"/>
                <a:gd name="T111" fmla="*/ 45 h 1596"/>
                <a:gd name="T112" fmla="*/ 548 w 1360"/>
                <a:gd name="T113" fmla="*/ 2 h 1596"/>
                <a:gd name="T114" fmla="*/ 584 w 1360"/>
                <a:gd name="T115" fmla="*/ 24 h 1596"/>
                <a:gd name="T116" fmla="*/ 905 w 1360"/>
                <a:gd name="T117" fmla="*/ 485 h 1596"/>
                <a:gd name="T118" fmla="*/ 918 w 1360"/>
                <a:gd name="T119" fmla="*/ 526 h 1596"/>
                <a:gd name="T120" fmla="*/ 1360 w 1360"/>
                <a:gd name="T121" fmla="*/ 1194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0" h="1596">
                  <a:moveTo>
                    <a:pt x="1360" y="1194"/>
                  </a:moveTo>
                  <a:cubicBezTo>
                    <a:pt x="1360" y="1596"/>
                    <a:pt x="1360" y="1596"/>
                    <a:pt x="1360" y="1596"/>
                  </a:cubicBezTo>
                  <a:cubicBezTo>
                    <a:pt x="1349" y="1575"/>
                    <a:pt x="1312" y="1536"/>
                    <a:pt x="1197" y="1497"/>
                  </a:cubicBezTo>
                  <a:cubicBezTo>
                    <a:pt x="1135" y="1476"/>
                    <a:pt x="1050" y="1455"/>
                    <a:pt x="935" y="1437"/>
                  </a:cubicBezTo>
                  <a:cubicBezTo>
                    <a:pt x="897" y="1361"/>
                    <a:pt x="867" y="1277"/>
                    <a:pt x="847" y="1188"/>
                  </a:cubicBezTo>
                  <a:cubicBezTo>
                    <a:pt x="838" y="1147"/>
                    <a:pt x="830" y="1108"/>
                    <a:pt x="823" y="1072"/>
                  </a:cubicBezTo>
                  <a:cubicBezTo>
                    <a:pt x="785" y="876"/>
                    <a:pt x="776" y="752"/>
                    <a:pt x="763" y="674"/>
                  </a:cubicBezTo>
                  <a:cubicBezTo>
                    <a:pt x="761" y="659"/>
                    <a:pt x="758" y="646"/>
                    <a:pt x="756" y="634"/>
                  </a:cubicBezTo>
                  <a:cubicBezTo>
                    <a:pt x="755" y="632"/>
                    <a:pt x="754" y="630"/>
                    <a:pt x="754" y="628"/>
                  </a:cubicBezTo>
                  <a:cubicBezTo>
                    <a:pt x="754" y="627"/>
                    <a:pt x="753" y="625"/>
                    <a:pt x="753" y="624"/>
                  </a:cubicBezTo>
                  <a:cubicBezTo>
                    <a:pt x="752" y="622"/>
                    <a:pt x="752" y="620"/>
                    <a:pt x="751" y="618"/>
                  </a:cubicBezTo>
                  <a:cubicBezTo>
                    <a:pt x="751" y="618"/>
                    <a:pt x="751" y="617"/>
                    <a:pt x="750" y="616"/>
                  </a:cubicBezTo>
                  <a:cubicBezTo>
                    <a:pt x="747" y="605"/>
                    <a:pt x="743" y="596"/>
                    <a:pt x="738" y="589"/>
                  </a:cubicBezTo>
                  <a:cubicBezTo>
                    <a:pt x="737" y="588"/>
                    <a:pt x="737" y="588"/>
                    <a:pt x="737" y="587"/>
                  </a:cubicBezTo>
                  <a:cubicBezTo>
                    <a:pt x="735" y="584"/>
                    <a:pt x="732" y="581"/>
                    <a:pt x="730" y="579"/>
                  </a:cubicBezTo>
                  <a:cubicBezTo>
                    <a:pt x="730" y="578"/>
                    <a:pt x="729" y="578"/>
                    <a:pt x="729" y="577"/>
                  </a:cubicBezTo>
                  <a:cubicBezTo>
                    <a:pt x="727" y="576"/>
                    <a:pt x="725" y="574"/>
                    <a:pt x="723" y="572"/>
                  </a:cubicBezTo>
                  <a:cubicBezTo>
                    <a:pt x="723" y="572"/>
                    <a:pt x="723" y="571"/>
                    <a:pt x="722" y="571"/>
                  </a:cubicBezTo>
                  <a:cubicBezTo>
                    <a:pt x="722" y="571"/>
                    <a:pt x="722" y="571"/>
                    <a:pt x="721" y="571"/>
                  </a:cubicBezTo>
                  <a:cubicBezTo>
                    <a:pt x="720" y="570"/>
                    <a:pt x="719" y="569"/>
                    <a:pt x="718" y="568"/>
                  </a:cubicBezTo>
                  <a:cubicBezTo>
                    <a:pt x="715" y="566"/>
                    <a:pt x="712" y="564"/>
                    <a:pt x="709" y="563"/>
                  </a:cubicBezTo>
                  <a:cubicBezTo>
                    <a:pt x="705" y="561"/>
                    <a:pt x="702" y="560"/>
                    <a:pt x="699" y="559"/>
                  </a:cubicBezTo>
                  <a:cubicBezTo>
                    <a:pt x="698" y="559"/>
                    <a:pt x="697" y="558"/>
                    <a:pt x="696" y="558"/>
                  </a:cubicBezTo>
                  <a:cubicBezTo>
                    <a:pt x="696" y="558"/>
                    <a:pt x="695" y="558"/>
                    <a:pt x="694" y="557"/>
                  </a:cubicBezTo>
                  <a:cubicBezTo>
                    <a:pt x="692" y="557"/>
                    <a:pt x="690" y="556"/>
                    <a:pt x="688" y="556"/>
                  </a:cubicBezTo>
                  <a:cubicBezTo>
                    <a:pt x="681" y="554"/>
                    <a:pt x="674" y="553"/>
                    <a:pt x="667" y="551"/>
                  </a:cubicBezTo>
                  <a:cubicBezTo>
                    <a:pt x="665" y="551"/>
                    <a:pt x="663" y="551"/>
                    <a:pt x="661" y="550"/>
                  </a:cubicBezTo>
                  <a:cubicBezTo>
                    <a:pt x="653" y="549"/>
                    <a:pt x="645" y="547"/>
                    <a:pt x="637" y="546"/>
                  </a:cubicBezTo>
                  <a:cubicBezTo>
                    <a:pt x="632" y="545"/>
                    <a:pt x="628" y="545"/>
                    <a:pt x="624" y="544"/>
                  </a:cubicBezTo>
                  <a:cubicBezTo>
                    <a:pt x="620" y="543"/>
                    <a:pt x="616" y="543"/>
                    <a:pt x="612" y="542"/>
                  </a:cubicBezTo>
                  <a:cubicBezTo>
                    <a:pt x="611" y="542"/>
                    <a:pt x="611" y="542"/>
                    <a:pt x="610" y="541"/>
                  </a:cubicBezTo>
                  <a:cubicBezTo>
                    <a:pt x="605" y="541"/>
                    <a:pt x="601" y="540"/>
                    <a:pt x="597" y="539"/>
                  </a:cubicBezTo>
                  <a:cubicBezTo>
                    <a:pt x="590" y="538"/>
                    <a:pt x="583" y="537"/>
                    <a:pt x="576" y="536"/>
                  </a:cubicBezTo>
                  <a:cubicBezTo>
                    <a:pt x="569" y="535"/>
                    <a:pt x="562" y="534"/>
                    <a:pt x="554" y="532"/>
                  </a:cubicBezTo>
                  <a:cubicBezTo>
                    <a:pt x="539" y="530"/>
                    <a:pt x="523" y="527"/>
                    <a:pt x="508" y="524"/>
                  </a:cubicBezTo>
                  <a:cubicBezTo>
                    <a:pt x="504" y="523"/>
                    <a:pt x="499" y="523"/>
                    <a:pt x="495" y="522"/>
                  </a:cubicBezTo>
                  <a:cubicBezTo>
                    <a:pt x="493" y="521"/>
                    <a:pt x="490" y="521"/>
                    <a:pt x="488" y="520"/>
                  </a:cubicBezTo>
                  <a:cubicBezTo>
                    <a:pt x="481" y="519"/>
                    <a:pt x="475" y="518"/>
                    <a:pt x="469" y="516"/>
                  </a:cubicBezTo>
                  <a:cubicBezTo>
                    <a:pt x="464" y="515"/>
                    <a:pt x="459" y="514"/>
                    <a:pt x="454" y="513"/>
                  </a:cubicBezTo>
                  <a:cubicBezTo>
                    <a:pt x="452" y="513"/>
                    <a:pt x="449" y="512"/>
                    <a:pt x="447" y="512"/>
                  </a:cubicBezTo>
                  <a:cubicBezTo>
                    <a:pt x="439" y="510"/>
                    <a:pt x="432" y="508"/>
                    <a:pt x="425" y="507"/>
                  </a:cubicBezTo>
                  <a:cubicBezTo>
                    <a:pt x="424" y="506"/>
                    <a:pt x="422" y="506"/>
                    <a:pt x="421" y="506"/>
                  </a:cubicBezTo>
                  <a:cubicBezTo>
                    <a:pt x="418" y="505"/>
                    <a:pt x="414" y="504"/>
                    <a:pt x="411" y="503"/>
                  </a:cubicBezTo>
                  <a:cubicBezTo>
                    <a:pt x="408" y="502"/>
                    <a:pt x="405" y="501"/>
                    <a:pt x="402" y="500"/>
                  </a:cubicBezTo>
                  <a:cubicBezTo>
                    <a:pt x="399" y="500"/>
                    <a:pt x="396" y="499"/>
                    <a:pt x="393" y="498"/>
                  </a:cubicBezTo>
                  <a:cubicBezTo>
                    <a:pt x="389" y="497"/>
                    <a:pt x="386" y="496"/>
                    <a:pt x="382" y="495"/>
                  </a:cubicBezTo>
                  <a:cubicBezTo>
                    <a:pt x="380" y="494"/>
                    <a:pt x="377" y="493"/>
                    <a:pt x="374" y="492"/>
                  </a:cubicBezTo>
                  <a:cubicBezTo>
                    <a:pt x="372" y="491"/>
                    <a:pt x="370" y="491"/>
                    <a:pt x="367" y="490"/>
                  </a:cubicBezTo>
                  <a:cubicBezTo>
                    <a:pt x="365" y="489"/>
                    <a:pt x="363" y="488"/>
                    <a:pt x="361" y="488"/>
                  </a:cubicBezTo>
                  <a:cubicBezTo>
                    <a:pt x="359" y="487"/>
                    <a:pt x="357" y="486"/>
                    <a:pt x="355" y="485"/>
                  </a:cubicBezTo>
                  <a:cubicBezTo>
                    <a:pt x="349" y="483"/>
                    <a:pt x="343" y="481"/>
                    <a:pt x="337" y="478"/>
                  </a:cubicBezTo>
                  <a:cubicBezTo>
                    <a:pt x="335" y="477"/>
                    <a:pt x="334" y="477"/>
                    <a:pt x="332" y="476"/>
                  </a:cubicBezTo>
                  <a:cubicBezTo>
                    <a:pt x="317" y="469"/>
                    <a:pt x="304" y="462"/>
                    <a:pt x="292" y="453"/>
                  </a:cubicBezTo>
                  <a:cubicBezTo>
                    <a:pt x="292" y="453"/>
                    <a:pt x="291" y="453"/>
                    <a:pt x="290" y="452"/>
                  </a:cubicBezTo>
                  <a:cubicBezTo>
                    <a:pt x="288" y="450"/>
                    <a:pt x="286" y="449"/>
                    <a:pt x="284" y="447"/>
                  </a:cubicBezTo>
                  <a:cubicBezTo>
                    <a:pt x="282" y="446"/>
                    <a:pt x="281" y="445"/>
                    <a:pt x="280" y="444"/>
                  </a:cubicBezTo>
                  <a:cubicBezTo>
                    <a:pt x="276" y="440"/>
                    <a:pt x="272" y="436"/>
                    <a:pt x="268" y="432"/>
                  </a:cubicBezTo>
                  <a:cubicBezTo>
                    <a:pt x="266" y="431"/>
                    <a:pt x="265" y="430"/>
                    <a:pt x="264" y="429"/>
                  </a:cubicBezTo>
                  <a:cubicBezTo>
                    <a:pt x="262" y="428"/>
                    <a:pt x="260" y="426"/>
                    <a:pt x="258" y="424"/>
                  </a:cubicBezTo>
                  <a:cubicBezTo>
                    <a:pt x="256" y="423"/>
                    <a:pt x="254" y="421"/>
                    <a:pt x="252" y="419"/>
                  </a:cubicBezTo>
                  <a:cubicBezTo>
                    <a:pt x="249" y="417"/>
                    <a:pt x="247" y="416"/>
                    <a:pt x="245" y="414"/>
                  </a:cubicBezTo>
                  <a:cubicBezTo>
                    <a:pt x="244" y="413"/>
                    <a:pt x="242" y="412"/>
                    <a:pt x="241" y="410"/>
                  </a:cubicBezTo>
                  <a:cubicBezTo>
                    <a:pt x="208" y="384"/>
                    <a:pt x="168" y="355"/>
                    <a:pt x="129" y="329"/>
                  </a:cubicBezTo>
                  <a:cubicBezTo>
                    <a:pt x="129" y="329"/>
                    <a:pt x="129" y="329"/>
                    <a:pt x="129" y="329"/>
                  </a:cubicBezTo>
                  <a:cubicBezTo>
                    <a:pt x="125" y="326"/>
                    <a:pt x="121" y="323"/>
                    <a:pt x="117" y="320"/>
                  </a:cubicBezTo>
                  <a:cubicBezTo>
                    <a:pt x="113" y="318"/>
                    <a:pt x="110" y="315"/>
                    <a:pt x="106" y="313"/>
                  </a:cubicBezTo>
                  <a:cubicBezTo>
                    <a:pt x="104" y="311"/>
                    <a:pt x="101" y="309"/>
                    <a:pt x="99" y="308"/>
                  </a:cubicBezTo>
                  <a:cubicBezTo>
                    <a:pt x="88" y="300"/>
                    <a:pt x="78" y="294"/>
                    <a:pt x="68" y="287"/>
                  </a:cubicBezTo>
                  <a:cubicBezTo>
                    <a:pt x="29" y="261"/>
                    <a:pt x="0" y="243"/>
                    <a:pt x="0" y="243"/>
                  </a:cubicBezTo>
                  <a:cubicBezTo>
                    <a:pt x="0" y="243"/>
                    <a:pt x="7" y="230"/>
                    <a:pt x="33" y="221"/>
                  </a:cubicBezTo>
                  <a:cubicBezTo>
                    <a:pt x="43" y="217"/>
                    <a:pt x="55" y="215"/>
                    <a:pt x="71" y="213"/>
                  </a:cubicBezTo>
                  <a:cubicBezTo>
                    <a:pt x="73" y="213"/>
                    <a:pt x="73" y="213"/>
                    <a:pt x="73" y="213"/>
                  </a:cubicBezTo>
                  <a:cubicBezTo>
                    <a:pt x="74" y="213"/>
                    <a:pt x="74" y="213"/>
                    <a:pt x="75" y="213"/>
                  </a:cubicBezTo>
                  <a:cubicBezTo>
                    <a:pt x="77" y="213"/>
                    <a:pt x="78" y="213"/>
                    <a:pt x="79" y="213"/>
                  </a:cubicBezTo>
                  <a:cubicBezTo>
                    <a:pt x="81" y="213"/>
                    <a:pt x="82" y="213"/>
                    <a:pt x="84" y="214"/>
                  </a:cubicBezTo>
                  <a:cubicBezTo>
                    <a:pt x="85" y="214"/>
                    <a:pt x="86" y="214"/>
                    <a:pt x="87" y="214"/>
                  </a:cubicBezTo>
                  <a:cubicBezTo>
                    <a:pt x="95" y="216"/>
                    <a:pt x="103" y="218"/>
                    <a:pt x="113" y="221"/>
                  </a:cubicBezTo>
                  <a:cubicBezTo>
                    <a:pt x="115" y="222"/>
                    <a:pt x="117" y="223"/>
                    <a:pt x="119" y="224"/>
                  </a:cubicBezTo>
                  <a:cubicBezTo>
                    <a:pt x="120" y="224"/>
                    <a:pt x="121" y="225"/>
                    <a:pt x="123" y="225"/>
                  </a:cubicBezTo>
                  <a:cubicBezTo>
                    <a:pt x="124" y="226"/>
                    <a:pt x="126" y="227"/>
                    <a:pt x="128" y="227"/>
                  </a:cubicBezTo>
                  <a:cubicBezTo>
                    <a:pt x="130" y="228"/>
                    <a:pt x="132" y="229"/>
                    <a:pt x="133" y="230"/>
                  </a:cubicBezTo>
                  <a:cubicBezTo>
                    <a:pt x="134" y="230"/>
                    <a:pt x="135" y="230"/>
                    <a:pt x="135" y="230"/>
                  </a:cubicBezTo>
                  <a:cubicBezTo>
                    <a:pt x="135" y="230"/>
                    <a:pt x="135" y="230"/>
                    <a:pt x="135" y="230"/>
                  </a:cubicBezTo>
                  <a:cubicBezTo>
                    <a:pt x="140" y="232"/>
                    <a:pt x="146" y="235"/>
                    <a:pt x="151" y="237"/>
                  </a:cubicBezTo>
                  <a:cubicBezTo>
                    <a:pt x="153" y="238"/>
                    <a:pt x="154" y="239"/>
                    <a:pt x="156" y="239"/>
                  </a:cubicBezTo>
                  <a:cubicBezTo>
                    <a:pt x="157" y="240"/>
                    <a:pt x="157" y="240"/>
                    <a:pt x="158" y="240"/>
                  </a:cubicBezTo>
                  <a:cubicBezTo>
                    <a:pt x="170" y="245"/>
                    <a:pt x="182" y="251"/>
                    <a:pt x="195" y="256"/>
                  </a:cubicBezTo>
                  <a:cubicBezTo>
                    <a:pt x="195" y="256"/>
                    <a:pt x="196" y="257"/>
                    <a:pt x="197" y="257"/>
                  </a:cubicBezTo>
                  <a:cubicBezTo>
                    <a:pt x="211" y="263"/>
                    <a:pt x="226" y="268"/>
                    <a:pt x="241" y="273"/>
                  </a:cubicBezTo>
                  <a:cubicBezTo>
                    <a:pt x="293" y="290"/>
                    <a:pt x="368" y="304"/>
                    <a:pt x="412" y="273"/>
                  </a:cubicBezTo>
                  <a:cubicBezTo>
                    <a:pt x="438" y="255"/>
                    <a:pt x="458" y="224"/>
                    <a:pt x="461" y="198"/>
                  </a:cubicBezTo>
                  <a:cubicBezTo>
                    <a:pt x="461" y="195"/>
                    <a:pt x="461" y="192"/>
                    <a:pt x="461" y="189"/>
                  </a:cubicBezTo>
                  <a:cubicBezTo>
                    <a:pt x="461" y="188"/>
                    <a:pt x="461" y="188"/>
                    <a:pt x="461" y="187"/>
                  </a:cubicBezTo>
                  <a:cubicBezTo>
                    <a:pt x="461" y="186"/>
                    <a:pt x="461" y="186"/>
                    <a:pt x="460" y="185"/>
                  </a:cubicBezTo>
                  <a:cubicBezTo>
                    <a:pt x="460" y="184"/>
                    <a:pt x="460" y="184"/>
                    <a:pt x="460" y="183"/>
                  </a:cubicBezTo>
                  <a:cubicBezTo>
                    <a:pt x="460" y="182"/>
                    <a:pt x="460" y="182"/>
                    <a:pt x="460" y="181"/>
                  </a:cubicBezTo>
                  <a:cubicBezTo>
                    <a:pt x="459" y="181"/>
                    <a:pt x="459" y="180"/>
                    <a:pt x="459" y="180"/>
                  </a:cubicBezTo>
                  <a:cubicBezTo>
                    <a:pt x="459" y="179"/>
                    <a:pt x="458" y="177"/>
                    <a:pt x="457" y="176"/>
                  </a:cubicBezTo>
                  <a:cubicBezTo>
                    <a:pt x="457" y="175"/>
                    <a:pt x="457" y="175"/>
                    <a:pt x="456" y="174"/>
                  </a:cubicBezTo>
                  <a:cubicBezTo>
                    <a:pt x="456" y="174"/>
                    <a:pt x="456" y="173"/>
                    <a:pt x="455" y="172"/>
                  </a:cubicBezTo>
                  <a:cubicBezTo>
                    <a:pt x="455" y="172"/>
                    <a:pt x="454" y="171"/>
                    <a:pt x="453" y="170"/>
                  </a:cubicBezTo>
                  <a:cubicBezTo>
                    <a:pt x="453" y="169"/>
                    <a:pt x="452" y="169"/>
                    <a:pt x="451" y="168"/>
                  </a:cubicBezTo>
                  <a:cubicBezTo>
                    <a:pt x="451" y="168"/>
                    <a:pt x="450" y="167"/>
                    <a:pt x="450" y="167"/>
                  </a:cubicBezTo>
                  <a:cubicBezTo>
                    <a:pt x="448" y="166"/>
                    <a:pt x="446" y="165"/>
                    <a:pt x="444" y="164"/>
                  </a:cubicBezTo>
                  <a:cubicBezTo>
                    <a:pt x="443" y="163"/>
                    <a:pt x="442" y="163"/>
                    <a:pt x="441" y="162"/>
                  </a:cubicBezTo>
                  <a:cubicBezTo>
                    <a:pt x="436" y="161"/>
                    <a:pt x="430" y="160"/>
                    <a:pt x="423" y="160"/>
                  </a:cubicBezTo>
                  <a:cubicBezTo>
                    <a:pt x="375" y="160"/>
                    <a:pt x="287" y="192"/>
                    <a:pt x="253" y="190"/>
                  </a:cubicBezTo>
                  <a:cubicBezTo>
                    <a:pt x="281" y="158"/>
                    <a:pt x="281" y="158"/>
                    <a:pt x="281" y="158"/>
                  </a:cubicBezTo>
                  <a:cubicBezTo>
                    <a:pt x="303" y="132"/>
                    <a:pt x="303" y="132"/>
                    <a:pt x="303" y="132"/>
                  </a:cubicBezTo>
                  <a:cubicBezTo>
                    <a:pt x="347" y="79"/>
                    <a:pt x="347" y="79"/>
                    <a:pt x="347" y="79"/>
                  </a:cubicBezTo>
                  <a:cubicBezTo>
                    <a:pt x="360" y="63"/>
                    <a:pt x="360" y="63"/>
                    <a:pt x="360" y="63"/>
                  </a:cubicBezTo>
                  <a:cubicBezTo>
                    <a:pt x="380" y="57"/>
                    <a:pt x="400" y="51"/>
                    <a:pt x="420" y="45"/>
                  </a:cubicBezTo>
                  <a:cubicBezTo>
                    <a:pt x="420" y="45"/>
                    <a:pt x="420" y="45"/>
                    <a:pt x="420" y="45"/>
                  </a:cubicBezTo>
                  <a:cubicBezTo>
                    <a:pt x="480" y="25"/>
                    <a:pt x="533" y="7"/>
                    <a:pt x="548" y="2"/>
                  </a:cubicBezTo>
                  <a:cubicBezTo>
                    <a:pt x="550" y="1"/>
                    <a:pt x="552" y="0"/>
                    <a:pt x="552" y="0"/>
                  </a:cubicBezTo>
                  <a:cubicBezTo>
                    <a:pt x="552" y="0"/>
                    <a:pt x="564" y="8"/>
                    <a:pt x="584" y="24"/>
                  </a:cubicBezTo>
                  <a:cubicBezTo>
                    <a:pt x="631" y="62"/>
                    <a:pt x="721" y="143"/>
                    <a:pt x="801" y="268"/>
                  </a:cubicBezTo>
                  <a:cubicBezTo>
                    <a:pt x="840" y="330"/>
                    <a:pt x="877" y="402"/>
                    <a:pt x="905" y="485"/>
                  </a:cubicBezTo>
                  <a:cubicBezTo>
                    <a:pt x="905" y="485"/>
                    <a:pt x="905" y="485"/>
                    <a:pt x="905" y="485"/>
                  </a:cubicBezTo>
                  <a:cubicBezTo>
                    <a:pt x="910" y="498"/>
                    <a:pt x="914" y="512"/>
                    <a:pt x="918" y="526"/>
                  </a:cubicBezTo>
                  <a:cubicBezTo>
                    <a:pt x="918" y="526"/>
                    <a:pt x="934" y="547"/>
                    <a:pt x="960" y="582"/>
                  </a:cubicBezTo>
                  <a:cubicBezTo>
                    <a:pt x="1041" y="691"/>
                    <a:pt x="1224" y="945"/>
                    <a:pt x="1360" y="1194"/>
                  </a:cubicBezTo>
                  <a:close/>
                </a:path>
              </a:pathLst>
            </a:custGeom>
            <a:gradFill>
              <a:gsLst>
                <a:gs pos="0">
                  <a:srgbClr val="E5C3FF"/>
                </a:gs>
                <a:gs pos="65000">
                  <a:srgbClr val="B0C7FF"/>
                </a:gs>
              </a:gsLst>
              <a:lin ang="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32">
              <a:extLst>
                <a:ext uri="{FF2B5EF4-FFF2-40B4-BE49-F238E27FC236}">
                  <a16:creationId xmlns:a16="http://schemas.microsoft.com/office/drawing/2014/main" id="{575C59CC-128B-954F-B482-F3FB43F91876}"/>
                </a:ext>
              </a:extLst>
            </p:cNvPr>
            <p:cNvSpPr>
              <a:spLocks/>
            </p:cNvSpPr>
            <p:nvPr/>
          </p:nvSpPr>
          <p:spPr bwMode="auto">
            <a:xfrm>
              <a:off x="7721066" y="1559272"/>
              <a:ext cx="2833086" cy="2015954"/>
            </a:xfrm>
            <a:custGeom>
              <a:avLst/>
              <a:gdLst>
                <a:gd name="T0" fmla="*/ 723 w 841"/>
                <a:gd name="T1" fmla="*/ 599 h 599"/>
                <a:gd name="T2" fmla="*/ 720 w 841"/>
                <a:gd name="T3" fmla="*/ 589 h 599"/>
                <a:gd name="T4" fmla="*/ 717 w 841"/>
                <a:gd name="T5" fmla="*/ 581 h 599"/>
                <a:gd name="T6" fmla="*/ 704 w 841"/>
                <a:gd name="T7" fmla="*/ 552 h 599"/>
                <a:gd name="T8" fmla="*/ 696 w 841"/>
                <a:gd name="T9" fmla="*/ 542 h 599"/>
                <a:gd name="T10" fmla="*/ 689 w 841"/>
                <a:gd name="T11" fmla="*/ 536 h 599"/>
                <a:gd name="T12" fmla="*/ 685 w 841"/>
                <a:gd name="T13" fmla="*/ 533 h 599"/>
                <a:gd name="T14" fmla="*/ 666 w 841"/>
                <a:gd name="T15" fmla="*/ 524 h 599"/>
                <a:gd name="T16" fmla="*/ 661 w 841"/>
                <a:gd name="T17" fmla="*/ 522 h 599"/>
                <a:gd name="T18" fmla="*/ 634 w 841"/>
                <a:gd name="T19" fmla="*/ 516 h 599"/>
                <a:gd name="T20" fmla="*/ 604 w 841"/>
                <a:gd name="T21" fmla="*/ 511 h 599"/>
                <a:gd name="T22" fmla="*/ 579 w 841"/>
                <a:gd name="T23" fmla="*/ 507 h 599"/>
                <a:gd name="T24" fmla="*/ 564 w 841"/>
                <a:gd name="T25" fmla="*/ 504 h 599"/>
                <a:gd name="T26" fmla="*/ 521 w 841"/>
                <a:gd name="T27" fmla="*/ 497 h 599"/>
                <a:gd name="T28" fmla="*/ 462 w 841"/>
                <a:gd name="T29" fmla="*/ 487 h 599"/>
                <a:gd name="T30" fmla="*/ 436 w 841"/>
                <a:gd name="T31" fmla="*/ 481 h 599"/>
                <a:gd name="T32" fmla="*/ 414 w 841"/>
                <a:gd name="T33" fmla="*/ 477 h 599"/>
                <a:gd name="T34" fmla="*/ 388 w 841"/>
                <a:gd name="T35" fmla="*/ 471 h 599"/>
                <a:gd name="T36" fmla="*/ 369 w 841"/>
                <a:gd name="T37" fmla="*/ 465 h 599"/>
                <a:gd name="T38" fmla="*/ 349 w 841"/>
                <a:gd name="T39" fmla="*/ 460 h 599"/>
                <a:gd name="T40" fmla="*/ 334 w 841"/>
                <a:gd name="T41" fmla="*/ 455 h 599"/>
                <a:gd name="T42" fmla="*/ 322 w 841"/>
                <a:gd name="T43" fmla="*/ 450 h 599"/>
                <a:gd name="T44" fmla="*/ 299 w 841"/>
                <a:gd name="T45" fmla="*/ 441 h 599"/>
                <a:gd name="T46" fmla="*/ 257 w 841"/>
                <a:gd name="T47" fmla="*/ 417 h 599"/>
                <a:gd name="T48" fmla="*/ 247 w 841"/>
                <a:gd name="T49" fmla="*/ 409 h 599"/>
                <a:gd name="T50" fmla="*/ 231 w 841"/>
                <a:gd name="T51" fmla="*/ 394 h 599"/>
                <a:gd name="T52" fmla="*/ 219 w 841"/>
                <a:gd name="T53" fmla="*/ 384 h 599"/>
                <a:gd name="T54" fmla="*/ 208 w 841"/>
                <a:gd name="T55" fmla="*/ 375 h 599"/>
                <a:gd name="T56" fmla="*/ 96 w 841"/>
                <a:gd name="T57" fmla="*/ 294 h 599"/>
                <a:gd name="T58" fmla="*/ 73 w 841"/>
                <a:gd name="T59" fmla="*/ 278 h 599"/>
                <a:gd name="T60" fmla="*/ 52 w 841"/>
                <a:gd name="T61" fmla="*/ 231 h 599"/>
                <a:gd name="T62" fmla="*/ 38 w 841"/>
                <a:gd name="T63" fmla="*/ 178 h 599"/>
                <a:gd name="T64" fmla="*/ 42 w 841"/>
                <a:gd name="T65" fmla="*/ 178 h 599"/>
                <a:gd name="T66" fmla="*/ 51 w 841"/>
                <a:gd name="T67" fmla="*/ 179 h 599"/>
                <a:gd name="T68" fmla="*/ 80 w 841"/>
                <a:gd name="T69" fmla="*/ 186 h 599"/>
                <a:gd name="T70" fmla="*/ 90 w 841"/>
                <a:gd name="T71" fmla="*/ 190 h 599"/>
                <a:gd name="T72" fmla="*/ 100 w 841"/>
                <a:gd name="T73" fmla="*/ 195 h 599"/>
                <a:gd name="T74" fmla="*/ 102 w 841"/>
                <a:gd name="T75" fmla="*/ 195 h 599"/>
                <a:gd name="T76" fmla="*/ 154 w 841"/>
                <a:gd name="T77" fmla="*/ 229 h 599"/>
                <a:gd name="T78" fmla="*/ 428 w 841"/>
                <a:gd name="T79" fmla="*/ 189 h 599"/>
                <a:gd name="T80" fmla="*/ 428 w 841"/>
                <a:gd name="T81" fmla="*/ 163 h 599"/>
                <a:gd name="T82" fmla="*/ 428 w 841"/>
                <a:gd name="T83" fmla="*/ 152 h 599"/>
                <a:gd name="T84" fmla="*/ 427 w 841"/>
                <a:gd name="T85" fmla="*/ 148 h 599"/>
                <a:gd name="T86" fmla="*/ 426 w 841"/>
                <a:gd name="T87" fmla="*/ 145 h 599"/>
                <a:gd name="T88" fmla="*/ 423 w 841"/>
                <a:gd name="T89" fmla="*/ 139 h 599"/>
                <a:gd name="T90" fmla="*/ 420 w 841"/>
                <a:gd name="T91" fmla="*/ 135 h 599"/>
                <a:gd name="T92" fmla="*/ 417 w 841"/>
                <a:gd name="T93" fmla="*/ 132 h 599"/>
                <a:gd name="T94" fmla="*/ 408 w 841"/>
                <a:gd name="T95" fmla="*/ 127 h 599"/>
                <a:gd name="T96" fmla="*/ 220 w 841"/>
                <a:gd name="T97" fmla="*/ 155 h 599"/>
                <a:gd name="T98" fmla="*/ 270 w 841"/>
                <a:gd name="T99" fmla="*/ 97 h 599"/>
                <a:gd name="T100" fmla="*/ 594 w 841"/>
                <a:gd name="T101" fmla="*/ 148 h 599"/>
                <a:gd name="T102" fmla="*/ 832 w 841"/>
                <a:gd name="T103" fmla="*/ 544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1" h="599">
                  <a:moveTo>
                    <a:pt x="832" y="544"/>
                  </a:moveTo>
                  <a:cubicBezTo>
                    <a:pt x="827" y="548"/>
                    <a:pt x="784" y="581"/>
                    <a:pt x="723" y="599"/>
                  </a:cubicBezTo>
                  <a:cubicBezTo>
                    <a:pt x="722" y="597"/>
                    <a:pt x="721" y="595"/>
                    <a:pt x="721" y="593"/>
                  </a:cubicBezTo>
                  <a:cubicBezTo>
                    <a:pt x="721" y="592"/>
                    <a:pt x="720" y="590"/>
                    <a:pt x="720" y="589"/>
                  </a:cubicBezTo>
                  <a:cubicBezTo>
                    <a:pt x="719" y="587"/>
                    <a:pt x="719" y="585"/>
                    <a:pt x="718" y="583"/>
                  </a:cubicBezTo>
                  <a:cubicBezTo>
                    <a:pt x="718" y="583"/>
                    <a:pt x="718" y="582"/>
                    <a:pt x="717" y="581"/>
                  </a:cubicBezTo>
                  <a:cubicBezTo>
                    <a:pt x="714" y="570"/>
                    <a:pt x="710" y="561"/>
                    <a:pt x="705" y="554"/>
                  </a:cubicBezTo>
                  <a:cubicBezTo>
                    <a:pt x="704" y="553"/>
                    <a:pt x="704" y="553"/>
                    <a:pt x="704" y="552"/>
                  </a:cubicBezTo>
                  <a:cubicBezTo>
                    <a:pt x="702" y="549"/>
                    <a:pt x="699" y="546"/>
                    <a:pt x="697" y="544"/>
                  </a:cubicBezTo>
                  <a:cubicBezTo>
                    <a:pt x="697" y="543"/>
                    <a:pt x="696" y="543"/>
                    <a:pt x="696" y="542"/>
                  </a:cubicBezTo>
                  <a:cubicBezTo>
                    <a:pt x="694" y="541"/>
                    <a:pt x="692" y="539"/>
                    <a:pt x="690" y="537"/>
                  </a:cubicBezTo>
                  <a:cubicBezTo>
                    <a:pt x="690" y="537"/>
                    <a:pt x="690" y="536"/>
                    <a:pt x="689" y="536"/>
                  </a:cubicBezTo>
                  <a:cubicBezTo>
                    <a:pt x="689" y="536"/>
                    <a:pt x="689" y="536"/>
                    <a:pt x="688" y="536"/>
                  </a:cubicBezTo>
                  <a:cubicBezTo>
                    <a:pt x="687" y="535"/>
                    <a:pt x="686" y="534"/>
                    <a:pt x="685" y="533"/>
                  </a:cubicBezTo>
                  <a:cubicBezTo>
                    <a:pt x="682" y="531"/>
                    <a:pt x="679" y="529"/>
                    <a:pt x="676" y="528"/>
                  </a:cubicBezTo>
                  <a:cubicBezTo>
                    <a:pt x="672" y="526"/>
                    <a:pt x="669" y="525"/>
                    <a:pt x="666" y="524"/>
                  </a:cubicBezTo>
                  <a:cubicBezTo>
                    <a:pt x="665" y="524"/>
                    <a:pt x="664" y="523"/>
                    <a:pt x="663" y="523"/>
                  </a:cubicBezTo>
                  <a:cubicBezTo>
                    <a:pt x="663" y="523"/>
                    <a:pt x="662" y="523"/>
                    <a:pt x="661" y="522"/>
                  </a:cubicBezTo>
                  <a:cubicBezTo>
                    <a:pt x="659" y="522"/>
                    <a:pt x="657" y="521"/>
                    <a:pt x="655" y="521"/>
                  </a:cubicBezTo>
                  <a:cubicBezTo>
                    <a:pt x="648" y="519"/>
                    <a:pt x="641" y="518"/>
                    <a:pt x="634" y="516"/>
                  </a:cubicBezTo>
                  <a:cubicBezTo>
                    <a:pt x="632" y="516"/>
                    <a:pt x="630" y="516"/>
                    <a:pt x="628" y="515"/>
                  </a:cubicBezTo>
                  <a:cubicBezTo>
                    <a:pt x="620" y="514"/>
                    <a:pt x="612" y="512"/>
                    <a:pt x="604" y="511"/>
                  </a:cubicBezTo>
                  <a:cubicBezTo>
                    <a:pt x="599" y="510"/>
                    <a:pt x="595" y="510"/>
                    <a:pt x="591" y="509"/>
                  </a:cubicBezTo>
                  <a:cubicBezTo>
                    <a:pt x="587" y="508"/>
                    <a:pt x="583" y="508"/>
                    <a:pt x="579" y="507"/>
                  </a:cubicBezTo>
                  <a:cubicBezTo>
                    <a:pt x="578" y="507"/>
                    <a:pt x="578" y="507"/>
                    <a:pt x="577" y="506"/>
                  </a:cubicBezTo>
                  <a:cubicBezTo>
                    <a:pt x="572" y="506"/>
                    <a:pt x="568" y="505"/>
                    <a:pt x="564" y="504"/>
                  </a:cubicBezTo>
                  <a:cubicBezTo>
                    <a:pt x="557" y="503"/>
                    <a:pt x="550" y="502"/>
                    <a:pt x="543" y="501"/>
                  </a:cubicBezTo>
                  <a:cubicBezTo>
                    <a:pt x="536" y="500"/>
                    <a:pt x="529" y="499"/>
                    <a:pt x="521" y="497"/>
                  </a:cubicBezTo>
                  <a:cubicBezTo>
                    <a:pt x="506" y="495"/>
                    <a:pt x="490" y="492"/>
                    <a:pt x="475" y="489"/>
                  </a:cubicBezTo>
                  <a:cubicBezTo>
                    <a:pt x="471" y="488"/>
                    <a:pt x="466" y="488"/>
                    <a:pt x="462" y="487"/>
                  </a:cubicBezTo>
                  <a:cubicBezTo>
                    <a:pt x="460" y="486"/>
                    <a:pt x="457" y="486"/>
                    <a:pt x="455" y="485"/>
                  </a:cubicBezTo>
                  <a:cubicBezTo>
                    <a:pt x="448" y="484"/>
                    <a:pt x="442" y="483"/>
                    <a:pt x="436" y="481"/>
                  </a:cubicBezTo>
                  <a:cubicBezTo>
                    <a:pt x="431" y="480"/>
                    <a:pt x="426" y="479"/>
                    <a:pt x="421" y="478"/>
                  </a:cubicBezTo>
                  <a:cubicBezTo>
                    <a:pt x="419" y="478"/>
                    <a:pt x="416" y="477"/>
                    <a:pt x="414" y="477"/>
                  </a:cubicBezTo>
                  <a:cubicBezTo>
                    <a:pt x="406" y="475"/>
                    <a:pt x="399" y="473"/>
                    <a:pt x="392" y="472"/>
                  </a:cubicBezTo>
                  <a:cubicBezTo>
                    <a:pt x="391" y="471"/>
                    <a:pt x="389" y="471"/>
                    <a:pt x="388" y="471"/>
                  </a:cubicBezTo>
                  <a:cubicBezTo>
                    <a:pt x="385" y="470"/>
                    <a:pt x="381" y="469"/>
                    <a:pt x="378" y="468"/>
                  </a:cubicBezTo>
                  <a:cubicBezTo>
                    <a:pt x="375" y="467"/>
                    <a:pt x="372" y="466"/>
                    <a:pt x="369" y="465"/>
                  </a:cubicBezTo>
                  <a:cubicBezTo>
                    <a:pt x="366" y="465"/>
                    <a:pt x="363" y="464"/>
                    <a:pt x="360" y="463"/>
                  </a:cubicBezTo>
                  <a:cubicBezTo>
                    <a:pt x="356" y="462"/>
                    <a:pt x="353" y="461"/>
                    <a:pt x="349" y="460"/>
                  </a:cubicBezTo>
                  <a:cubicBezTo>
                    <a:pt x="347" y="459"/>
                    <a:pt x="344" y="458"/>
                    <a:pt x="341" y="457"/>
                  </a:cubicBezTo>
                  <a:cubicBezTo>
                    <a:pt x="339" y="456"/>
                    <a:pt x="337" y="456"/>
                    <a:pt x="334" y="455"/>
                  </a:cubicBezTo>
                  <a:cubicBezTo>
                    <a:pt x="332" y="454"/>
                    <a:pt x="330" y="453"/>
                    <a:pt x="328" y="453"/>
                  </a:cubicBezTo>
                  <a:cubicBezTo>
                    <a:pt x="326" y="452"/>
                    <a:pt x="324" y="451"/>
                    <a:pt x="322" y="450"/>
                  </a:cubicBezTo>
                  <a:cubicBezTo>
                    <a:pt x="316" y="448"/>
                    <a:pt x="310" y="446"/>
                    <a:pt x="304" y="443"/>
                  </a:cubicBezTo>
                  <a:cubicBezTo>
                    <a:pt x="302" y="442"/>
                    <a:pt x="301" y="442"/>
                    <a:pt x="299" y="441"/>
                  </a:cubicBezTo>
                  <a:cubicBezTo>
                    <a:pt x="284" y="434"/>
                    <a:pt x="271" y="427"/>
                    <a:pt x="259" y="418"/>
                  </a:cubicBezTo>
                  <a:cubicBezTo>
                    <a:pt x="259" y="418"/>
                    <a:pt x="258" y="418"/>
                    <a:pt x="257" y="417"/>
                  </a:cubicBezTo>
                  <a:cubicBezTo>
                    <a:pt x="255" y="415"/>
                    <a:pt x="253" y="414"/>
                    <a:pt x="251" y="412"/>
                  </a:cubicBezTo>
                  <a:cubicBezTo>
                    <a:pt x="249" y="411"/>
                    <a:pt x="248" y="410"/>
                    <a:pt x="247" y="409"/>
                  </a:cubicBezTo>
                  <a:cubicBezTo>
                    <a:pt x="243" y="405"/>
                    <a:pt x="239" y="401"/>
                    <a:pt x="235" y="397"/>
                  </a:cubicBezTo>
                  <a:cubicBezTo>
                    <a:pt x="233" y="396"/>
                    <a:pt x="232" y="395"/>
                    <a:pt x="231" y="394"/>
                  </a:cubicBezTo>
                  <a:cubicBezTo>
                    <a:pt x="229" y="393"/>
                    <a:pt x="227" y="391"/>
                    <a:pt x="225" y="389"/>
                  </a:cubicBezTo>
                  <a:cubicBezTo>
                    <a:pt x="223" y="388"/>
                    <a:pt x="221" y="386"/>
                    <a:pt x="219" y="384"/>
                  </a:cubicBezTo>
                  <a:cubicBezTo>
                    <a:pt x="216" y="382"/>
                    <a:pt x="214" y="381"/>
                    <a:pt x="212" y="379"/>
                  </a:cubicBezTo>
                  <a:cubicBezTo>
                    <a:pt x="211" y="378"/>
                    <a:pt x="209" y="377"/>
                    <a:pt x="208" y="375"/>
                  </a:cubicBezTo>
                  <a:cubicBezTo>
                    <a:pt x="175" y="349"/>
                    <a:pt x="135" y="320"/>
                    <a:pt x="96" y="294"/>
                  </a:cubicBezTo>
                  <a:cubicBezTo>
                    <a:pt x="96" y="294"/>
                    <a:pt x="96" y="294"/>
                    <a:pt x="96" y="294"/>
                  </a:cubicBezTo>
                  <a:cubicBezTo>
                    <a:pt x="92" y="291"/>
                    <a:pt x="88" y="288"/>
                    <a:pt x="84" y="285"/>
                  </a:cubicBezTo>
                  <a:cubicBezTo>
                    <a:pt x="80" y="283"/>
                    <a:pt x="77" y="280"/>
                    <a:pt x="73" y="278"/>
                  </a:cubicBezTo>
                  <a:cubicBezTo>
                    <a:pt x="71" y="276"/>
                    <a:pt x="68" y="274"/>
                    <a:pt x="66" y="273"/>
                  </a:cubicBezTo>
                  <a:cubicBezTo>
                    <a:pt x="65" y="256"/>
                    <a:pt x="60" y="242"/>
                    <a:pt x="52" y="231"/>
                  </a:cubicBezTo>
                  <a:cubicBezTo>
                    <a:pt x="38" y="211"/>
                    <a:pt x="16" y="198"/>
                    <a:pt x="0" y="186"/>
                  </a:cubicBezTo>
                  <a:cubicBezTo>
                    <a:pt x="10" y="182"/>
                    <a:pt x="22" y="180"/>
                    <a:pt x="38" y="178"/>
                  </a:cubicBezTo>
                  <a:cubicBezTo>
                    <a:pt x="40" y="178"/>
                    <a:pt x="40" y="178"/>
                    <a:pt x="40" y="178"/>
                  </a:cubicBezTo>
                  <a:cubicBezTo>
                    <a:pt x="41" y="178"/>
                    <a:pt x="41" y="178"/>
                    <a:pt x="42" y="178"/>
                  </a:cubicBezTo>
                  <a:cubicBezTo>
                    <a:pt x="44" y="178"/>
                    <a:pt x="45" y="178"/>
                    <a:pt x="46" y="178"/>
                  </a:cubicBezTo>
                  <a:cubicBezTo>
                    <a:pt x="48" y="178"/>
                    <a:pt x="49" y="178"/>
                    <a:pt x="51" y="179"/>
                  </a:cubicBezTo>
                  <a:cubicBezTo>
                    <a:pt x="52" y="179"/>
                    <a:pt x="53" y="179"/>
                    <a:pt x="54" y="179"/>
                  </a:cubicBezTo>
                  <a:cubicBezTo>
                    <a:pt x="62" y="181"/>
                    <a:pt x="70" y="183"/>
                    <a:pt x="80" y="186"/>
                  </a:cubicBezTo>
                  <a:cubicBezTo>
                    <a:pt x="82" y="187"/>
                    <a:pt x="84" y="188"/>
                    <a:pt x="86" y="189"/>
                  </a:cubicBezTo>
                  <a:cubicBezTo>
                    <a:pt x="87" y="189"/>
                    <a:pt x="88" y="190"/>
                    <a:pt x="90" y="190"/>
                  </a:cubicBezTo>
                  <a:cubicBezTo>
                    <a:pt x="91" y="191"/>
                    <a:pt x="93" y="192"/>
                    <a:pt x="95" y="192"/>
                  </a:cubicBezTo>
                  <a:cubicBezTo>
                    <a:pt x="97" y="193"/>
                    <a:pt x="99" y="194"/>
                    <a:pt x="100" y="195"/>
                  </a:cubicBezTo>
                  <a:cubicBezTo>
                    <a:pt x="101" y="195"/>
                    <a:pt x="101" y="195"/>
                    <a:pt x="102" y="195"/>
                  </a:cubicBezTo>
                  <a:cubicBezTo>
                    <a:pt x="102" y="195"/>
                    <a:pt x="102" y="195"/>
                    <a:pt x="102" y="195"/>
                  </a:cubicBezTo>
                  <a:cubicBezTo>
                    <a:pt x="102" y="195"/>
                    <a:pt x="102" y="195"/>
                    <a:pt x="102" y="195"/>
                  </a:cubicBezTo>
                  <a:cubicBezTo>
                    <a:pt x="116" y="207"/>
                    <a:pt x="134" y="218"/>
                    <a:pt x="154" y="229"/>
                  </a:cubicBezTo>
                  <a:cubicBezTo>
                    <a:pt x="251" y="280"/>
                    <a:pt x="405" y="310"/>
                    <a:pt x="428" y="196"/>
                  </a:cubicBezTo>
                  <a:cubicBezTo>
                    <a:pt x="429" y="193"/>
                    <a:pt x="429" y="191"/>
                    <a:pt x="428" y="189"/>
                  </a:cubicBezTo>
                  <a:cubicBezTo>
                    <a:pt x="430" y="180"/>
                    <a:pt x="430" y="171"/>
                    <a:pt x="428" y="163"/>
                  </a:cubicBezTo>
                  <a:cubicBezTo>
                    <a:pt x="428" y="163"/>
                    <a:pt x="428" y="163"/>
                    <a:pt x="428" y="163"/>
                  </a:cubicBezTo>
                  <a:cubicBezTo>
                    <a:pt x="428" y="160"/>
                    <a:pt x="428" y="157"/>
                    <a:pt x="428" y="154"/>
                  </a:cubicBezTo>
                  <a:cubicBezTo>
                    <a:pt x="428" y="153"/>
                    <a:pt x="428" y="153"/>
                    <a:pt x="428" y="152"/>
                  </a:cubicBezTo>
                  <a:cubicBezTo>
                    <a:pt x="428" y="151"/>
                    <a:pt x="428" y="151"/>
                    <a:pt x="427" y="150"/>
                  </a:cubicBezTo>
                  <a:cubicBezTo>
                    <a:pt x="427" y="149"/>
                    <a:pt x="427" y="149"/>
                    <a:pt x="427" y="148"/>
                  </a:cubicBezTo>
                  <a:cubicBezTo>
                    <a:pt x="427" y="147"/>
                    <a:pt x="427" y="147"/>
                    <a:pt x="427" y="146"/>
                  </a:cubicBezTo>
                  <a:cubicBezTo>
                    <a:pt x="426" y="146"/>
                    <a:pt x="426" y="145"/>
                    <a:pt x="426" y="145"/>
                  </a:cubicBezTo>
                  <a:cubicBezTo>
                    <a:pt x="426" y="144"/>
                    <a:pt x="425" y="142"/>
                    <a:pt x="424" y="141"/>
                  </a:cubicBezTo>
                  <a:cubicBezTo>
                    <a:pt x="424" y="140"/>
                    <a:pt x="424" y="140"/>
                    <a:pt x="423" y="139"/>
                  </a:cubicBezTo>
                  <a:cubicBezTo>
                    <a:pt x="423" y="139"/>
                    <a:pt x="423" y="138"/>
                    <a:pt x="422" y="137"/>
                  </a:cubicBezTo>
                  <a:cubicBezTo>
                    <a:pt x="422" y="137"/>
                    <a:pt x="421" y="136"/>
                    <a:pt x="420" y="135"/>
                  </a:cubicBezTo>
                  <a:cubicBezTo>
                    <a:pt x="420" y="134"/>
                    <a:pt x="419" y="134"/>
                    <a:pt x="418" y="133"/>
                  </a:cubicBezTo>
                  <a:cubicBezTo>
                    <a:pt x="418" y="133"/>
                    <a:pt x="417" y="132"/>
                    <a:pt x="417" y="132"/>
                  </a:cubicBezTo>
                  <a:cubicBezTo>
                    <a:pt x="415" y="131"/>
                    <a:pt x="413" y="130"/>
                    <a:pt x="411" y="129"/>
                  </a:cubicBezTo>
                  <a:cubicBezTo>
                    <a:pt x="410" y="128"/>
                    <a:pt x="409" y="128"/>
                    <a:pt x="408" y="127"/>
                  </a:cubicBezTo>
                  <a:cubicBezTo>
                    <a:pt x="403" y="126"/>
                    <a:pt x="397" y="125"/>
                    <a:pt x="390" y="125"/>
                  </a:cubicBezTo>
                  <a:cubicBezTo>
                    <a:pt x="342" y="125"/>
                    <a:pt x="254" y="157"/>
                    <a:pt x="220" y="155"/>
                  </a:cubicBezTo>
                  <a:cubicBezTo>
                    <a:pt x="248" y="123"/>
                    <a:pt x="248" y="123"/>
                    <a:pt x="248" y="123"/>
                  </a:cubicBezTo>
                  <a:cubicBezTo>
                    <a:pt x="270" y="97"/>
                    <a:pt x="270" y="97"/>
                    <a:pt x="270" y="97"/>
                  </a:cubicBezTo>
                  <a:cubicBezTo>
                    <a:pt x="333" y="79"/>
                    <a:pt x="410" y="61"/>
                    <a:pt x="464" y="53"/>
                  </a:cubicBezTo>
                  <a:cubicBezTo>
                    <a:pt x="541" y="42"/>
                    <a:pt x="566" y="0"/>
                    <a:pt x="594" y="148"/>
                  </a:cubicBezTo>
                  <a:cubicBezTo>
                    <a:pt x="621" y="297"/>
                    <a:pt x="682" y="329"/>
                    <a:pt x="730" y="361"/>
                  </a:cubicBezTo>
                  <a:cubicBezTo>
                    <a:pt x="779" y="394"/>
                    <a:pt x="841" y="538"/>
                    <a:pt x="832"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06E68966-5EF6-E1AD-6DE6-33A8DCD72284}"/>
                </a:ext>
              </a:extLst>
            </p:cNvPr>
            <p:cNvSpPr>
              <a:spLocks/>
            </p:cNvSpPr>
            <p:nvPr/>
          </p:nvSpPr>
          <p:spPr bwMode="auto">
            <a:xfrm>
              <a:off x="9860664" y="3197122"/>
              <a:ext cx="964074" cy="677360"/>
            </a:xfrm>
            <a:custGeom>
              <a:avLst/>
              <a:gdLst>
                <a:gd name="T0" fmla="*/ 462 w 538"/>
                <a:gd name="T1" fmla="*/ 0 h 378"/>
                <a:gd name="T2" fmla="*/ 0 w 538"/>
                <a:gd name="T3" fmla="*/ 245 h 378"/>
                <a:gd name="T4" fmla="*/ 0 w 538"/>
                <a:gd name="T5" fmla="*/ 378 h 378"/>
                <a:gd name="T6" fmla="*/ 538 w 538"/>
                <a:gd name="T7" fmla="*/ 100 h 378"/>
                <a:gd name="T8" fmla="*/ 462 w 538"/>
                <a:gd name="T9" fmla="*/ 0 h 378"/>
              </a:gdLst>
              <a:ahLst/>
              <a:cxnLst>
                <a:cxn ang="0">
                  <a:pos x="T0" y="T1"/>
                </a:cxn>
                <a:cxn ang="0">
                  <a:pos x="T2" y="T3"/>
                </a:cxn>
                <a:cxn ang="0">
                  <a:pos x="T4" y="T5"/>
                </a:cxn>
                <a:cxn ang="0">
                  <a:pos x="T6" y="T7"/>
                </a:cxn>
                <a:cxn ang="0">
                  <a:pos x="T8" y="T9"/>
                </a:cxn>
              </a:cxnLst>
              <a:rect l="0" t="0" r="r" b="b"/>
              <a:pathLst>
                <a:path w="538" h="378">
                  <a:moveTo>
                    <a:pt x="462" y="0"/>
                  </a:moveTo>
                  <a:lnTo>
                    <a:pt x="0" y="245"/>
                  </a:lnTo>
                  <a:lnTo>
                    <a:pt x="0" y="378"/>
                  </a:lnTo>
                  <a:lnTo>
                    <a:pt x="538" y="100"/>
                  </a:lnTo>
                  <a:lnTo>
                    <a:pt x="462"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2BD70D9E-D3AB-0DBA-07FC-F52B807EB144}"/>
                </a:ext>
              </a:extLst>
            </p:cNvPr>
            <p:cNvSpPr>
              <a:spLocks/>
            </p:cNvSpPr>
            <p:nvPr/>
          </p:nvSpPr>
          <p:spPr bwMode="auto">
            <a:xfrm>
              <a:off x="9860664" y="3376318"/>
              <a:ext cx="2331338" cy="3436976"/>
            </a:xfrm>
            <a:custGeom>
              <a:avLst/>
              <a:gdLst>
                <a:gd name="T0" fmla="*/ 692 w 692"/>
                <a:gd name="T1" fmla="*/ 543 h 1021"/>
                <a:gd name="T2" fmla="*/ 692 w 692"/>
                <a:gd name="T3" fmla="*/ 1021 h 1021"/>
                <a:gd name="T4" fmla="*/ 529 w 692"/>
                <a:gd name="T5" fmla="*/ 922 h 1021"/>
                <a:gd name="T6" fmla="*/ 267 w 692"/>
                <a:gd name="T7" fmla="*/ 862 h 1021"/>
                <a:gd name="T8" fmla="*/ 222 w 692"/>
                <a:gd name="T9" fmla="*/ 855 h 1021"/>
                <a:gd name="T10" fmla="*/ 85 w 692"/>
                <a:gd name="T11" fmla="*/ 506 h 1021"/>
                <a:gd name="T12" fmla="*/ 0 w 692"/>
                <a:gd name="T13" fmla="*/ 148 h 1021"/>
                <a:gd name="T14" fmla="*/ 95 w 692"/>
                <a:gd name="T15" fmla="*/ 99 h 1021"/>
                <a:gd name="T16" fmla="*/ 183 w 692"/>
                <a:gd name="T17" fmla="*/ 54 h 1021"/>
                <a:gd name="T18" fmla="*/ 263 w 692"/>
                <a:gd name="T19" fmla="*/ 13 h 1021"/>
                <a:gd name="T20" fmla="*/ 286 w 692"/>
                <a:gd name="T21" fmla="*/ 0 h 1021"/>
                <a:gd name="T22" fmla="*/ 286 w 692"/>
                <a:gd name="T23" fmla="*/ 0 h 1021"/>
                <a:gd name="T24" fmla="*/ 286 w 692"/>
                <a:gd name="T25" fmla="*/ 0 h 1021"/>
                <a:gd name="T26" fmla="*/ 292 w 692"/>
                <a:gd name="T27" fmla="*/ 7 h 1021"/>
                <a:gd name="T28" fmla="*/ 692 w 692"/>
                <a:gd name="T29" fmla="*/ 543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1021">
                  <a:moveTo>
                    <a:pt x="692" y="543"/>
                  </a:moveTo>
                  <a:cubicBezTo>
                    <a:pt x="692" y="1021"/>
                    <a:pt x="692" y="1021"/>
                    <a:pt x="692" y="1021"/>
                  </a:cubicBezTo>
                  <a:cubicBezTo>
                    <a:pt x="681" y="1000"/>
                    <a:pt x="644" y="961"/>
                    <a:pt x="529" y="922"/>
                  </a:cubicBezTo>
                  <a:cubicBezTo>
                    <a:pt x="467" y="901"/>
                    <a:pt x="382" y="880"/>
                    <a:pt x="267" y="862"/>
                  </a:cubicBezTo>
                  <a:cubicBezTo>
                    <a:pt x="252" y="860"/>
                    <a:pt x="238" y="857"/>
                    <a:pt x="222" y="855"/>
                  </a:cubicBezTo>
                  <a:cubicBezTo>
                    <a:pt x="164" y="741"/>
                    <a:pt x="118" y="618"/>
                    <a:pt x="85" y="506"/>
                  </a:cubicBezTo>
                  <a:cubicBezTo>
                    <a:pt x="24" y="308"/>
                    <a:pt x="0" y="148"/>
                    <a:pt x="0" y="148"/>
                  </a:cubicBezTo>
                  <a:cubicBezTo>
                    <a:pt x="95" y="99"/>
                    <a:pt x="95" y="99"/>
                    <a:pt x="95" y="99"/>
                  </a:cubicBezTo>
                  <a:cubicBezTo>
                    <a:pt x="183" y="54"/>
                    <a:pt x="183" y="54"/>
                    <a:pt x="183" y="54"/>
                  </a:cubicBezTo>
                  <a:cubicBezTo>
                    <a:pt x="263" y="13"/>
                    <a:pt x="263" y="13"/>
                    <a:pt x="263" y="13"/>
                  </a:cubicBezTo>
                  <a:cubicBezTo>
                    <a:pt x="286" y="0"/>
                    <a:pt x="286" y="0"/>
                    <a:pt x="286" y="0"/>
                  </a:cubicBezTo>
                  <a:cubicBezTo>
                    <a:pt x="286" y="0"/>
                    <a:pt x="286" y="0"/>
                    <a:pt x="286" y="0"/>
                  </a:cubicBezTo>
                  <a:cubicBezTo>
                    <a:pt x="286" y="0"/>
                    <a:pt x="286" y="0"/>
                    <a:pt x="286" y="0"/>
                  </a:cubicBezTo>
                  <a:cubicBezTo>
                    <a:pt x="288" y="2"/>
                    <a:pt x="290" y="5"/>
                    <a:pt x="292" y="7"/>
                  </a:cubicBezTo>
                  <a:cubicBezTo>
                    <a:pt x="354" y="77"/>
                    <a:pt x="539" y="303"/>
                    <a:pt x="692" y="543"/>
                  </a:cubicBezTo>
                  <a:close/>
                </a:path>
              </a:pathLst>
            </a:custGeom>
            <a:gradFill>
              <a:gsLst>
                <a:gs pos="0">
                  <a:srgbClr val="0A2DDB"/>
                </a:gs>
                <a:gs pos="83000">
                  <a:srgbClr val="3E04A9"/>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6AB9B46E-DB3E-73B6-9267-1CD850176375}"/>
                </a:ext>
              </a:extLst>
            </p:cNvPr>
            <p:cNvSpPr>
              <a:spLocks/>
            </p:cNvSpPr>
            <p:nvPr/>
          </p:nvSpPr>
          <p:spPr bwMode="auto">
            <a:xfrm>
              <a:off x="9860664" y="3557306"/>
              <a:ext cx="1782999" cy="2922684"/>
            </a:xfrm>
            <a:custGeom>
              <a:avLst/>
              <a:gdLst>
                <a:gd name="T0" fmla="*/ 529 w 529"/>
                <a:gd name="T1" fmla="*/ 868 h 868"/>
                <a:gd name="T2" fmla="*/ 267 w 529"/>
                <a:gd name="T3" fmla="*/ 808 h 868"/>
                <a:gd name="T4" fmla="*/ 222 w 529"/>
                <a:gd name="T5" fmla="*/ 801 h 868"/>
                <a:gd name="T6" fmla="*/ 85 w 529"/>
                <a:gd name="T7" fmla="*/ 452 h 868"/>
                <a:gd name="T8" fmla="*/ 0 w 529"/>
                <a:gd name="T9" fmla="*/ 94 h 868"/>
                <a:gd name="T10" fmla="*/ 95 w 529"/>
                <a:gd name="T11" fmla="*/ 45 h 868"/>
                <a:gd name="T12" fmla="*/ 183 w 529"/>
                <a:gd name="T13" fmla="*/ 0 h 868"/>
                <a:gd name="T14" fmla="*/ 194 w 529"/>
                <a:gd name="T15" fmla="*/ 1 h 868"/>
                <a:gd name="T16" fmla="*/ 315 w 529"/>
                <a:gd name="T17" fmla="*/ 378 h 868"/>
                <a:gd name="T18" fmla="*/ 315 w 529"/>
                <a:gd name="T19" fmla="*/ 421 h 868"/>
                <a:gd name="T20" fmla="*/ 508 w 529"/>
                <a:gd name="T21" fmla="*/ 855 h 868"/>
                <a:gd name="T22" fmla="*/ 529 w 529"/>
                <a:gd name="T23" fmla="*/ 868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9" h="868">
                  <a:moveTo>
                    <a:pt x="529" y="868"/>
                  </a:moveTo>
                  <a:cubicBezTo>
                    <a:pt x="467" y="847"/>
                    <a:pt x="382" y="826"/>
                    <a:pt x="267" y="808"/>
                  </a:cubicBezTo>
                  <a:cubicBezTo>
                    <a:pt x="252" y="806"/>
                    <a:pt x="238" y="803"/>
                    <a:pt x="222" y="801"/>
                  </a:cubicBezTo>
                  <a:cubicBezTo>
                    <a:pt x="164" y="687"/>
                    <a:pt x="118" y="564"/>
                    <a:pt x="85" y="452"/>
                  </a:cubicBezTo>
                  <a:cubicBezTo>
                    <a:pt x="24" y="254"/>
                    <a:pt x="0" y="94"/>
                    <a:pt x="0" y="94"/>
                  </a:cubicBezTo>
                  <a:cubicBezTo>
                    <a:pt x="95" y="45"/>
                    <a:pt x="95" y="45"/>
                    <a:pt x="95" y="45"/>
                  </a:cubicBezTo>
                  <a:cubicBezTo>
                    <a:pt x="183" y="0"/>
                    <a:pt x="183" y="0"/>
                    <a:pt x="183" y="0"/>
                  </a:cubicBezTo>
                  <a:cubicBezTo>
                    <a:pt x="187" y="0"/>
                    <a:pt x="190" y="0"/>
                    <a:pt x="194" y="1"/>
                  </a:cubicBezTo>
                  <a:cubicBezTo>
                    <a:pt x="194" y="1"/>
                    <a:pt x="315" y="244"/>
                    <a:pt x="315" y="378"/>
                  </a:cubicBezTo>
                  <a:cubicBezTo>
                    <a:pt x="315" y="392"/>
                    <a:pt x="315" y="406"/>
                    <a:pt x="315" y="421"/>
                  </a:cubicBezTo>
                  <a:cubicBezTo>
                    <a:pt x="311" y="551"/>
                    <a:pt x="307" y="720"/>
                    <a:pt x="508" y="855"/>
                  </a:cubicBezTo>
                  <a:cubicBezTo>
                    <a:pt x="515" y="859"/>
                    <a:pt x="522" y="864"/>
                    <a:pt x="529" y="868"/>
                  </a:cubicBezTo>
                  <a:close/>
                </a:path>
              </a:pathLst>
            </a:custGeom>
            <a:gradFill>
              <a:gsLst>
                <a:gs pos="100000">
                  <a:srgbClr val="5936E0"/>
                </a:gs>
                <a:gs pos="44000">
                  <a:srgbClr val="371DBD"/>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Shape 66">
              <a:extLst>
                <a:ext uri="{FF2B5EF4-FFF2-40B4-BE49-F238E27FC236}">
                  <a16:creationId xmlns:a16="http://schemas.microsoft.com/office/drawing/2014/main" id="{F89DE2D4-B67D-C45D-5D7E-4EEE969F9843}"/>
                </a:ext>
              </a:extLst>
            </p:cNvPr>
            <p:cNvSpPr/>
            <p:nvPr/>
          </p:nvSpPr>
          <p:spPr>
            <a:xfrm rot="20923453">
              <a:off x="6655548" y="-439156"/>
              <a:ext cx="5488008" cy="1037277"/>
            </a:xfrm>
            <a:custGeom>
              <a:avLst/>
              <a:gdLst>
                <a:gd name="connsiteX0" fmla="*/ 584535 w 5488008"/>
                <a:gd name="connsiteY0" fmla="*/ 0 h 1037277"/>
                <a:gd name="connsiteX1" fmla="*/ 5488008 w 5488008"/>
                <a:gd name="connsiteY1" fmla="*/ 977656 h 1037277"/>
                <a:gd name="connsiteX2" fmla="*/ 5476121 w 5488008"/>
                <a:gd name="connsiteY2" fmla="*/ 1037276 h 1037277"/>
                <a:gd name="connsiteX3" fmla="*/ 0 w 5488008"/>
                <a:gd name="connsiteY3" fmla="*/ 1037277 h 1037277"/>
                <a:gd name="connsiteX4" fmla="*/ 35107 w 5488008"/>
                <a:gd name="connsiteY4" fmla="*/ 912868 h 1037277"/>
                <a:gd name="connsiteX5" fmla="*/ 584535 w 5488008"/>
                <a:gd name="connsiteY5" fmla="*/ 0 h 103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8008" h="1037277">
                  <a:moveTo>
                    <a:pt x="584535" y="0"/>
                  </a:moveTo>
                  <a:lnTo>
                    <a:pt x="5488008" y="977656"/>
                  </a:lnTo>
                  <a:lnTo>
                    <a:pt x="5476121" y="1037276"/>
                  </a:lnTo>
                  <a:lnTo>
                    <a:pt x="0" y="1037277"/>
                  </a:lnTo>
                  <a:lnTo>
                    <a:pt x="35107" y="912868"/>
                  </a:lnTo>
                  <a:cubicBezTo>
                    <a:pt x="217952" y="337066"/>
                    <a:pt x="584535" y="0"/>
                    <a:pt x="584535" y="0"/>
                  </a:cubicBezTo>
                  <a:close/>
                </a:path>
              </a:pathLst>
            </a:custGeom>
            <a:gradFill>
              <a:gsLst>
                <a:gs pos="0">
                  <a:srgbClr val="7CEFD8"/>
                </a:gs>
                <a:gs pos="83000">
                  <a:srgbClr val="6672E4"/>
                </a:gs>
              </a:gsLst>
              <a:lin ang="24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sp>
        <p:nvSpPr>
          <p:cNvPr id="15" name="Title 14" hidden="1">
            <a:extLst>
              <a:ext uri="{FF2B5EF4-FFF2-40B4-BE49-F238E27FC236}">
                <a16:creationId xmlns:a16="http://schemas.microsoft.com/office/drawing/2014/main" id="{F68CE9C3-DAFC-A18F-AC8F-A581B3F064CA}"/>
              </a:ext>
            </a:extLst>
          </p:cNvPr>
          <p:cNvSpPr>
            <a:spLocks noGrp="1"/>
          </p:cNvSpPr>
          <p:nvPr>
            <p:ph type="title"/>
          </p:nvPr>
        </p:nvSpPr>
        <p:spPr/>
        <p:txBody>
          <a:bodyPr/>
          <a:lstStyle/>
          <a:p>
            <a:r>
              <a:rPr lang="en-US" dirty="0"/>
              <a:t>Human resources slide 2</a:t>
            </a:r>
          </a:p>
        </p:txBody>
      </p:sp>
      <p:sp>
        <p:nvSpPr>
          <p:cNvPr id="33" name="Rectangle: Rounded Corners 5">
            <a:extLst>
              <a:ext uri="{FF2B5EF4-FFF2-40B4-BE49-F238E27FC236}">
                <a16:creationId xmlns:a16="http://schemas.microsoft.com/office/drawing/2014/main" id="{F51C692F-0988-D8C6-C74A-439EE230AAFC}"/>
              </a:ext>
            </a:extLst>
          </p:cNvPr>
          <p:cNvSpPr/>
          <p:nvPr/>
        </p:nvSpPr>
        <p:spPr>
          <a:xfrm>
            <a:off x="514525" y="6042672"/>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6E63F35D-60A0-741B-91C9-0864BED2B518}"/>
              </a:ext>
            </a:extLst>
          </p:cNvPr>
          <p:cNvSpPr/>
          <p:nvPr/>
        </p:nvSpPr>
        <p:spPr>
          <a:xfrm>
            <a:off x="1179913" y="6039802"/>
            <a:ext cx="3536195" cy="246221"/>
          </a:xfrm>
          <a:prstGeom prst="rect">
            <a:avLst/>
          </a:prstGeom>
        </p:spPr>
        <p:txBody>
          <a:bodyPr wrap="square" lIns="0" tIns="0" rIns="0" bIns="0" anchor="t">
            <a:spAutoFit/>
          </a:bodyPr>
          <a:lstStyle/>
          <a:p>
            <a:r>
              <a:rPr lang="en-US" sz="1600">
                <a:solidFill>
                  <a:srgbClr val="27251E"/>
                </a:solidFill>
                <a:ea typeface="+mn-lt"/>
                <a:cs typeface="+mn-lt"/>
              </a:rPr>
              <a:t>IRS migration data.</a:t>
            </a:r>
            <a:endParaRPr lang="fr-FR" sz="1600">
              <a:ea typeface="+mn-lt"/>
              <a:cs typeface="+mn-lt"/>
            </a:endParaRPr>
          </a:p>
        </p:txBody>
      </p:sp>
    </p:spTree>
    <p:extLst>
      <p:ext uri="{BB962C8B-B14F-4D97-AF65-F5344CB8AC3E}">
        <p14:creationId xmlns:p14="http://schemas.microsoft.com/office/powerpoint/2010/main" val="254316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68227_win32_fixed" id="{17DD1A52-D3DE-4BC7-AB4E-5ED952CBB3F4}" vid="{D8C85220-06A0-4E3D-954C-BC12E2647B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900F64-9193-44F8-BD63-E681103777C8}">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2.xml><?xml version="1.0" encoding="utf-8"?>
<ds:datastoreItem xmlns:ds="http://schemas.openxmlformats.org/officeDocument/2006/customXml" ds:itemID="{10CA4BDF-ECBC-4F8E-8F31-E58428FA4B7B}">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customXml/itemProps3.xml><?xml version="1.0" encoding="utf-8"?>
<ds:datastoreItem xmlns:ds="http://schemas.openxmlformats.org/officeDocument/2006/customXml" ds:itemID="{271421E6-0B73-4301-8D1C-0131DB42FA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534</Words>
  <Application>Microsoft Office PowerPoint</Application>
  <PresentationFormat>Widescreen</PresentationFormat>
  <Paragraphs>98</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Human resources slide 1</vt:lpstr>
      <vt:lpstr>Human resources slide 2</vt:lpstr>
      <vt:lpstr>Human resources slide 3</vt:lpstr>
      <vt:lpstr>Human resources slide 4</vt:lpstr>
      <vt:lpstr>Human resources slide 3</vt:lpstr>
      <vt:lpstr>Human resources slide 5</vt:lpstr>
      <vt:lpstr>Human resources slide 9</vt:lpstr>
      <vt:lpstr>Human resources slide 10</vt:lpstr>
      <vt:lpstr>Human resources slide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resources slide 1</dc:title>
  <dc:creator/>
  <cp:lastModifiedBy>Stanley Occean</cp:lastModifiedBy>
  <cp:revision>581</cp:revision>
  <dcterms:created xsi:type="dcterms:W3CDTF">2026-04-29T15:14:26Z</dcterms:created>
  <dcterms:modified xsi:type="dcterms:W3CDTF">2026-05-12T14:52:53Z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